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937760" y="1051560"/>
            <a:ext cx="22860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80160"/>
            <a:ext cx="1828800" cy="1828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657600"/>
            <a:ext cx="94457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</a:rPr>
              <a:t>마음이음 사용설명서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663440"/>
            <a:ext cx="94457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E6F0FF"/>
                </a:solidFill>
                <a:latin typeface="맑은 고딕"/>
                <a:ea typeface="맑은 고딕"/>
              </a:rPr>
              <a:t>어르신을 위한 AI 음성 말벗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035040"/>
            <a:ext cx="9445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CFE2FF"/>
                </a:solidFill>
                <a:latin typeface="맑은 고딕"/>
                <a:ea typeface="맑은 고딕"/>
              </a:rPr>
              <a:t>제공 · FIRST C&amp;D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A4E7A"/>
                </a:solidFill>
                <a:latin typeface="맑은 고딕"/>
                <a:ea typeface="맑은 고딕"/>
              </a:rPr>
              <a:t>앱 열고 로그인하기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80160" y="2651760"/>
            <a:ext cx="265176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926080"/>
            <a:ext cx="210312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2286000"/>
            <a:ext cx="6979615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7272A"/>
                </a:solidFill>
                <a:latin typeface="맑은 고딕"/>
                <a:ea typeface="맑은 고딕"/>
              </a:rPr>
              <a:t>• 구글 플레이에서 '마음이음'을 설치하고 앱을 여세요.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2400" b="0">
                <a:solidFill>
                  <a:srgbClr val="27272A"/>
                </a:solidFill>
                <a:latin typeface="맑은 고딕"/>
                <a:ea typeface="맑은 고딕"/>
              </a:rPr>
              <a:t>• 받으신 아이디(이메일)와 비밀번호로 로그인하세요.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2400" b="0">
                <a:solidFill>
                  <a:srgbClr val="27272A"/>
                </a:solidFill>
                <a:latin typeface="맑은 고딕"/>
                <a:ea typeface="맑은 고딕"/>
              </a:rPr>
              <a:t>• 처음이시면 '회원가입'을 눌러 간단히 가입하세요.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2400" b="0">
                <a:solidFill>
                  <a:srgbClr val="27272A"/>
                </a:solidFill>
                <a:latin typeface="맑은 고딕"/>
                <a:ea typeface="맑은 고딕"/>
              </a:rPr>
              <a:t>• 가입할 때 계정 유형은 '어르신'을 고르시면 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A4E7A"/>
                </a:solidFill>
                <a:latin typeface="맑은 고딕"/>
                <a:ea typeface="맑은 고딕"/>
              </a:rPr>
              <a:t>대화하기 — 버튼 하나면 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892808"/>
            <a:ext cx="2666619" cy="4626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홈_대화하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52031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66235" y="2286000"/>
            <a:ext cx="73853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7272A"/>
                </a:solidFill>
                <a:latin typeface="맑은 고딕"/>
                <a:ea typeface="맑은 고딕"/>
              </a:rPr>
              <a:t>• 화면 가운데 큰 파란 [대화하기] 버튼을 누르세요.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2400" b="0">
                <a:solidFill>
                  <a:srgbClr val="27272A"/>
                </a:solidFill>
                <a:latin typeface="맑은 고딕"/>
                <a:ea typeface="맑은 고딕"/>
              </a:rPr>
              <a:t>• 누르면 바로 대화가 시작됩니다.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2400" b="0">
                <a:solidFill>
                  <a:srgbClr val="27272A"/>
                </a:solidFill>
                <a:latin typeface="맑은 고딕"/>
                <a:ea typeface="맑은 고딕"/>
              </a:rPr>
              <a:t>• 복잡한 설정 없이, 버튼 하나로 이야기해요.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A4E7A"/>
                </a:solidFill>
                <a:latin typeface="맑은 고딕"/>
                <a:ea typeface="맑은 고딕"/>
              </a:rPr>
              <a:t>편하게 말씀하세요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892808"/>
            <a:ext cx="2666619" cy="4626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음성대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52031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66235" y="2286000"/>
            <a:ext cx="73853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7272A"/>
                </a:solidFill>
                <a:latin typeface="맑은 고딕"/>
                <a:ea typeface="맑은 고딕"/>
              </a:rPr>
              <a:t>• 전화 통화하듯 편하게 말씀하시면 됩니다.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2400" b="0">
                <a:solidFill>
                  <a:srgbClr val="27272A"/>
                </a:solidFill>
                <a:latin typeface="맑은 고딕"/>
                <a:ea typeface="맑은 고딕"/>
              </a:rPr>
              <a:t>• 가운데 그림이 움직이면 잘 듣고 있다는 뜻이에요.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2400" b="0">
                <a:solidFill>
                  <a:srgbClr val="27272A"/>
                </a:solidFill>
                <a:latin typeface="맑은 고딕"/>
                <a:ea typeface="맑은 고딕"/>
              </a:rPr>
              <a:t>• 마음이음이 다정하게 대답하고, 먼저 말을 걸기도 해요.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2400" b="0">
                <a:solidFill>
                  <a:srgbClr val="27272A"/>
                </a:solidFill>
                <a:latin typeface="맑은 고딕"/>
                <a:ea typeface="맑은 고딕"/>
              </a:rPr>
              <a:t>• 그만하시려면 "그만"이라고 말하거나 버튼을 누르세요.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502920"/>
            <a:ext cx="10058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A4E7A"/>
                </a:solidFill>
                <a:latin typeface="맑은 고딕"/>
                <a:ea typeface="맑은 고딕"/>
              </a:rPr>
              <a:t>설정과 도움말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1088136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892808"/>
            <a:ext cx="2666619" cy="4626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도움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520315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66235" y="2286000"/>
            <a:ext cx="73853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7272A"/>
                </a:solidFill>
                <a:latin typeface="맑은 고딕"/>
                <a:ea typeface="맑은 고딕"/>
              </a:rPr>
              <a:t>• [설정]에서 이름·약 알림·가족(보호자·의사) 연결을 정해요.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2400" b="0">
                <a:solidFill>
                  <a:srgbClr val="27272A"/>
                </a:solidFill>
                <a:latin typeface="맑은 고딕"/>
                <a:ea typeface="맑은 고딕"/>
              </a:rPr>
              <a:t>• [도움말]에서 사용법을 언제든 다시 볼 수 있어요.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2400" b="0">
                <a:solidFill>
                  <a:srgbClr val="27272A"/>
                </a:solidFill>
                <a:latin typeface="맑은 고딕"/>
                <a:ea typeface="맑은 고딕"/>
              </a:rPr>
              <a:t>• 약 드실 시간이 되면 마음이음이 먼저 알려드려요.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A4E7A"/>
                </a:solidFill>
                <a:latin typeface="맑은 고딕"/>
                <a:ea typeface="맑은 고딕"/>
              </a:rPr>
              <a:t>꼭 알아두세요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600200"/>
            <a:ext cx="10881360" cy="3175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10515600" cy="201168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3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9669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D32F2F"/>
                </a:solidFill>
                <a:latin typeface="맑은 고딕"/>
                <a:ea typeface="맑은 고딕"/>
              </a:rPr>
              <a:t>위급할 때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2400" b="0">
                <a:solidFill>
                  <a:srgbClr val="D32F2F"/>
                </a:solidFill>
                <a:latin typeface="맑은 고딕"/>
                <a:ea typeface="맑은 고딕"/>
              </a:rPr>
              <a:t>숨이 차거나 가슴이 아프거나 크게 다치셨다면,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2600" b="1">
                <a:solidFill>
                  <a:srgbClr val="D32F2F"/>
                </a:solidFill>
                <a:latin typeface="맑은 고딕"/>
                <a:ea typeface="맑은 고딕"/>
              </a:rPr>
              <a:t>앱보다 먼저 119에 전화하세요.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A4E7A"/>
                </a:solidFill>
                <a:latin typeface="맑은 고딕"/>
                <a:ea typeface="맑은 고딕"/>
              </a:rPr>
              <a:t>문의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2200" b="0">
                <a:solidFill>
                  <a:srgbClr val="27272A"/>
                </a:solidFill>
                <a:latin typeface="맑은 고딕"/>
                <a:ea typeface="맑은 고딕"/>
              </a:rPr>
              <a:t>jongwoo@firstcorea.com  ·  kyungsuk@firstcorea.com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800" b="0">
                <a:solidFill>
                  <a:srgbClr val="606068"/>
                </a:solidFill>
                <a:latin typeface="맑은 고딕"/>
                <a:ea typeface="맑은 고딕"/>
              </a:rPr>
              <a:t>제공 · FIRST C&amp;D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