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5486400" cy="5486400"/>
          </a:xfrm>
          <a:prstGeom prst="ellipse">
            <a:avLst/>
          </a:prstGeom>
          <a:solidFill>
            <a:srgbClr val="0E7C86">
              <a:alpha val="4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3931920"/>
            <a:ext cx="4572000" cy="4572000"/>
          </a:xfrm>
          <a:prstGeom prst="ellipse">
            <a:avLst/>
          </a:prstGeom>
          <a:solidFill>
            <a:srgbClr val="13A8A0">
              <a:alpha val="30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371600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dirty="0">
                <a:solidFill>
                  <a:srgbClr val="000000"/>
                </a:solidFill>
              </a:rPr>
              <a:t>💛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886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설명서 — 처음 시작하는 분들을 위한 안내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2296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 가족을 위한 AI 마음 동반자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마음이음이 무엇인가요?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💛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AI 동반자와 도란도란 이야기를 나누면, 마음과 기억 건강을 자연스럽게 살펴 드려요.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위급한 순간에는 가족에게 알려 드립니다.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2296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05740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05740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💬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00584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손주 같은 AI와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편하게 이야기해요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76072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6072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🧠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70916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 살핌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70916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속에서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자연스럽게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3063240"/>
            <a:ext cx="338328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9464040" y="333756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464040" y="33375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🔔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412480" y="4389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알림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412480" y="48463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가족에게 연락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딱 3단계예요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116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16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0058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이메일과 비밀번호로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간단하게 가입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1605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14" name="Shape 12"/>
          <p:cNvSpPr/>
          <p:nvPr/>
        </p:nvSpPr>
        <p:spPr>
          <a:xfrm>
            <a:off x="47091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8978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978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8920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동의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920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건강정보 이용에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동의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046720" y="2377440"/>
            <a:ext cx="5486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4400" dirty="0"/>
          </a:p>
        </p:txBody>
      </p:sp>
      <p:sp>
        <p:nvSpPr>
          <p:cNvPr id="20" name="Shape 18"/>
          <p:cNvSpPr/>
          <p:nvPr/>
        </p:nvSpPr>
        <p:spPr>
          <a:xfrm>
            <a:off x="8595360" y="237744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84080" y="2697480"/>
            <a:ext cx="1005840" cy="100584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784080" y="269748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8778240" y="38862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778240" y="44348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동반자와</a:t>
            </a:r>
            <a:endParaRPr lang="en-US" sz="17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 나누기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회원가입 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계정인가요?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097280" y="26974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80160" y="283464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  사용자 (어르신)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80160" y="329184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대화하시는 분. 결과는 본인에게 보이지 않아요.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97280" y="411480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F3E7DF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280160" y="42519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 전문가·보호자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80160" y="4709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가족·의료인. 코드로 연결해 결과를 봅니다.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2148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입력하나요?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69748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필요해요</a:t>
            </a:r>
            <a:endParaRPr lang="en-US" sz="170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이메일, 비밀번호(8자 이상)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✔"/>
            </a:pPr>
            <a:r>
              <a:rPr lang="en-US" sz="17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있으면 더 좋아요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성별</a:t>
            </a:r>
            <a:endParaRPr lang="en-US" sz="1700" dirty="0"/>
          </a:p>
          <a:p>
            <a:pPr lvl="1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이름 · 연락처</a:t>
            </a:r>
            <a:endParaRPr lang="en-US" sz="1700" dirty="0"/>
          </a:p>
          <a:p>
            <a:pPr lvl="1" indent="0" marL="0">
              <a:buNone/>
            </a:pPr>
            <a:r>
              <a:rPr lang="en-US" sz="16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 · 부를 호칭 (예: 민지, 할머니)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후 [회원가입] 버튼을 누르면 끝!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약관에 동의하기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1920240"/>
            <a:ext cx="60350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동의하나요?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내용으로 마음·기억 건강을 살피는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 보호자에게 알리는 것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✔"/>
            </a:pPr>
            <a:r>
              <a:rPr lang="en-US" sz="17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연결한 보호자·전문가에게 결과 요약 제공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521208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☑  한 번만 체크하고 [동의하고 시작하기]를 누르면 돼요.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1920240"/>
            <a:ext cx="4206240" cy="4023360"/>
          </a:xfrm>
          <a:prstGeom prst="roundRect">
            <a:avLst>
              <a:gd name="adj" fmla="val 2727"/>
            </a:avLst>
          </a:prstGeom>
          <a:solidFill>
            <a:srgbClr val="0B4F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406640" y="2240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  안심하세요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406640" y="29260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일상 대화 원문은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가족·전문가에게도 비공개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요약과 ‘걱정되는 발화’만</a:t>
            </a:r>
            <a:endParaRPr lang="en-US" sz="1800" dirty="0"/>
          </a:p>
          <a:p>
            <a:pPr indent="0" marL="0">
              <a:lnSpc>
                <a:spcPct val="11000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전달됩니다</a:t>
            </a:r>
            <a:endParaRPr lang="en-US" sz="1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i="1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언제든 철회 가능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시작하기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143000" y="2331720"/>
            <a:ext cx="1188720" cy="118872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14300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🎤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251460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전화처럼 대화해요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51460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열고 [📞 대화 시작하기]를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AI가 먼저 인사해요.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그다음은 그냥 편하게 말씀하세요.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중간에 끼어들어도 알아들어요.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0" y="2011680"/>
            <a:ext cx="51206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720840" y="2331720"/>
            <a:ext cx="1188720" cy="1188720"/>
          </a:xfrm>
          <a:prstGeom prst="ellipse">
            <a:avLst/>
          </a:prstGeom>
          <a:solidFill>
            <a:srgbClr val="E8734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720840" y="23317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💬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092440" y="224028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글자로 대화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092440" y="2834640"/>
            <a:ext cx="32918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어려우시면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 [글씨로 대화]를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눌러 직접 쓸 수 있어요.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498348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4B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👵💬  잠깐 쉬고 싶으면 “그만” 하고 말씀하세요. [다시 대화하기] 버튼을 누르면 언제든 이어져요.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 건강은 이렇게 살펴요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92024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88720" y="1920240"/>
            <a:ext cx="9784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시험을 보지 않아요. 평소 대화 속에서 자연스럽게,</a:t>
            </a:r>
            <a:endParaRPr lang="en-US" sz="2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기억·시간·언어 건강을 살펴 드립니다.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EAF4F3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😌  부담이 없어요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어르신께는 점수가 보이지 않아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시험처럼 느껴지지 않습니다.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3E7D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92240" y="42062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7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 가족은 흐름을 확인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7091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연결된 보호자·전문가는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요약으로 변화를 살핍니다.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가족·전문가와 연결하기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E8734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5740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5740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가입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0584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가족·전문가는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'전문가·보호자' 계정으로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가입해요.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6072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6072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받기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70916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 계정에서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연결용 코드를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발급받아요.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464040" y="2423160"/>
            <a:ext cx="914400" cy="9144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64040" y="24231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코드로 연결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412480" y="397764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어르신이 마이페이지에서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코드를 입력하면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완료!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E7C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후에도 일상 대화 원문은 비공개 — 결과 요약과 걱정되는 발화만 공유돼요.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4572000" cy="4572000"/>
          </a:xfrm>
          <a:prstGeom prst="ellipse">
            <a:avLst/>
          </a:prstGeom>
          <a:solidFill>
            <a:srgbClr val="E8734A">
              <a:alpha val="25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315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0000"/>
                </a:solidFill>
              </a:rPr>
              <a:t>🔔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2011680" y="8686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위급할 때, 가족에게 바로 알려요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9728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신호를 살펴요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“죽고 싶다” 같은 위험한 말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약을 잘못/많이 드셨을 때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넘어짐 · 가슴 통증 · 어지럼 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228600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0E5F58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92240" y="25603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6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도와드려요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보호자에게 문자·이메일 알림</a:t>
            </a:r>
            <a:endParaRPr lang="en-US" sz="17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어르신과의 대화는 평소처럼</a:t>
            </a:r>
            <a:endParaRPr lang="en-US" sz="17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놀라시지 않게 조용히 연결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보호자 알림은 가입 시 연락처를 입력하면 작동합니다.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개인정보는 안전하게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🔒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5740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5740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🤫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00584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대화 비공개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0584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대화 원문은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누구에게도 공개되지 않아요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76072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6072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🔐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70916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민감정보 암호화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0916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연락처 등 중요한 정보는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암호화해 보관해요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29600" y="2103120"/>
            <a:ext cx="338328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464040" y="2468880"/>
            <a:ext cx="914400" cy="914400"/>
          </a:xfrm>
          <a:prstGeom prst="ellipse">
            <a:avLst/>
          </a:prstGeom>
          <a:solidFill>
            <a:srgbClr val="EAF4F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64040" y="24688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↩️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412480" y="35204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철회 자유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017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원하시면 언제든</a:t>
            </a:r>
            <a:endParaRPr lang="en-US" sz="1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철회할 수 있어요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600200" y="45720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4F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알아두면 좋은 팁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1627632" y="1481328"/>
            <a:ext cx="2011680" cy="64008"/>
          </a:xfrm>
          <a:prstGeom prst="rect">
            <a:avLst/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2A65A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502920"/>
            <a:ext cx="868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💡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2011680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011680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💬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68880" y="2011680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음성이 잘 안 되면 화면 위 [글씨로 대화]를 눌러 글자로 대화하세요.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22960" y="3035808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51560" y="3035808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✏️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468880" y="3035808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이름·부르는 호칭은 마이페이지에서 바꿀 수 있어요.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" y="4059936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4059936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💊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2468880" y="4059936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복약·일과 알림을 등록하면 챙겨 드릴 수 있어요.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22960" y="5084064"/>
            <a:ext cx="10515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1E3A3A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51560" y="5084064"/>
            <a:ext cx="1280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🔋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468880" y="5084064"/>
            <a:ext cx="8595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앱이 오래되면 로그인 화면에서 최신 버전을 안내해요.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 · 사용 설명서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E7A7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E7C86">
              <a:alpha val="35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503920" y="3200400"/>
            <a:ext cx="5486400" cy="5486400"/>
          </a:xfrm>
          <a:prstGeom prst="ellipse">
            <a:avLst/>
          </a:prstGeom>
          <a:solidFill>
            <a:srgbClr val="13A8A0">
              <a:alpha val="28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0" y="155448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000000"/>
                </a:solidFill>
              </a:rPr>
              <a:t>💛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마음이음과 매일 안부를 나누세요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FE8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당신의 마음에 귀 기울이겠습니다.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FC9C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도움이 필요하면 보호자 또는 담당 전문가에게 말씀해 주세요.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E2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19456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28600"/>
            <a:ext cx="5029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0E2A33"/>
                </a:solidFill>
                <a:latin typeface="맑은 고딕"/>
              </a:rPr>
              <a:t>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1036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화면 위쪽 단추 안내</a:t>
            </a:r>
          </a:p>
        </p:txBody>
      </p:sp>
      <p:pic>
        <p:nvPicPr>
          <p:cNvPr id="6" name="Picture 5" descr="_live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4080" y="1143000"/>
            <a:ext cx="7863840" cy="1572768"/>
          </a:xfrm>
          <a:prstGeom prst="rect">
            <a:avLst/>
          </a:prstGeom>
          <a:ln w="12700">
            <a:solidFill>
              <a:srgbClr val="D0D5D8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5308701" y="1426098"/>
            <a:ext cx="1417320" cy="975116"/>
          </a:xfrm>
          <a:prstGeom prst="roundRect">
            <a:avLst/>
          </a:prstGeom>
          <a:noFill/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825337" y="2779776"/>
            <a:ext cx="384048" cy="38404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73493" y="1426098"/>
            <a:ext cx="640080" cy="975116"/>
          </a:xfrm>
          <a:prstGeom prst="roundRect">
            <a:avLst/>
          </a:prstGeom>
          <a:noFill/>
          <a:ln w="381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01509" y="2779776"/>
            <a:ext cx="384048" cy="384048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38516" y="1426098"/>
            <a:ext cx="640080" cy="975116"/>
          </a:xfrm>
          <a:prstGeom prst="roundRect">
            <a:avLst/>
          </a:prstGeom>
          <a:noFill/>
          <a:ln w="3810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66531" y="2779776"/>
            <a:ext cx="384048" cy="384048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03538" y="1426098"/>
            <a:ext cx="640080" cy="975116"/>
          </a:xfrm>
          <a:prstGeom prst="roundRect">
            <a:avLst/>
          </a:prstGeom>
          <a:noFill/>
          <a:ln w="38100">
            <a:solidFill>
              <a:srgbClr val="5B6B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31554" y="2779776"/>
            <a:ext cx="384048" cy="384048"/>
          </a:xfrm>
          <a:prstGeom prst="ellipse">
            <a:avLst/>
          </a:prstGeom>
          <a:solidFill>
            <a:srgbClr val="5B6B7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" y="3383280"/>
            <a:ext cx="457200" cy="45720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3392424"/>
            <a:ext cx="217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F2A30"/>
                </a:solidFill>
                <a:latin typeface="맑은 고딕"/>
              </a:rPr>
              <a:t>👂 상시 감시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22776"/>
            <a:ext cx="259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B6B73"/>
                </a:solidFill>
                <a:latin typeface="맑은 고딕"/>
              </a:rPr>
              <a:t>환자 목소리를 상시로 살펴요 (보호자용·별도 안내서 참고)</a:t>
            </a:r>
          </a:p>
        </p:txBody>
      </p:sp>
      <p:sp>
        <p:nvSpPr>
          <p:cNvPr id="18" name="Oval 17"/>
          <p:cNvSpPr/>
          <p:nvPr/>
        </p:nvSpPr>
        <p:spPr>
          <a:xfrm>
            <a:off x="3395472" y="3383280"/>
            <a:ext cx="457200" cy="457200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1544" y="3392424"/>
            <a:ext cx="217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F2A30"/>
                </a:solidFill>
                <a:latin typeface="맑은 고딕"/>
              </a:rPr>
              <a:t>💬 글자로 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8040" y="3922776"/>
            <a:ext cx="259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B6B73"/>
                </a:solidFill>
                <a:latin typeface="맑은 고딕"/>
              </a:rPr>
              <a:t>말하기 어려우면 글자로 대화</a:t>
            </a:r>
          </a:p>
        </p:txBody>
      </p:sp>
      <p:sp>
        <p:nvSpPr>
          <p:cNvPr id="21" name="Oval 20"/>
          <p:cNvSpPr/>
          <p:nvPr/>
        </p:nvSpPr>
        <p:spPr>
          <a:xfrm>
            <a:off x="6123432" y="3383280"/>
            <a:ext cx="457200" cy="457200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9504" y="3392424"/>
            <a:ext cx="217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F2A30"/>
                </a:solidFill>
                <a:latin typeface="맑은 고딕"/>
              </a:rPr>
              <a:t>⚙️ 설정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3922776"/>
            <a:ext cx="259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B6B73"/>
                </a:solidFill>
                <a:latin typeface="맑은 고딕"/>
              </a:rPr>
              <a:t>이름·보호자·목소리 등록 등</a:t>
            </a:r>
          </a:p>
        </p:txBody>
      </p:sp>
      <p:sp>
        <p:nvSpPr>
          <p:cNvPr id="24" name="Oval 23"/>
          <p:cNvSpPr/>
          <p:nvPr/>
        </p:nvSpPr>
        <p:spPr>
          <a:xfrm>
            <a:off x="8851392" y="3383280"/>
            <a:ext cx="457200" cy="457200"/>
          </a:xfrm>
          <a:prstGeom prst="ellipse">
            <a:avLst/>
          </a:prstGeom>
          <a:solidFill>
            <a:srgbClr val="5B6B7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7464" y="3392424"/>
            <a:ext cx="2179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F2A30"/>
                </a:solidFill>
                <a:latin typeface="맑은 고딕"/>
              </a:rPr>
              <a:t>↪ 로그아웃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22776"/>
            <a:ext cx="259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B6B73"/>
                </a:solidFill>
                <a:latin typeface="맑은 고딕"/>
              </a:rPr>
              <a:t>앱에서 나가기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E2A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11480" y="219456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28600"/>
            <a:ext cx="502920" cy="4846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0E2A33"/>
                </a:solidFill>
                <a:latin typeface="맑은 고딕"/>
              </a:rPr>
              <a:t>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"/>
            <a:ext cx="103632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맑은 고딕"/>
              </a:rPr>
              <a:t>내 목소리 등록하기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09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5B6B73"/>
                </a:solidFill>
                <a:latin typeface="맑은 고딕"/>
              </a:rPr>
              <a:t>‘상시 감시’를 쓰려면 먼저 목소리를 등록해요. 지문 등록처럼, 한 번 해두면 내 목소리를 알아봅니다.</a:t>
            </a:r>
          </a:p>
        </p:txBody>
      </p:sp>
      <p:pic>
        <p:nvPicPr>
          <p:cNvPr id="7" name="Picture 6" descr="guide-03-my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2011680" cy="4353481"/>
          </a:xfrm>
          <a:prstGeom prst="rect">
            <a:avLst/>
          </a:prstGeom>
          <a:ln w="12700">
            <a:solidFill>
              <a:srgbClr val="D0D5D8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694944" y="3232755"/>
            <a:ext cx="1901952" cy="217674"/>
          </a:xfrm>
          <a:prstGeom prst="roundRect">
            <a:avLst/>
          </a:prstGeom>
          <a:noFill/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478024" y="3149568"/>
            <a:ext cx="384048" cy="38404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pic>
        <p:nvPicPr>
          <p:cNvPr id="10" name="Picture 9" descr="guide-04-voice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600200"/>
            <a:ext cx="2011680" cy="4549079"/>
          </a:xfrm>
          <a:prstGeom prst="rect">
            <a:avLst/>
          </a:prstGeom>
          <a:ln w="12700">
            <a:solidFill>
              <a:srgbClr val="D0D5D8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3255264" y="2578251"/>
            <a:ext cx="1901952" cy="386671"/>
          </a:xfrm>
          <a:prstGeom prst="roundRect">
            <a:avLst/>
          </a:prstGeom>
          <a:noFill/>
          <a:ln w="38100">
            <a:solidFill>
              <a:srgbClr val="028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38344" y="2568191"/>
            <a:ext cx="384048" cy="384048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647285"/>
            <a:ext cx="1901952" cy="282042"/>
          </a:xfrm>
          <a:prstGeom prst="roundRect">
            <a:avLst/>
          </a:prstGeom>
          <a:noFill/>
          <a:ln w="3810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38344" y="3591733"/>
            <a:ext cx="384048" cy="384048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5" name="Oval 14"/>
          <p:cNvSpPr/>
          <p:nvPr/>
        </p:nvSpPr>
        <p:spPr>
          <a:xfrm>
            <a:off x="5696712" y="1673352"/>
            <a:ext cx="457200" cy="457200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664208"/>
            <a:ext cx="542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2A30"/>
                </a:solidFill>
                <a:latin typeface="맑은 고딕"/>
              </a:rPr>
              <a:t>마이페이지 → 목소리 등록·확인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2011680"/>
            <a:ext cx="5425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B6B73"/>
                </a:solidFill>
                <a:latin typeface="맑은 고딕"/>
              </a:rPr>
              <a:t>설정(⚙️)에 들어가 노란 [목소리 등록·확인] 단추를 누르세요.</a:t>
            </a:r>
          </a:p>
        </p:txBody>
      </p:sp>
      <p:sp>
        <p:nvSpPr>
          <p:cNvPr id="18" name="Oval 17"/>
          <p:cNvSpPr/>
          <p:nvPr/>
        </p:nvSpPr>
        <p:spPr>
          <a:xfrm>
            <a:off x="5696712" y="2606040"/>
            <a:ext cx="457200" cy="457200"/>
          </a:xfrm>
          <a:prstGeom prst="ellipse">
            <a:avLst/>
          </a:prstGeom>
          <a:solidFill>
            <a:srgbClr val="02809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2596896"/>
            <a:ext cx="542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2A30"/>
                </a:solidFill>
                <a:latin typeface="맑은 고딕"/>
              </a:rPr>
              <a:t>화면의 문장을 30초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944368"/>
            <a:ext cx="5425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B6B73"/>
                </a:solidFill>
                <a:latin typeface="맑은 고딕"/>
              </a:rPr>
              <a:t>떠 있는 문장을 편하게 소리 내어 읽으면, 내 목소리 특징을 익혀요.</a:t>
            </a:r>
          </a:p>
        </p:txBody>
      </p:sp>
      <p:sp>
        <p:nvSpPr>
          <p:cNvPr id="21" name="Oval 20"/>
          <p:cNvSpPr/>
          <p:nvPr/>
        </p:nvSpPr>
        <p:spPr>
          <a:xfrm>
            <a:off x="5696712" y="3538728"/>
            <a:ext cx="457200" cy="457200"/>
          </a:xfrm>
          <a:prstGeom prst="ellipse">
            <a:avLst/>
          </a:prstGeom>
          <a:solidFill>
            <a:srgbClr val="00A89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7648" y="3529584"/>
            <a:ext cx="542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2A30"/>
                </a:solidFill>
                <a:latin typeface="맑은 고딕"/>
              </a:rPr>
              <a:t>[등록 시작] 누르고 녹음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7648" y="3877056"/>
            <a:ext cx="5425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5B6B73"/>
                </a:solidFill>
                <a:latin typeface="맑은 고딕"/>
              </a:rPr>
              <a:t>녹음이 끝나면 자동 저장. 한 번이면 충분하고, 조용한 곳에서 하면 더 정확해요.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0" y="4572000"/>
            <a:ext cx="5974080" cy="960120"/>
          </a:xfrm>
          <a:prstGeom prst="roundRect">
            <a:avLst/>
          </a:prstGeom>
          <a:solidFill>
            <a:srgbClr val="E7F3F4"/>
          </a:solidFill>
          <a:ln w="1524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4718304"/>
            <a:ext cx="55168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A30"/>
                </a:solidFill>
                <a:latin typeface="맑은 고딕"/>
              </a:rPr>
              <a:t>🔒 목소리 원본은 휴대폰을 벗어나지 않아요.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1F2A30"/>
                </a:solidFill>
                <a:latin typeface="맑은 고딕"/>
              </a:rPr>
              <a:t>분석한 특징값만 안전하게 저장됩니다.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마음이음 사용 설명서</dc:title>
  <dc:subject>PptxGenJS Presentation</dc:subject>
  <dc:creator>마음이음</dc:creator>
  <cp:lastModifiedBy>마음이음</cp:lastModifiedBy>
  <cp:revision>1</cp:revision>
  <dcterms:created xsi:type="dcterms:W3CDTF">2026-07-09T01:31:52Z</dcterms:created>
  <dcterms:modified xsi:type="dcterms:W3CDTF">2026-07-09T01:31:52Z</dcterms:modified>
</cp:coreProperties>
</file>