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56" y="777240"/>
            <a:ext cx="16029432" cy="8723376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21207"/>
            <a:ext cx="15782544" cy="9217152"/>
          </a:xfrm>
          <a:prstGeom prst="rect">
            <a:avLst/>
          </a:prstGeom>
        </p:spPr>
      </p:pic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9240" y="1435608"/>
            <a:ext cx="457200" cy="457200"/>
          </a:xfrm>
          <a:prstGeom prst="rect">
            <a:avLst/>
          </a:prstGeom>
        </p:spPr>
      </p:pic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79240" y="2459736"/>
            <a:ext cx="457200" cy="457200"/>
          </a:xfrm>
          <a:prstGeom prst="rect">
            <a:avLst/>
          </a:prstGeom>
        </p:spPr>
      </p:pic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9240" y="3767328"/>
            <a:ext cx="457200" cy="457200"/>
          </a:xfrm>
          <a:prstGeom prst="rect">
            <a:avLst/>
          </a:prstGeom>
        </p:spPr>
      </p:pic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9240" y="4901184"/>
            <a:ext cx="457200" cy="457200"/>
          </a:xfrm>
          <a:prstGeom prst="rect">
            <a:avLst/>
          </a:prstGeom>
        </p:spPr>
      </p:pic>
      <p:pic>
        <p:nvPicPr>
          <p:cNvPr id="8" name="Picture 7" descr="imag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79240" y="6108192"/>
            <a:ext cx="457200" cy="457200"/>
          </a:xfrm>
          <a:prstGeom prst="rect">
            <a:avLst/>
          </a:prstGeom>
        </p:spPr>
      </p:pic>
      <p:pic>
        <p:nvPicPr>
          <p:cNvPr id="9" name="Picture 8" descr="image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79240" y="7187184"/>
            <a:ext cx="457200" cy="457200"/>
          </a:xfrm>
          <a:prstGeom prst="rect">
            <a:avLst/>
          </a:prstGeom>
        </p:spPr>
      </p:pic>
      <p:pic>
        <p:nvPicPr>
          <p:cNvPr id="10" name="Picture 9" descr="image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79240" y="8430768"/>
            <a:ext cx="457200" cy="457200"/>
          </a:xfrm>
          <a:prstGeom prst="rect">
            <a:avLst/>
          </a:prstGeom>
        </p:spPr>
      </p:pic>
      <p:pic>
        <p:nvPicPr>
          <p:cNvPr id="11" name="Picture 10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2148840"/>
            <a:ext cx="685800" cy="9144"/>
          </a:xfrm>
          <a:prstGeom prst="rect">
            <a:avLst/>
          </a:prstGeom>
        </p:spPr>
      </p:pic>
      <p:pic>
        <p:nvPicPr>
          <p:cNvPr id="12" name="Picture 11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3355848"/>
            <a:ext cx="685800" cy="9144"/>
          </a:xfrm>
          <a:prstGeom prst="rect">
            <a:avLst/>
          </a:prstGeom>
        </p:spPr>
      </p:pic>
      <p:pic>
        <p:nvPicPr>
          <p:cNvPr id="13" name="Picture 12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4544568"/>
            <a:ext cx="685800" cy="9144"/>
          </a:xfrm>
          <a:prstGeom prst="rect">
            <a:avLst/>
          </a:prstGeom>
        </p:spPr>
      </p:pic>
      <p:pic>
        <p:nvPicPr>
          <p:cNvPr id="14" name="Picture 13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5742432"/>
            <a:ext cx="685800" cy="9144"/>
          </a:xfrm>
          <a:prstGeom prst="rect">
            <a:avLst/>
          </a:prstGeom>
        </p:spPr>
      </p:pic>
      <p:pic>
        <p:nvPicPr>
          <p:cNvPr id="15" name="Picture 14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6766560"/>
            <a:ext cx="685800" cy="9144"/>
          </a:xfrm>
          <a:prstGeom prst="rect">
            <a:avLst/>
          </a:prstGeom>
        </p:spPr>
      </p:pic>
      <p:pic>
        <p:nvPicPr>
          <p:cNvPr id="16" name="Picture 15" descr="image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78655" y="7964424"/>
            <a:ext cx="685800" cy="9144"/>
          </a:xfrm>
          <a:prstGeom prst="rect">
            <a:avLst/>
          </a:prstGeom>
        </p:spPr>
      </p:pic>
      <p:pic>
        <p:nvPicPr>
          <p:cNvPr id="17" name="Picture 16" descr="image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8488" y="1481328"/>
            <a:ext cx="2112264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31336" y="1499616"/>
            <a:ext cx="2377440" cy="3017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400" b="0">
                <a:solidFill>
                  <a:srgbClr val="858585"/>
                </a:solidFill>
                <a:latin typeface="Pretendard"/>
              </a:rPr>
              <a:t>FIRST C&amp;D Inc.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249424"/>
            <a:ext cx="13487400" cy="2615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000" b="1">
                <a:solidFill>
                  <a:srgbClr val="111111"/>
                </a:solidFill>
                <a:latin typeface="Pretendard SemiBold"/>
              </a:rPr>
              <a:t>커넥티드 모빌리티 인프라 비교</a:t>
            </a:r>
          </a:p>
          <a:p>
            <a:pPr algn="l">
              <a:lnSpc>
                <a:spcPct val="112000"/>
              </a:lnSpc>
            </a:pPr>
            <a:r>
              <a:rPr sz="5000" b="1">
                <a:solidFill>
                  <a:srgbClr val="111111"/>
                </a:solidFill>
                <a:latin typeface="Pretendard SemiBold"/>
              </a:rPr>
              <a:t xml:space="preserve">AWS vs </a:t>
            </a:r>
            <a:r>
              <a:rPr sz="5000" b="1">
                <a:solidFill>
                  <a:srgbClr val="4081ED"/>
                </a:solidFill>
                <a:latin typeface="Pretendard SemiBold"/>
              </a:rPr>
              <a:t>사내 서버</a:t>
            </a:r>
            <a:r>
              <a:rPr sz="5000" b="1">
                <a:solidFill>
                  <a:srgbClr val="111111"/>
                </a:solidFill>
                <a:latin typeface="Pretendard SemiBold"/>
              </a:rPr>
              <a:t>(온프레미스)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6208776"/>
            <a:ext cx="5093208" cy="7040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ctr"/>
            <a:r>
              <a:rPr sz="2800" b="1">
                <a:solidFill>
                  <a:srgbClr val="111111"/>
                </a:solidFill>
                <a:latin typeface="Pretendard SemiBold"/>
              </a:rPr>
              <a:t>㈜퍼스트씨앤디</a:t>
            </a:r>
          </a:p>
        </p:txBody>
      </p:sp>
      <p:pic>
        <p:nvPicPr>
          <p:cNvPr id="21" name="Picture 20" descr="image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6272" y="7205472"/>
            <a:ext cx="12810744" cy="9144"/>
          </a:xfrm>
          <a:prstGeom prst="rect">
            <a:avLst/>
          </a:prstGeom>
        </p:spPr>
      </p:pic>
      <p:pic>
        <p:nvPicPr>
          <p:cNvPr id="22" name="Picture 21" descr="image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21992" y="7571231"/>
            <a:ext cx="1956816" cy="4663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221992" y="7671816"/>
            <a:ext cx="1956816" cy="2834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내부 자료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7644383"/>
            <a:ext cx="11521440" cy="3017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858585"/>
                </a:solidFill>
                <a:latin typeface="Pretendard"/>
              </a:rPr>
              <a:t>2026. 9. 23.   ㅣ   AWS 정리 반영본   ㅣ   리소스별 실측 근거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한눈에 보는 결론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핵심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4792" y="4343400"/>
            <a:ext cx="4572000" cy="30632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>
            <a:no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081ED"/>
                </a:solidFill>
                <a:latin typeface="Pretendard SemiBold"/>
              </a:rPr>
              <a:t>①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매달 나가는 현금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사내 서버 ~8만원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≈ AWS 이 프로젝트분 ~11만원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(차이 작음)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85432" y="4343400"/>
            <a:ext cx="4572000" cy="30632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>
            <a:no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081ED"/>
                </a:solidFill>
                <a:latin typeface="Pretendard SemiBold"/>
              </a:rPr>
              <a:t>②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이 프로젝트엔 오버스펙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2,000만원 서버 =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전사(여러 프로젝트)용 그릇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한 과제엔 과한 규모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06072" y="4343400"/>
            <a:ext cx="4572000" cy="30632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>
            <a:no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081ED"/>
                </a:solidFill>
                <a:latin typeface="Pretendard SemiBold"/>
              </a:rPr>
              <a:t>③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전환 정당화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비용 절감이 아니라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전사 자체서버 전환 ·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데이터 주권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64792" y="7955279"/>
            <a:ext cx="14813280" cy="868680"/>
          </a:xfrm>
          <a:prstGeom prst="roundRect">
            <a:avLst>
              <a:gd name="adj" fmla="val 3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retendard SemiBold"/>
              </a:rPr>
              <a:t>AWS 정리로 계정 전체가 월 40만 → 22만원으로 내려감 — 비용만 보면 AWS 가 유리, 전환 근거는 데이터 주권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현재 AWS 비용 구조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310896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AWS 전체 계정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3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64792" y="3931920"/>
          <a:ext cx="8503920" cy="434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420624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서비스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정리 전  →  정리 후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RDS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$58.07  →  $58.07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EC2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$55.98  →  ~$41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DynamoDB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$43.63  →  $0   ✓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VPC (탄력적 IP)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$33.02  →  ~$18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Data Transfer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$32.06  →  $32.06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Timestream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$12.07  →  $12.07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보안 (Hub · GuardDuty)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$17.42  →  ~$2.5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Pretendard"/>
                        </a:rPr>
                        <a:t>S3 · 기타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$6.52  →  ~$3.4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081ED"/>
                          </a:solidFill>
                          <a:latin typeface="Pretendard SemiBold"/>
                        </a:rPr>
                        <a:t>총계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081ED"/>
                          </a:solidFill>
                          <a:latin typeface="Pretendard SemiBold"/>
                        </a:rPr>
                        <a:t>$258.77  →  ~$167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0607040" y="3931920"/>
            <a:ext cx="5989320" cy="23317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>
            <a:no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081ED"/>
                </a:solidFill>
                <a:latin typeface="Pretendard SemiBold"/>
              </a:rPr>
              <a:t>이 계정엔 여러 프로젝트 공존</a:t>
            </a:r>
          </a:p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· 이 프로젝트 (3과제)</a:t>
            </a:r>
          </a:p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· ERP · 마음이음 · total-DB</a:t>
            </a:r>
          </a:p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· 구 프로젝트 → 2026-09-23 정리 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0" y="6446520"/>
            <a:ext cx="5989320" cy="18288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58585"/>
                </a:solidFill>
                <a:latin typeface="Pretendard SemiBold"/>
              </a:rPr>
              <a:t>정리 내역 (2026-09-23)</a:t>
            </a:r>
          </a:p>
          <a:p>
            <a:pPr algn="l"/>
            <a:r>
              <a:rPr sz="1600" b="1">
                <a:solidFill>
                  <a:srgbClr val="858585"/>
                </a:solidFill>
                <a:latin typeface="Pretendard SemiBold"/>
              </a:rPr>
              <a:t>DynamoDB 백업 402GiB · 구 EC2 18대</a:t>
            </a:r>
          </a:p>
          <a:p>
            <a:pPr algn="l"/>
            <a:r>
              <a:rPr sz="1600" b="1">
                <a:solidFill>
                  <a:srgbClr val="858585"/>
                </a:solidFill>
                <a:latin typeface="Pretendard SemiBold"/>
              </a:rPr>
              <a:t>스냅샷 285GB · AMI 11개 · 탄력적 IP 4개</a:t>
            </a:r>
          </a:p>
          <a:p>
            <a:pPr algn="l"/>
            <a:r>
              <a:rPr sz="1600" b="1">
                <a:solidFill>
                  <a:srgbClr val="858585"/>
                </a:solidFill>
                <a:latin typeface="Pretendard SemiBold"/>
              </a:rPr>
              <a:t>보안 서비스 17개 리전 → 2개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64792" y="8549640"/>
            <a:ext cx="14813280" cy="658368"/>
          </a:xfrm>
          <a:prstGeom prst="roundRect">
            <a:avLst>
              <a:gd name="adj" fmla="val 30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Pretendard SemiBold"/>
              </a:rPr>
              <a:t>정리로 월 $91 절감 (연 약 143만원) — 다만 대부분 구 프로젝트·공용 자원분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이 프로젝트 실귀속분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310896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리소스별 실측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4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64792" y="3931920"/>
          <a:ext cx="8503920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09360"/>
                <a:gridCol w="219456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리소스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월 추정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Pretendard"/>
                        </a:rPr>
                        <a:t>EC2 · 3과제 (t3.medium, 1대)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~$40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Pretendard"/>
                        </a:rPr>
                        <a:t>RDS · conected2-database-1 (t4g.micro, RDS 4개 중 1개)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~$21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Pretendard"/>
                        </a:rPr>
                        <a:t>Timestream (도쿄 리전, 100%)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$12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Pretendard"/>
                        </a:rPr>
                        <a:t>전송 · S3 · Route53 · VPC 일부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~$15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081ED"/>
                          </a:solidFill>
                          <a:latin typeface="Pretendard SemiBold"/>
                        </a:rPr>
                        <a:t>합계 (≈ 약 12만원)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4081ED"/>
                          </a:solidFill>
                          <a:latin typeface="Pretendard SemiBold"/>
                        </a:rPr>
                        <a:t>≈ $85~95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764792" y="7086600"/>
            <a:ext cx="8503920" cy="603504"/>
          </a:xfrm>
          <a:prstGeom prst="roundRect">
            <a:avLst>
              <a:gd name="adj" fmla="val 30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300" b="0">
                <a:solidFill>
                  <a:srgbClr val="858585"/>
                </a:solidFill>
                <a:latin typeface="Pretendard"/>
              </a:rPr>
              <a:t>※ 인스턴스 크기 · 리전 · 리소스명 기준 안분 추정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0" y="3931920"/>
            <a:ext cx="5989320" cy="3758184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19456" tIns="201168">
            <a:no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858585"/>
                </a:solidFill>
                <a:latin typeface="Pretendard SemiBold"/>
              </a:rPr>
              <a:t>이 프로젝트 아님 (제외)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erp-groupware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erp-db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maeum-ieu-db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total-database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DynamoDB (구 백업)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Amplify (구 홈페이지)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Pretendard"/>
              </a:rPr>
              <a:t>· 보안 (계정 전체)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64792" y="7973568"/>
            <a:ext cx="14813280" cy="868680"/>
          </a:xfrm>
          <a:prstGeom prst="roundRect">
            <a:avLst>
              <a:gd name="adj" fmla="val 3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retendard SemiBold"/>
              </a:rPr>
              <a:t>전체 계정 ~40만원 중 이 프로젝트분은 약 12만원 — 나머지는 타 · 구 프로젝트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서비스별 이관·정리 판정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320040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옮김·잔류·정리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4792" y="41605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64792" y="4160520"/>
            <a:ext cx="3520440" cy="658368"/>
          </a:xfrm>
          <a:prstGeom prst="roundRect">
            <a:avLst>
              <a:gd name="adj" fmla="val 6000"/>
            </a:avLst>
          </a:prstGeom>
          <a:solidFill>
            <a:srgbClr val="2F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옮김 (사내)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4956048"/>
            <a:ext cx="3429000" cy="2395728"/>
          </a:xfrm>
          <a:prstGeom prst="rect">
            <a:avLst/>
          </a:prstGeom>
          <a:noFill/>
        </p:spPr>
        <p:txBody>
          <a:bodyPr wrap="square" lIns="182880" rIns="109728" tIns="18288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RDS (conected2)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Pretendard"/>
              </a:rPr>
              <a:t>· Timestream → TimescaleDB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EC2 (3과제) 처리분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13832" y="41605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13832" y="4160520"/>
            <a:ext cx="3520440" cy="658368"/>
          </a:xfrm>
          <a:prstGeom prst="roundRect">
            <a:avLst>
              <a:gd name="adj" fmla="val 6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잔류 (AWS)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4956048"/>
            <a:ext cx="3429000" cy="2395728"/>
          </a:xfrm>
          <a:prstGeom prst="rect">
            <a:avLst/>
          </a:prstGeom>
          <a:noFill/>
        </p:spPr>
        <p:txBody>
          <a:bodyPr wrap="square" lIns="182880" rIns="109728" tIns="18288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문지기용 소형 EC2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S3 (오프사이트 백업)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Route53 (DNS)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2872" y="41605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62872" y="4160520"/>
            <a:ext cx="3520440" cy="658368"/>
          </a:xfrm>
          <a:prstGeom prst="roundRect">
            <a:avLst>
              <a:gd name="adj" fmla="val 6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정리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4956048"/>
            <a:ext cx="3429000" cy="2395728"/>
          </a:xfrm>
          <a:prstGeom prst="rect">
            <a:avLst/>
          </a:prstGeom>
          <a:noFill/>
        </p:spPr>
        <p:txBody>
          <a:bodyPr wrap="square" lIns="182880" rIns="109728" tIns="18288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Pretendard"/>
              </a:rPr>
              <a:t>· DynamoDB 구 백업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Pretendard"/>
              </a:rPr>
              <a:t xml:space="preserve">  → NAS 이관 · 삭제 완료 ✓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Pretendard"/>
              </a:rPr>
              <a:t>· 구 EC2 18대 · 스냅샷 · AMI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Pretendard"/>
              </a:rPr>
              <a:t xml:space="preserve">  → 소스 NAS 이관 후 정리 완료 ✓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Pretendard"/>
              </a:rPr>
              <a:t>· Amplify (구 홈페이지)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011912" y="416052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011912" y="4160520"/>
            <a:ext cx="3520440" cy="658368"/>
          </a:xfrm>
          <a:prstGeom prst="roundRect">
            <a:avLst>
              <a:gd name="adj" fmla="val 6000"/>
            </a:avLst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자연 감소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57632" y="4956048"/>
            <a:ext cx="3429000" cy="2395728"/>
          </a:xfrm>
          <a:prstGeom prst="rect">
            <a:avLst/>
          </a:prstGeom>
          <a:noFill/>
        </p:spPr>
        <p:txBody>
          <a:bodyPr wrap="square" lIns="182880" rIns="109728" tIns="18288" bIns="18288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Pretendard"/>
              </a:rPr>
              <a:t>· VPC · Data Transfer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Pretendard"/>
              </a:rPr>
              <a:t>· Security Hub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Pretendard"/>
              </a:rPr>
              <a:t>· GuardDuty · Config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Pretendard"/>
              </a:rPr>
              <a:t>· (AWS 축소 시 종속 감소)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64792" y="7818120"/>
            <a:ext cx="14813280" cy="868680"/>
          </a:xfrm>
          <a:prstGeom prst="roundRect">
            <a:avLst>
              <a:gd name="adj" fmla="val 3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2026-09-23 정리 완료 — 월 $91 절감. 남은 검토: Data Transfer 내역 확인 · RDS 퍼블릭 액세스 · Timestream 보관정책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사내 서버 운영비 (전력)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전기·운영비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6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64792" y="3931920"/>
          <a:ext cx="85039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72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구성 요소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Pretendard SemiBold"/>
                        </a:rPr>
                        <a:t>소비 전력</a:t>
                      </a:r>
                    </a:p>
                  </a:txBody>
                  <a:tcPr anchor="ctr" marL="128016" marR="91440" marT="27432" marB="27432">
                    <a:solidFill>
                      <a:srgbClr val="DCE6F2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서버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~130W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스위치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~15W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방화벽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~12W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Pretendard"/>
                        </a:rPr>
                        <a:t>UPS 손실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Pretendard"/>
                        </a:rPr>
                        <a:t>~20W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081ED"/>
                          </a:solidFill>
                          <a:latin typeface="Pretendard SemiBold"/>
                        </a:rPr>
                        <a:t>합계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4081ED"/>
                          </a:solidFill>
                          <a:latin typeface="Pretendard SemiBold"/>
                        </a:rPr>
                        <a:t>~180W</a:t>
                      </a:r>
                    </a:p>
                  </a:txBody>
                  <a:tcPr anchor="ctr" marL="128016" marR="91440" marT="27432" marB="27432">
                    <a:solidFill>
                      <a:srgbClr val="E4ECF8"/>
                    </a:solidFill>
                    <a:lnL w="9525" cap="flat" cmpd="sng" algn="ctr">
                      <a:solidFill>
                        <a:srgbClr val="D8DEE6"/>
                      </a:solidFill>
                    </a:lnL>
                    <a:lnR w="9525" cap="flat" cmpd="sng" algn="ctr">
                      <a:solidFill>
                        <a:srgbClr val="D8DEE6"/>
                      </a:solidFill>
                    </a:lnR>
                    <a:lnT w="9525" cap="flat" cmpd="sng" algn="ctr">
                      <a:solidFill>
                        <a:srgbClr val="D8DEE6"/>
                      </a:solidFill>
                    </a:lnT>
                    <a:lnB w="9525" cap="flat" cmpd="sng" algn="ctr">
                      <a:solidFill>
                        <a:srgbClr val="D8DE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764792" y="6903720"/>
            <a:ext cx="8503920" cy="640080"/>
          </a:xfrm>
          <a:prstGeom prst="roundRect">
            <a:avLst>
              <a:gd name="adj" fmla="val 25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600" b="1">
                <a:solidFill>
                  <a:srgbClr val="4081ED"/>
                </a:solidFill>
                <a:latin typeface="Pretendard SemiBold"/>
              </a:rPr>
              <a:t>→ 월 약 131 kWh  (24시간 가동 기준)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0" y="3931920"/>
            <a:ext cx="5989320" cy="12344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58585"/>
                </a:solidFill>
                <a:latin typeface="Pretendard SemiBold"/>
              </a:rPr>
              <a:t>월 전기요금</a:t>
            </a:r>
          </a:p>
          <a:p>
            <a:pPr algn="l">
              <a:spcAft>
                <a:spcPts val="400"/>
              </a:spcAft>
            </a:pPr>
            <a:r>
              <a:rPr sz="2500" b="1">
                <a:solidFill>
                  <a:srgbClr val="4081ED"/>
                </a:solidFill>
                <a:latin typeface="Pretendard SemiBold"/>
              </a:rPr>
              <a:t>약 2~3만원</a:t>
            </a:r>
          </a:p>
          <a:p>
            <a:pPr algn="l">
              <a:lnSpc>
                <a:spcPct val="108000"/>
              </a:lnSpc>
            </a:pPr>
            <a:r>
              <a:rPr sz="1400" b="0">
                <a:solidFill>
                  <a:srgbClr val="333333"/>
                </a:solidFill>
                <a:latin typeface="Pretendard"/>
              </a:rPr>
              <a:t>냉방 포함 시 상한 ~4만원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07040" y="5394960"/>
            <a:ext cx="5989320" cy="12344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58585"/>
                </a:solidFill>
                <a:latin typeface="Pretendard SemiBold"/>
              </a:rPr>
              <a:t>단가 근거</a:t>
            </a:r>
          </a:p>
          <a:p>
            <a:pPr algn="l">
              <a:spcAft>
                <a:spcPts val="400"/>
              </a:spcAft>
            </a:pPr>
            <a:r>
              <a:rPr sz="2500" b="1">
                <a:solidFill>
                  <a:srgbClr val="4081ED"/>
                </a:solidFill>
                <a:latin typeface="Pretendard SemiBold"/>
              </a:rPr>
              <a:t>~150원 / kWh</a:t>
            </a:r>
          </a:p>
          <a:p>
            <a:pPr algn="l">
              <a:lnSpc>
                <a:spcPct val="108000"/>
              </a:lnSpc>
            </a:pPr>
            <a:r>
              <a:rPr sz="1400" b="0">
                <a:solidFill>
                  <a:srgbClr val="333333"/>
                </a:solidFill>
                <a:latin typeface="Pretendard"/>
              </a:rPr>
              <a:t>KEPCO 일반용(갑) 기준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0" y="6858000"/>
            <a:ext cx="5989320" cy="1417320"/>
          </a:xfrm>
          <a:prstGeom prst="roundRect">
            <a:avLst>
              <a:gd name="adj" fmla="val 8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 SemiBold"/>
              </a:rPr>
              <a:t>총 월 운영비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retendard SemiBold"/>
              </a:rPr>
              <a:t>≈ 4~11만원</a:t>
            </a:r>
          </a:p>
          <a:p>
            <a:pPr algn="l">
              <a:lnSpc>
                <a:spcPct val="108000"/>
              </a:lnSpc>
            </a:pPr>
            <a:r>
              <a:rPr sz="1400" b="0">
                <a:solidFill>
                  <a:srgbClr val="EAF0FC"/>
                </a:solidFill>
                <a:latin typeface="Pretendard"/>
              </a:rPr>
              <a:t>전기 2~3만 + 회선 0~8만 + 방화벽·OS 0원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8732520"/>
            <a:ext cx="148132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858585"/>
                </a:solidFill>
                <a:latin typeface="Pretendard"/>
              </a:rPr>
              <a:t>※ 800W PSU · 150W TDP 는 정격이며 실소비 아님. NAS 는 기존 운영 중이라 추가 부하 제외.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월 비용 비교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매달 나가는 현금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4434840"/>
            <a:ext cx="22860" cy="4251960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617720"/>
            <a:ext cx="315468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600" b="1">
                <a:solidFill>
                  <a:srgbClr val="111111"/>
                </a:solidFill>
                <a:latin typeface="Pretendard SemiBold"/>
              </a:rPr>
              <a:t>AWS 계정 전체</a:t>
            </a:r>
          </a:p>
          <a:p>
            <a:pPr algn="r"/>
            <a:r>
              <a:rPr sz="1600" b="1">
                <a:solidFill>
                  <a:srgbClr val="111111"/>
                </a:solidFill>
                <a:latin typeface="Pretendard SemiBold"/>
              </a:rPr>
              <a:t>정리 후 · 타 프로젝트 포함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617720"/>
            <a:ext cx="5481828" cy="1051560"/>
          </a:xfrm>
          <a:prstGeom prst="roundRect">
            <a:avLst>
              <a:gd name="adj" fmla="val 12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73868" y="4617720"/>
            <a:ext cx="3108960" cy="10515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Pretendard SemiBold"/>
              </a:rPr>
              <a:t>~22만원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6080760"/>
            <a:ext cx="315468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600" b="1">
                <a:solidFill>
                  <a:srgbClr val="111111"/>
                </a:solidFill>
                <a:latin typeface="Pretendard SemiBold"/>
              </a:rPr>
              <a:t>AWS 이 프로젝트분</a:t>
            </a:r>
          </a:p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실귀속 추정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6080760"/>
            <a:ext cx="2740914" cy="1051560"/>
          </a:xfrm>
          <a:prstGeom prst="roundRect">
            <a:avLst>
              <a:gd name="adj" fmla="val 12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2954" y="6080760"/>
            <a:ext cx="3108960" cy="10515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Pretendard SemiBold"/>
              </a:rPr>
              <a:t>~11만원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7543800"/>
            <a:ext cx="315468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600" b="1">
                <a:solidFill>
                  <a:srgbClr val="111111"/>
                </a:solidFill>
                <a:latin typeface="Pretendard SemiBold"/>
              </a:rPr>
              <a:t>사내 서버</a:t>
            </a:r>
          </a:p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전기·운영비 기준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7543800"/>
            <a:ext cx="1993392" cy="1051560"/>
          </a:xfrm>
          <a:prstGeom prst="roundRect">
            <a:avLst>
              <a:gd name="adj" fmla="val 12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7543800"/>
            <a:ext cx="3108960" cy="105156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1">
                <a:solidFill>
                  <a:srgbClr val="4081ED"/>
                </a:solidFill>
                <a:latin typeface="Pretendard SemiBold"/>
              </a:rPr>
              <a:t>~8만원 (4~11만)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64792" y="8915400"/>
            <a:ext cx="14813280" cy="777240"/>
          </a:xfrm>
          <a:prstGeom prst="roundRect">
            <a:avLst>
              <a:gd name="adj" fmla="val 3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retendard SemiBold"/>
              </a:rPr>
              <a:t>정리 후 계정 전체가 22만원 — 이 프로젝트분(11만)과 사내(8만) 차이는 여전히 작음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5년 총소유비용 — 두 관점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장기 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75720" y="3584448"/>
            <a:ext cx="256032" cy="256032"/>
          </a:xfrm>
          <a:prstGeom prst="rect">
            <a:avLst/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0" y="3520440"/>
            <a:ext cx="20116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retendard"/>
              </a:rPr>
              <a:t>CapEx (초기 설비)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081760" y="3584448"/>
            <a:ext cx="256032" cy="256032"/>
          </a:xfrm>
          <a:prstGeom prst="rect">
            <a:avLst/>
          </a:prstGeom>
          <a:solidFill>
            <a:srgbClr val="AFC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401800" y="3520440"/>
            <a:ext cx="228600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Pretendard"/>
              </a:rPr>
              <a:t>운영비 (60개월)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4023360"/>
            <a:ext cx="15663672" cy="21488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114800"/>
            <a:ext cx="56692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관점 A · 이 프로젝트 단독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114800"/>
            <a:ext cx="891540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r"/>
            <a:r>
              <a:rPr sz="1400" b="1">
                <a:solidFill>
                  <a:srgbClr val="333333"/>
                </a:solidFill>
                <a:latin typeface="Pretendard SemiBold"/>
              </a:rPr>
              <a:t>→ 서버 오버스펙, AWS 저렴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590288"/>
            <a:ext cx="18288" cy="1417320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617720"/>
            <a:ext cx="37947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500" b="1">
                <a:solidFill>
                  <a:srgbClr val="111111"/>
                </a:solidFill>
                <a:latin typeface="Pretendard SemiBold"/>
              </a:rPr>
              <a:t>AWS</a:t>
            </a:r>
          </a:p>
          <a:p>
            <a:pPr algn="r"/>
            <a:r>
              <a:rPr sz="1100" b="0">
                <a:solidFill>
                  <a:srgbClr val="858585"/>
                </a:solidFill>
                <a:latin typeface="Pretendard"/>
              </a:rPr>
              <a:t>이 프로젝트분 · 60개월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4617720"/>
            <a:ext cx="2521974" cy="566928"/>
          </a:xfrm>
          <a:prstGeom prst="roundRect">
            <a:avLst>
              <a:gd name="adj" fmla="val 14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6662" y="4617720"/>
            <a:ext cx="2468880" cy="56692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Pretendard SemiBold"/>
              </a:rPr>
              <a:t>~700만원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21808"/>
            <a:ext cx="37947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500" b="1">
                <a:solidFill>
                  <a:srgbClr val="111111"/>
                </a:solidFill>
                <a:latin typeface="Pretendard SemiBold"/>
              </a:rPr>
              <a:t>사내 서버</a:t>
            </a:r>
          </a:p>
          <a:p>
            <a:pPr algn="r"/>
            <a:r>
              <a:rPr sz="1100" b="0">
                <a:solidFill>
                  <a:srgbClr val="858585"/>
                </a:solidFill>
                <a:latin typeface="Pretendard"/>
              </a:rPr>
              <a:t>CapEx + 운영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5321808"/>
            <a:ext cx="7005483" cy="566928"/>
          </a:xfrm>
          <a:prstGeom prst="roundRect">
            <a:avLst>
              <a:gd name="adj" fmla="val 14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SemiBold"/>
              </a:rPr>
              <a:t>CapEx 2,000만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400443" y="5321808"/>
            <a:ext cx="1681316" cy="566928"/>
          </a:xfrm>
          <a:prstGeom prst="roundRect">
            <a:avLst>
              <a:gd name="adj" fmla="val 14000"/>
            </a:avLst>
          </a:prstGeom>
          <a:solidFill>
            <a:srgbClr val="AFC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Pretendard SemiBold"/>
              </a:rPr>
              <a:t>운영 480만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91488" y="5321808"/>
            <a:ext cx="2468880" cy="56692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~2,480만원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6355080"/>
            <a:ext cx="15663672" cy="21488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6446520"/>
            <a:ext cx="56692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관점 B · 전사 계정 전체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6446520"/>
            <a:ext cx="8915400" cy="38404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r"/>
            <a:r>
              <a:rPr sz="1400" b="1">
                <a:solidFill>
                  <a:srgbClr val="333333"/>
                </a:solidFill>
                <a:latin typeface="Pretendard SemiBold"/>
              </a:rPr>
              <a:t>→ 정리 후 AWS 가 5년 기준 1,180만원 저렴 — 전환 근거는 비용이 아니라 데이터 주권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6922008"/>
            <a:ext cx="18288" cy="1417320"/>
          </a:xfrm>
          <a:prstGeom prst="rect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6949440"/>
            <a:ext cx="37947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500" b="1">
                <a:solidFill>
                  <a:srgbClr val="111111"/>
                </a:solidFill>
                <a:latin typeface="Pretendard SemiBold"/>
              </a:rPr>
              <a:t>AWS</a:t>
            </a:r>
          </a:p>
          <a:p>
            <a:pPr algn="r"/>
            <a:r>
              <a:rPr sz="1100" b="0">
                <a:solidFill>
                  <a:srgbClr val="858585"/>
                </a:solidFill>
                <a:latin typeface="Pretendard"/>
              </a:rPr>
              <a:t>전체 계정 · 60개월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6949440"/>
            <a:ext cx="4551807" cy="566928"/>
          </a:xfrm>
          <a:prstGeom prst="roundRect">
            <a:avLst>
              <a:gd name="adj" fmla="val 14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3927" y="6949440"/>
            <a:ext cx="2468880" cy="56692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Pretendard SemiBold"/>
              </a:rPr>
              <a:t>~1,300만원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7653527"/>
            <a:ext cx="379476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r"/>
            <a:r>
              <a:rPr sz="1500" b="1">
                <a:solidFill>
                  <a:srgbClr val="111111"/>
                </a:solidFill>
                <a:latin typeface="Pretendard SemiBold"/>
              </a:rPr>
              <a:t>사내 서버</a:t>
            </a:r>
          </a:p>
          <a:p>
            <a:pPr algn="r"/>
            <a:r>
              <a:rPr sz="1100" b="0">
                <a:solidFill>
                  <a:srgbClr val="858585"/>
                </a:solidFill>
                <a:latin typeface="Pretendard"/>
              </a:rPr>
              <a:t>CapEx + 운영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7653527"/>
            <a:ext cx="7005483" cy="566928"/>
          </a:xfrm>
          <a:prstGeom prst="roundRect">
            <a:avLst>
              <a:gd name="adj" fmla="val 14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SemiBold"/>
              </a:rPr>
              <a:t>CapEx 2,000만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400443" y="7653527"/>
            <a:ext cx="1681316" cy="566928"/>
          </a:xfrm>
          <a:prstGeom prst="roundRect">
            <a:avLst>
              <a:gd name="adj" fmla="val 14000"/>
            </a:avLst>
          </a:prstGeom>
          <a:solidFill>
            <a:srgbClr val="AFC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200" b="1">
                <a:solidFill>
                  <a:srgbClr val="111111"/>
                </a:solidFill>
                <a:latin typeface="Pretendard SemiBold"/>
              </a:rPr>
              <a:t>운영 480만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91488" y="7653527"/>
            <a:ext cx="2468880" cy="566928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~2,480만원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64792" y="8705088"/>
            <a:ext cx="149047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1300" b="0">
                <a:solidFill>
                  <a:srgbClr val="858585"/>
                </a:solidFill>
                <a:latin typeface="Pretendard"/>
              </a:rPr>
              <a:t>※ 2026-09-23 AWS 정리(월 $91 절감) 반영. 서버는 전사 프로젝트를 한 대에 담는 그릇이라 공정 비교는 전사 관점. CapEx 2,000만원은 일회성 초기 투자.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결론 · 권장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판단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4792" y="4206240"/>
            <a:ext cx="7223760" cy="16916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64792" y="4206240"/>
            <a:ext cx="146304" cy="1691640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4206240"/>
            <a:ext cx="6629400" cy="1691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858585"/>
                </a:solidFill>
                <a:latin typeface="Pretendard SemiBold"/>
              </a:rPr>
              <a:t>이 프로젝트 단독</a:t>
            </a:r>
          </a:p>
          <a:p>
            <a:pPr algn="l"/>
            <a:r>
              <a:rPr sz="1700" b="1">
                <a:solidFill>
                  <a:srgbClr val="858585"/>
                </a:solidFill>
                <a:latin typeface="Pretendard SemiBold"/>
              </a:rPr>
              <a:t>AWS 저렴 (서버 오버스펙)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54312" y="4206240"/>
            <a:ext cx="7223760" cy="16916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54312" y="4206240"/>
            <a:ext cx="146304" cy="1691640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4206240"/>
            <a:ext cx="6629400" cy="1691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전사 관점</a:t>
            </a:r>
          </a:p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정리 후 AWS 가 5년 1,180만원 저렴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64792" y="6053328"/>
            <a:ext cx="7223760" cy="16916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64792" y="6053328"/>
            <a:ext cx="146304" cy="1691640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6053328"/>
            <a:ext cx="6629400" cy="1691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정당화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900" b="1">
                <a:solidFill>
                  <a:srgbClr val="111111"/>
                </a:solidFill>
                <a:latin typeface="Pretendard SemiBold"/>
              </a:rPr>
              <a:t>데이터 주권 · 전사 자체서버 전환 (비용절감 아님)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54312" y="6053328"/>
            <a:ext cx="7223760" cy="169164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54312" y="6053328"/>
            <a:ext cx="146304" cy="1691640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6053328"/>
            <a:ext cx="6629400" cy="1691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1700" b="1">
                <a:solidFill>
                  <a:srgbClr val="4081ED"/>
                </a:solidFill>
                <a:latin typeface="Pretendard SemiBold"/>
              </a:rPr>
              <a:t>방식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900" b="1">
                <a:solidFill>
                  <a:srgbClr val="111111"/>
                </a:solidFill>
                <a:latin typeface="Pretendard SemiBold"/>
              </a:rPr>
              <a:t>무중단 병행 검증 후 컷오버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64792" y="8028431"/>
            <a:ext cx="14813280" cy="1143000"/>
          </a:xfrm>
          <a:prstGeom prst="roundRect">
            <a:avLst>
              <a:gd name="adj" fmla="val 14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Pretendard SemiBold"/>
              </a:rPr>
              <a:t>① 구 백업·구 EC2 정리 완료 ✓  →  ② 병행 이중수신 검증 후 이전(RDS·수집·Timestream)  →  ③ EC2 문지기만 남기고 축소  →  ④ 전사 순차 수용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16980408" cy="8449056"/>
          </a:xfrm>
          <a:prstGeom prst="rect">
            <a:avLst/>
          </a:prstGeom>
        </p:spPr>
      </p:pic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6952976" cy="694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713232"/>
            <a:ext cx="274320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FIRST C&amp;D</a:t>
            </a:r>
          </a:p>
        </p:txBody>
      </p:sp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5072" y="758952"/>
            <a:ext cx="237744" cy="219456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7992" y="685800"/>
            <a:ext cx="365760" cy="365760"/>
          </a:xfrm>
          <a:prstGeom prst="rect">
            <a:avLst/>
          </a:prstGeom>
        </p:spPr>
      </p:pic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7216" y="740664"/>
            <a:ext cx="256032" cy="265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64792" y="1764792"/>
            <a:ext cx="1499616" cy="11795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l"/>
            <a:r>
              <a:rPr sz="6600" b="1">
                <a:solidFill>
                  <a:srgbClr val="4081ED"/>
                </a:solidFill>
                <a:latin typeface="Pretendard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28800"/>
            <a:ext cx="13551408" cy="10698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Pretendard SemiBold"/>
              </a:rPr>
              <a:t>한눈에 보는 결론</a:t>
            </a:r>
          </a:p>
        </p:txBody>
      </p:sp>
      <p:pic>
        <p:nvPicPr>
          <p:cNvPr id="10" name="Picture 9" descr="image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744" y="3090672"/>
            <a:ext cx="15517367" cy="9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30552" y="3465576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Pretendard SemiBold"/>
              </a:rPr>
              <a:t>핵심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7448" y="989380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Autofit/>
          </a:bodyPr>
          <a:lstStyle/>
          <a:p>
            <a:pPr algn="r"/>
            <a:r>
              <a:rPr sz="1200" b="0">
                <a:solidFill>
                  <a:srgbClr val="858585"/>
                </a:solidFill>
                <a:latin typeface="Pretendard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4792" y="4343400"/>
            <a:ext cx="4572000" cy="30632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>
            <a:no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081ED"/>
                </a:solidFill>
                <a:latin typeface="Pretendard SemiBold"/>
              </a:rPr>
              <a:t>①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매달 나가는 현금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사내 서버 ~8만원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≈ AWS 이 프로젝트분 ~11만원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(차이 작음)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85432" y="4343400"/>
            <a:ext cx="4572000" cy="30632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>
            <a:no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081ED"/>
                </a:solidFill>
                <a:latin typeface="Pretendard SemiBold"/>
              </a:rPr>
              <a:t>②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이 프로젝트엔 오버스펙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2,000만원 서버 =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전사(여러 프로젝트)용 그릇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한 과제엔 과한 규모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06072" y="4343400"/>
            <a:ext cx="4572000" cy="306324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>
            <a:no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081ED"/>
                </a:solidFill>
                <a:latin typeface="Pretendard SemiBold"/>
              </a:rPr>
              <a:t>③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전환 정당화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비용 절감이 아니라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전사 자체서버 전환 ·</a:t>
            </a:r>
          </a:p>
          <a:p>
            <a:pPr algn="ctr"/>
            <a:r>
              <a:rPr sz="2400" b="1">
                <a:solidFill>
                  <a:srgbClr val="4081ED"/>
                </a:solidFill>
                <a:latin typeface="Pretendard SemiBold"/>
              </a:rPr>
              <a:t>데이터 주권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64792" y="7955279"/>
            <a:ext cx="14813280" cy="868680"/>
          </a:xfrm>
          <a:prstGeom prst="roundRect">
            <a:avLst>
              <a:gd name="adj" fmla="val 30000"/>
            </a:avLst>
          </a:prstGeom>
          <a:solidFill>
            <a:srgbClr val="3E7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retendard SemiBold"/>
              </a:rPr>
              <a:t>AWS 정리로 계정 전체가 월 40만 → 22만원으로 내려감 — 비용만 보면 AWS 가 유리, 전환 근거는 데이터 주권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