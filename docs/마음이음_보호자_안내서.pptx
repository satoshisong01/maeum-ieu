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1005840"/>
            <a:ext cx="2286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611880"/>
            <a:ext cx="94457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</a:rPr>
              <a:t>마음이음 보호자 안내서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17720"/>
            <a:ext cx="9445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0">
                <a:solidFill>
                  <a:srgbClr val="E6F0FF"/>
                </a:solidFill>
                <a:latin typeface="맑은 고딕"/>
                <a:ea typeface="맑은 고딕"/>
              </a:rPr>
              <a:t>어르신의 상태를 멀리서도 안심하고 살피세요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CFE2FF"/>
                </a:solidFill>
                <a:latin typeface="맑은 고딕"/>
                <a:ea typeface="맑은 고딕"/>
              </a:rPr>
              <a:t>제공 · FIRST C&amp;D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보호자 계정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265176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26080"/>
            <a:ext cx="21031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2286000"/>
            <a:ext cx="68580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7272A"/>
                </a:solidFill>
                <a:latin typeface="맑은 고딕"/>
                <a:ea typeface="맑은 고딕"/>
              </a:rPr>
              <a:t>• 마음이음 앱을 설치하고 '회원가입'을 누르세요.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200" b="0">
                <a:solidFill>
                  <a:srgbClr val="27272A"/>
                </a:solidFill>
                <a:latin typeface="맑은 고딕"/>
                <a:ea typeface="맑은 고딕"/>
              </a:rPr>
              <a:t>• 계정 유형에서 반드시 '보호자·가족'을 선택하세요.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200" b="0">
                <a:solidFill>
                  <a:srgbClr val="27272A"/>
                </a:solidFill>
                <a:latin typeface="맑은 고딕"/>
                <a:ea typeface="맑은 고딕"/>
              </a:rPr>
              <a:t>• 어르신 계정과는 별도의 계정입니다.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200" b="0">
                <a:solidFill>
                  <a:srgbClr val="27272A"/>
                </a:solidFill>
                <a:latin typeface="맑은 고딕"/>
                <a:ea typeface="맑은 고딕"/>
              </a:rPr>
              <a:t>• 가입 후 로그인하면 '가족 상태' 화면이 열립니다.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어르신과 연결하기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7BFF"/>
                </a:solidFill>
                <a:latin typeface="맑은 고딕"/>
                <a:ea typeface="맑은 고딕"/>
              </a:rPr>
              <a:t>① 코드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7272A"/>
                </a:solidFill>
                <a:latin typeface="맑은 고딕"/>
                <a:ea typeface="맑은 고딕"/>
              </a:rPr>
              <a:t>보호자 앱 [가족 상태]
화면에서 내 초대 코드
(8자리)를 확인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1376" y="3246120"/>
            <a:ext cx="429768" cy="36576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237744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6060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7BFF"/>
                </a:solidFill>
                <a:latin typeface="맑은 고딕"/>
                <a:ea typeface="맑은 고딕"/>
              </a:rPr>
              <a:t>② 코드 전달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15468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7272A"/>
                </a:solidFill>
                <a:latin typeface="맑은 고딕"/>
                <a:ea typeface="맑은 고딕"/>
              </a:rPr>
              <a:t>어르신께 그 코드를
알려드리기
(전화·메모 등)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37576" y="3246120"/>
            <a:ext cx="429768" cy="365760"/>
          </a:xfrm>
          <a:prstGeom prst="rightArrow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237744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6060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7BFF"/>
                </a:solidFill>
                <a:latin typeface="맑은 고딕"/>
                <a:ea typeface="맑은 고딕"/>
              </a:rPr>
              <a:t>③ 연결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154680"/>
            <a:ext cx="2743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7272A"/>
                </a:solidFill>
                <a:latin typeface="맑은 고딕"/>
                <a:ea typeface="맑은 고딕"/>
              </a:rPr>
              <a:t>어르신이 앱 [설정] →
'보호자·전문가 연결'에
코드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606068"/>
                </a:solidFill>
                <a:latin typeface="맑은 고딕"/>
                <a:ea typeface="맑은 고딕"/>
              </a:rPr>
              <a:t>연결은 어르신이 직접 코드를 입력해 동의하는 방식입니다. 보호자가 임의로 연결할 수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무엇을 볼 수 있나요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4864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31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A4E7A"/>
                </a:solidFill>
                <a:latin typeface="맑은 고딕"/>
                <a:ea typeface="맑은 고딕"/>
              </a:rPr>
              <a:t>김순자   78세 · 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340864"/>
            <a:ext cx="1280160" cy="41148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3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B92B2B"/>
                </a:solidFill>
                <a:latin typeface="맑은 고딕"/>
                <a:ea typeface="맑은 고딕"/>
              </a:rPr>
              <a:t>진료 권장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971800"/>
            <a:ext cx="4846320" cy="96012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127248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B92B2B"/>
                </a:solidFill>
                <a:latin typeface="맑은 고딕"/>
                <a:ea typeface="맑은 고딕"/>
              </a:rPr>
              <a:t>판단이 흐려진 것으로 보입니다.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1700" b="1">
                <a:solidFill>
                  <a:srgbClr val="B92B2B"/>
                </a:solidFill>
                <a:latin typeface="맑은 고딕"/>
                <a:ea typeface="맑은 고딕"/>
              </a:rPr>
              <a:t>의사 진료를 권장합니다.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1148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7272A"/>
                </a:solidFill>
                <a:latin typeface="맑은 고딕"/>
                <a:ea typeface="맑은 고딕"/>
              </a:rPr>
              <a:t>위급 감지  2건  ·  가장 최근 9월 28일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902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7272A"/>
                </a:solidFill>
                <a:latin typeface="맑은 고딕"/>
                <a:ea typeface="맑은 고딕"/>
              </a:rPr>
              <a:t>최근 7일 복약 이행  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>
                <a:solidFill>
                  <a:srgbClr val="606068"/>
                </a:solidFill>
                <a:latin typeface="맑은 고딕"/>
                <a:ea typeface="맑은 고딕"/>
              </a:rPr>
              <a:t>▲ 보호자 화면 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47548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7272A"/>
                </a:solidFill>
                <a:latin typeface="맑은 고딕"/>
                <a:ea typeface="맑은 고딕"/>
              </a:rPr>
              <a:t>• 어르신 상태 요약 (양호 / 진료 권장)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000" b="0">
                <a:solidFill>
                  <a:srgbClr val="27272A"/>
                </a:solidFill>
                <a:latin typeface="맑은 고딕"/>
                <a:ea typeface="맑은 고딕"/>
              </a:rPr>
              <a:t>• 위급 감지 건수와 가장 최근 시각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000" b="0">
                <a:solidFill>
                  <a:srgbClr val="27272A"/>
                </a:solidFill>
                <a:latin typeface="맑은 고딕"/>
                <a:ea typeface="맑은 고딕"/>
              </a:rPr>
              <a:t>• 최근 7일 복약 이행률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보호자에게 공개되지 않는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1737360"/>
          </a:xfrm>
          <a:prstGeom prst="roundRect">
            <a:avLst/>
          </a:prstGeom>
          <a:solidFill>
            <a:srgbClr val="FEF6E0"/>
          </a:solidFill>
          <a:ln w="12700">
            <a:solidFill>
              <a:srgbClr val="F0D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9784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B47A0A"/>
                </a:solidFill>
                <a:latin typeface="맑은 고딕"/>
                <a:ea typeface="맑은 고딕"/>
              </a:rPr>
              <a:t>어르신의 일상 대화 내용은 보호자에게 보이지 않습니다.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2000" b="0">
                <a:solidFill>
                  <a:srgbClr val="B47A0A"/>
                </a:solidFill>
                <a:latin typeface="맑은 고딕"/>
                <a:ea typeface="맑은 고딕"/>
              </a:rPr>
              <a:t>문항별 점수·평가 기준 등 상세 진단 내역은 담당 의사만 볼 수 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156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>
                <a:solidFill>
                  <a:srgbClr val="27272A"/>
                </a:solidFill>
                <a:latin typeface="맑은 고딕"/>
                <a:ea typeface="맑은 고딕"/>
              </a:rPr>
              <a:t>• 보호자는 '결과 요약'과 '위급 알림'만 받습니다.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100" b="0">
                <a:solidFill>
                  <a:srgbClr val="27272A"/>
                </a:solidFill>
                <a:latin typeface="맑은 고딕"/>
                <a:ea typeface="맑은 고딕"/>
              </a:rPr>
              <a:t>• 어르신 본인에게도 인지 결과는 보여주지 않습니다(불안 방지).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2100" b="0">
                <a:solidFill>
                  <a:srgbClr val="27272A"/>
                </a:solidFill>
                <a:latin typeface="맑은 고딕"/>
                <a:ea typeface="맑은 고딕"/>
              </a:rPr>
              <a:t>• 이는 어르신의 사생활을 지키기 위한 원칙입니다.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위급 알림과 문의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18288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3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9784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B92B2B"/>
                </a:solidFill>
                <a:latin typeface="맑은 고딕"/>
                <a:ea typeface="맑은 고딕"/>
              </a:rPr>
              <a:t>위급 알림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2000" b="0">
                <a:solidFill>
                  <a:srgbClr val="B92B2B"/>
                </a:solidFill>
                <a:latin typeface="맑은 고딕"/>
                <a:ea typeface="맑은 고딕"/>
              </a:rPr>
              <a:t>"숨이 차다", "가슴이 아프다" 같은 위급 신호가 감지되면</a:t>
            </a:r>
          </a:p>
          <a:p>
            <a:pPr algn="l">
              <a:spcBef>
                <a:spcPts val="200"/>
              </a:spcBef>
              <a:spcAft>
                <a:spcPts val="500"/>
              </a:spcAft>
            </a:pPr>
            <a:r>
              <a:rPr sz="2000" b="1">
                <a:solidFill>
                  <a:srgbClr val="B92B2B"/>
                </a:solidFill>
                <a:latin typeface="맑은 고딕"/>
                <a:ea typeface="맑은 고딕"/>
              </a:rPr>
              <a:t>보호자에게 자동으로 알림이 갑니다. 실제 응급 시에는 119에 먼저 연락하세요.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1A4E7A"/>
                </a:solidFill>
                <a:latin typeface="맑은 고딕"/>
                <a:ea typeface="맑은 고딕"/>
              </a:rPr>
              <a:t>문의</a:t>
            </a:r>
          </a:p>
          <a:p>
            <a:pPr algn="l">
              <a:spcBef>
                <a:spcPts val="800"/>
              </a:spcBef>
              <a:spcAft>
                <a:spcPts val="500"/>
              </a:spcAft>
            </a:pPr>
            <a:r>
              <a:rPr sz="2000" b="0">
                <a:solidFill>
                  <a:srgbClr val="27272A"/>
                </a:solidFill>
                <a:latin typeface="맑은 고딕"/>
                <a:ea typeface="맑은 고딕"/>
              </a:rPr>
              <a:t>jongwoo@firstcorea.com  ·  kyungsuk@firstcorea.com</a:t>
            </a:r>
          </a:p>
          <a:p>
            <a:pPr algn="l">
              <a:spcBef>
                <a:spcPts val="1000"/>
              </a:spcBef>
              <a:spcAft>
                <a:spcPts val="500"/>
              </a:spcAft>
            </a:pPr>
            <a:r>
              <a:rPr sz="1600" b="0">
                <a:solidFill>
                  <a:srgbClr val="606068"/>
                </a:solidFill>
                <a:latin typeface="맑은 고딕"/>
                <a:ea typeface="맑은 고딕"/>
              </a:rPr>
              <a:t>제공 · FIRST C&amp;D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