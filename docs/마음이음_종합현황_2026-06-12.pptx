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12188952" cy="1920240"/>
          </a:xfrm>
          <a:prstGeom prst="rect">
            <a:avLst/>
          </a:prstGeom>
          <a:solidFill>
            <a:srgbClr val="0E4A5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마음이음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8680" y="2606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대화 기반 인지·정신건강 선별 플랫폼 — 종합 현황 보고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6월 12일  ·  v2 (6/11판 갱신)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52578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49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👵 사용자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5806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대화 수동 선별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52578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5349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🩺 전문가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5806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검사 시행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52578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5349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일반인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5806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마음 건강 자가점검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8280" y="52578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5349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IoT 기기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98280" y="5806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전원만 꽂는 패키징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이번 주기 핵심 — 3역할 완전 분리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384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"각 역할은 서로의 질문·판단이 절대 섞이지 않는다" — 계정 유형으로 강제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703320" cy="41605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3246120" cy="502920"/>
          </a:xfrm>
          <a:prstGeom prst="roundRect">
            <a:avLst>
              <a:gd name="adj" fmla="val 12727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👵 사용자 (파랑)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일상 수다 80% + 검진 질문 20%</a:t>
            </a:r>
            <a:br/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7영역 수동 채점 (눈치 못 채게)</a:t>
            </a:r>
            <a:br/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질문 풀 3,888개 무작위 샘플</a:t>
            </a:r>
            <a:br/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결과: 연결된 전문가만 열람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703320" cy="41605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22225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828800"/>
            <a:ext cx="3246120" cy="502920"/>
          </a:xfrm>
          <a:prstGeom prst="roundRect">
            <a:avLst>
              <a:gd name="adj" fmla="val 12727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288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🩺 전문가 (청록)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51460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MMSE-K/MoCA-K 표준 문항 시행</a:t>
            </a:r>
            <a:br/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한 문항씩 · 힌트/정답 비노출</a:t>
            </a:r>
            <a:br/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환자 대시보드 (등급·추세·근거)</a:t>
            </a:r>
            <a:br/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열람 감사로그 + 환자측 투명성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66760" y="1600200"/>
            <a:ext cx="3703320" cy="41605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22225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1828800"/>
            <a:ext cx="3246120" cy="502920"/>
          </a:xfrm>
          <a:prstGeom prst="roundRect">
            <a:avLst>
              <a:gd name="adj" fmla="val 12727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18288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일반인 (보라)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41080" y="251460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검증 척도 4종 자가점검</a:t>
            </a:r>
            <a:br/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PHQ-9 · GAD-7 · UCLA-3 · BFI-10</a:t>
            </a:r>
            <a:br/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인지 선별 미작동 (비용 절감 겸)</a:t>
            </a:r>
            <a:br/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결과: 본인만 — 원문 비보존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5943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레벨 게이트: 검진 플로우=일반인 전용 · 인지 분석=사용자/전문가 전용 · mode 스푸핑 차단 — 300턴 교차 검증에서 혼입 0건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트랙별 진행률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384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목표가 서로 다름 — 속도 비교 아님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T1 전문가용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971800" y="1371600"/>
            <a:ext cx="6583680" cy="384048"/>
          </a:xfrm>
          <a:prstGeom prst="roundRect">
            <a:avLst>
              <a:gd name="adj" fmla="val 11905"/>
            </a:avLst>
          </a:prstGeom>
          <a:solidFill>
            <a:srgbClr val="E7EEF0"/>
          </a:solidFill>
          <a:ln/>
        </p:spPr>
      </p:sp>
      <p:sp>
        <p:nvSpPr>
          <p:cNvPr id="6" name="Shape 4"/>
          <p:cNvSpPr/>
          <p:nvPr/>
        </p:nvSpPr>
        <p:spPr>
          <a:xfrm>
            <a:off x="2971800" y="1371600"/>
            <a:ext cx="5925312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801368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다환자 대시보드·상세 리포트·감사로그·동의 철회 — 잔여: 검사 이력 무결성, 기관(Vertex) 요구 대응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29800" y="1271016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12710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 사용자용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971800" y="2606040"/>
            <a:ext cx="6583680" cy="384048"/>
          </a:xfrm>
          <a:prstGeom prst="roundRect">
            <a:avLst>
              <a:gd name="adj" fmla="val 11905"/>
            </a:avLst>
          </a:prstGeom>
          <a:solidFill>
            <a:srgbClr val="E7EEF0"/>
          </a:solidFill>
          <a:ln/>
        </p:spPr>
      </p:sp>
      <p:sp>
        <p:nvSpPr>
          <p:cNvPr id="12" name="Shape 10"/>
          <p:cNvSpPr/>
          <p:nvPr/>
        </p:nvSpPr>
        <p:spPr>
          <a:xfrm>
            <a:off x="2971800" y="2606040"/>
            <a:ext cx="6122822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3035808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선별 파이프라인 성숙 (이번 주기 모더레이션 FP·호명·응급조합 등 6건 추가 경화) — 잔여: 음성 첫응답 구조 개선(Live API)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29800" y="2505456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0" y="250545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292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 일반인용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971800" y="3840480"/>
            <a:ext cx="6583680" cy="384048"/>
          </a:xfrm>
          <a:prstGeom prst="roundRect">
            <a:avLst>
              <a:gd name="adj" fmla="val 11905"/>
            </a:avLst>
          </a:prstGeom>
          <a:solidFill>
            <a:srgbClr val="E7EEF0"/>
          </a:solidFill>
          <a:ln/>
        </p:spPr>
      </p:sp>
      <p:sp>
        <p:nvSpPr>
          <p:cNvPr id="18" name="Shape 16"/>
          <p:cNvSpPr/>
          <p:nvPr/>
        </p:nvSpPr>
        <p:spPr>
          <a:xfrm>
            <a:off x="2971800" y="3840480"/>
            <a:ext cx="5596128" cy="384048"/>
          </a:xfrm>
          <a:prstGeom prst="roundRect">
            <a:avLst>
              <a:gd name="adj" fmla="val 11905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4270248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어제 15% → 오늘 85%: 계정 유형 신설 + 척도 4종 + 위기 후속 + 추이 분리 — 잔여: BFI-10 상용 라이선스 확인, 척도 추가 여지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829800" y="3739896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373989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2920" y="5029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 IoT 패키징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2971800" y="5074920"/>
            <a:ext cx="6583680" cy="384048"/>
          </a:xfrm>
          <a:prstGeom prst="roundRect">
            <a:avLst>
              <a:gd name="adj" fmla="val 11905"/>
            </a:avLst>
          </a:prstGeom>
          <a:solidFill>
            <a:srgbClr val="E7EEF0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5074920"/>
            <a:ext cx="526694" cy="384048"/>
          </a:xfrm>
          <a:prstGeom prst="roundRect">
            <a:avLst>
              <a:gd name="adj" fmla="val 11905"/>
            </a:avLst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5504688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리서치 v0.1 (ESP32 양산 $45~60 / LTE Cat.1 / 태블릿 파일럿 즉시 가능) — 하드웨어 착수 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829800" y="4974336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9829800" y="497433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8%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진행률은 각 트랙의 자체 목표 대비 완성도 (T3는 '일반인 자가점검 v1 출시 가능' 기준)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어제 이후 달라진 것 (6/11 → 6/12)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384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20건+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62356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128016" cy="14447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8988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3역할 계정 분리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시 사용자/전문가/일반인 선택 — 플로우·UI·분석 파이프라인 전부 역할 게이트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62356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280160"/>
            <a:ext cx="128016" cy="14447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38988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 척도 4종 완성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75120" y="181051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PHQ-9·GAD-7 + 신규 UCLA-3(외로움)·BFI-10(성격 5요인, 역채점) — 전부 수기 검산 일치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562356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907792"/>
            <a:ext cx="128016" cy="14447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17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SDK 전면 교체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77240" y="3438144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@google/generative-ai → @google/genai — 안전망 무손상, explicit caching 준비 완료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2907792"/>
            <a:ext cx="562356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907792"/>
            <a:ext cx="128016" cy="14447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017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비용 실측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675120" y="3438144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턴당: 사용자/전문가 9.8원 · 일반인 4.9원 · 검진 ~0원 (fast-path LLM 0회) — 월 1.5천~1.2만원/인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535424"/>
            <a:ext cx="562356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535424"/>
            <a:ext cx="128016" cy="14447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64515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품질 경화 7건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77240" y="5065776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모더레이션 死정규식 3클래스 · 호명 기계감 · 성별 친족어 · 응급 조합(가슴+식은땀 L3) · 부모 referent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535424"/>
            <a:ext cx="562356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535424"/>
            <a:ext cx="128016" cy="14447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64515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검토 문서 2건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675120" y="5065776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(음성 6.1→3초대, TEXT 모달리티 권장) · T4 IoT 리서치 (3안 비교+통신+단계 계획)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검증 현황 — 3역할 × 100턴 실시간 운전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384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실브라우저 · AI가 묻고 실시간 응답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실시간 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(역할별 100)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56432" y="13258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4630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56432" y="22860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모드 혼입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빈응답·누출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9944" y="13258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4630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9944" y="22860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기억 회상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(54~70턴 간격)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63456" y="13258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63456" y="14630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7건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363456" y="22860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 → 6건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수정·커밋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검증된 것들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기억: 시드→회상 4/4 (복실이·채송화·춘천·두부, 전부 컨텍스트 윈도우 밖) + 어제 대화(문병) 이어받기</a:t>
            </a:r>
            <a:br/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채점 정확도: 불가능 거래=2점 · 속담 정답=0점 · 2/3 회상=1점 · 연속 빼기=0점 · PHQ-9 11=중간 · UCLA-3 8=높음 (전부 수기 일치)</a:t>
            </a:r>
            <a:br/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안전: 응급 119 즉시 · 위기(9번) 후속 케어 · 회상 정답 비노출 · 화투/약주 비차단</a:t>
            </a:r>
            <a:br/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인프라: 평균 응답 ~4초 · 네트워크 오류 0 · vitest 139 · 안전망 회귀 61 전수 통과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 즉시 수정 루프: 결함 발견 → 원인 추적 → 수정 → 회귀 테스트 고정 → 라이브 재검증 → 커밋 (오늘 6회 반복)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솔직한 평가 — 개선 vs 남은 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384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577840" cy="4846320"/>
          </a:xfrm>
          <a:prstGeom prst="roundRect">
            <a:avLst>
              <a:gd name="adj" fmla="val 1321"/>
            </a:avLst>
          </a:prstGeom>
          <a:solidFill>
            <a:srgbClr val="F0FAF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이번 주기 개선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폴백률 10% → 0% (ungrounded 필터 3단 정밀화)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모더레이션 오차단 3클래스 박멸 (한글 경계)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매 턴 호명 기계감 해소 (기본 무호명, 사용자 피드백 반영)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응급 갭: 가슴+식은땀 조합 L3 (심근경색 조합)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부모 referent 둔갑 결정적 복원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검진 채점 LLM 비용 0원 확인 (정규식 100%)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회상 정답 노출 2개 변종 추가 차단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23444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DF6E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417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⏳ 남은 것 (정직하게)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192024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음성 첫 응답 6.1초 — STT 3.2초가 구조 한계 (Live API PoC 3~4일이 해법, 검토 완료)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BFI-10 상용 라이선스 확인 필요 (연구용 무료)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C2 보호자 알림 — 기능 완성, 정책 결정 대기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전문가 모드 일부 다문항 일괄 출제 (MMSE 묶음 관행 — 보류 판단)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 확률적 실수는 0이 아님 — 결정적 안전망을 계속 쌓는 구조로 대응 중 (회귀 61건)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IoT는 리서치 단계 — 실사용 파일럿(태블릿)이 선행 필요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비용 — 실측 기반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384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공시 단가 × DEBUG_USAGE 토큰 로그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108960" cy="530352"/>
          </a:xfrm>
          <a:prstGeom prst="rect">
            <a:avLst/>
          </a:prstGeom>
          <a:solidFill>
            <a:srgbClr val="065A82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32588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11880" y="1325880"/>
            <a:ext cx="2011680" cy="530352"/>
          </a:xfrm>
          <a:prstGeom prst="rect">
            <a:avLst/>
          </a:prstGeom>
          <a:solidFill>
            <a:srgbClr val="065A82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21608" y="13258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턴당 비용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0" y="1325880"/>
            <a:ext cx="6035040" cy="530352"/>
          </a:xfrm>
          <a:prstGeom prst="rect">
            <a:avLst/>
          </a:prstGeom>
          <a:solidFill>
            <a:srgbClr val="065A82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3288" y="1325880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92808"/>
            <a:ext cx="31089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89280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사용자·전문가 턴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11880" y="1892808"/>
            <a:ext cx="2011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189280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9.8원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23560" y="1892808"/>
            <a:ext cx="6035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33288" y="1892808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+ 인지 분석 2단 라우팅 (3.5 승급 17%만)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2459736"/>
            <a:ext cx="3108960" cy="530352"/>
          </a:xfrm>
          <a:prstGeom prst="rect">
            <a:avLst/>
          </a:prstGeom>
          <a:solidFill>
            <a:srgbClr val="EFF6F7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45973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일반인 일상 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11880" y="2459736"/>
            <a:ext cx="2011680" cy="530352"/>
          </a:xfrm>
          <a:prstGeom prst="rect">
            <a:avLst/>
          </a:prstGeom>
          <a:solidFill>
            <a:srgbClr val="EFF6F7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245973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4.9원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23560" y="2459736"/>
            <a:ext cx="6035040" cy="530352"/>
          </a:xfrm>
          <a:prstGeom prst="rect">
            <a:avLst/>
          </a:prstGeom>
          <a:solidFill>
            <a:srgbClr val="EFF6F7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33288" y="2459736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분석기 미실행 — 역할 분리의 비용 효과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026664"/>
            <a:ext cx="31089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02666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검진 문항 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11880" y="3026664"/>
            <a:ext cx="2011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1608" y="302666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0원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23560" y="3026664"/>
            <a:ext cx="6035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33288" y="3026664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정규식 채점 100% — LLM 호출 0회 실측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3593592"/>
            <a:ext cx="3108960" cy="530352"/>
          </a:xfrm>
          <a:prstGeom prst="rect">
            <a:avLst/>
          </a:prstGeom>
          <a:solidFill>
            <a:srgbClr val="EFF6F7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59359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턴 가산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11880" y="3593592"/>
            <a:ext cx="2011680" cy="530352"/>
          </a:xfrm>
          <a:prstGeom prst="rect">
            <a:avLst/>
          </a:prstGeom>
          <a:solidFill>
            <a:srgbClr val="EFF6F7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21608" y="359359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+3.5원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23560" y="3593592"/>
            <a:ext cx="6035040" cy="530352"/>
          </a:xfrm>
          <a:prstGeom prst="rect">
            <a:avLst/>
          </a:prstGeom>
          <a:solidFill>
            <a:srgbClr val="EFF6F7"/>
          </a:solidFill>
          <a:ln w="9525">
            <a:solidFill>
              <a:srgbClr val="D8E4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33288" y="3593592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0.1원 + Cloud TTS ~3.4원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월간 추정 (활성 1인)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2920" y="4846320"/>
            <a:ext cx="11155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일반인 ≈ 1,500원  ·  전문가 ≈ 2,900원  ·  노인(텍스트) ≈ 8,800원  ·  노인(음성 위주) ≈ 12,000원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비용 사고 차단 장치: 모델 하이브리드 · thinking 예산 전 경로 제한 · 검진 LLM 우회 · usage 로깅 — 6/2 사고(전량 3.5)와 같은 구성이면 5~6배였을 비용</a:t>
            </a:r>
            <a:br/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다음 절감 레버: explicit caching (SDK 준비 완료, 손익분기 시간당 5~9턴 — 출시 후 활성화)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로드맵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384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하반기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6월 하순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2697480" cy="36576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베타 파일럿 준비 (태블릿 키오스크 3~5가구)</a:t>
            </a:r>
            <a:br/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C2 보호자 알림 정책 결정 → 즉시 반영</a:t>
            </a:r>
            <a:br/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BFI-10 라이선스 확인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56432" y="13716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1371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56432" y="2011680"/>
            <a:ext cx="2697480" cy="36576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219456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API PoC (음성 6초→3초대)</a:t>
            </a:r>
            <a:br/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실사용 데이터로 질문풀 보정</a:t>
            </a:r>
            <a:br/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explicit caching 활성화 검토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9944" y="13716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9944" y="1371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9944" y="2011680"/>
            <a:ext cx="2697480" cy="36576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19456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T4 RPi 시제품 (far-field 마이크 + LTE)</a:t>
            </a:r>
            <a:br/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기관(병원·복지관) 제휴 협의 — Vertex 전환 대비 완료</a:t>
            </a:r>
            <a:br/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일반인 척도 확장 (수면·스트레스 — 라이선스 프리 우선)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63456" y="13716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9363456" y="1371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9월~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63456" y="2011680"/>
            <a:ext cx="2697480" cy="36576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0616" y="219456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ESP32 양산 설계 + KC 인증 검토</a:t>
            </a:r>
            <a:br/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정식 출시 준비 (요금제·약관·개인정보 처리방침)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대기: ① C2 알림 정책  ② 베타 파일럿 모집 채널  ③ Live API PoC 착수 시점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2026-06-12T03:31:33Z</dcterms:created>
  <dcterms:modified xsi:type="dcterms:W3CDTF">2026-06-12T03:31:33Z</dcterms:modified>
</cp:coreProperties>
</file>