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123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A896"/>
                </a:solidFill>
                <a:latin typeface="맑은 고딕"/>
              </a:rPr>
              <a:t>👂 상시 감시 모드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solidFill>
                  <a:srgbClr val="FFFFFF"/>
                </a:solidFill>
                <a:latin typeface="맑은 고딕"/>
              </a:rPr>
              <a:t>보호자 안내서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77639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C7DEE3"/>
                </a:solidFill>
                <a:latin typeface="맑은 고딕"/>
              </a:rPr>
              <a:t>환자 목소리만 상시로 들으며 이상 신호를 살펴,</a:t>
            </a:r>
          </a:p>
          <a:p>
            <a:pPr algn="l">
              <a:lnSpc>
                <a:spcPct val="105000"/>
              </a:lnSpc>
            </a:pPr>
            <a:r>
              <a:rPr sz="1700" b="0">
                <a:solidFill>
                  <a:srgbClr val="C7DEE3"/>
                </a:solidFill>
                <a:latin typeface="맑은 고딕"/>
              </a:rPr>
              <a:t>위급할 때 보호자에게 바로 알려드리는 기능입니다.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5120640"/>
            <a:ext cx="301752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148072"/>
            <a:ext cx="3017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E2A33"/>
                </a:solidFill>
                <a:latin typeface="맑은 고딕"/>
              </a:rPr>
              <a:t>베타 · 사용 전 동의 필요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8686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상시 감시 모드란?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B9D6DB"/>
                </a:solidFill>
                <a:latin typeface="맑은 고딕"/>
              </a:rPr>
              <a:t>AI와 대화하지 않아도 스스로 살펴 드립니다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146304"/>
            <a:ext cx="2286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>
                <a:solidFill>
                  <a:srgbClr val="00A896"/>
                </a:solidFill>
                <a:latin typeface="맑은 고딕"/>
              </a:rPr>
              <a:t>마음이음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105156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F2A30"/>
                </a:solidFill>
                <a:latin typeface="맑은 고딕"/>
              </a:rPr>
              <a:t>치매가 진행되어 </a:t>
            </a:r>
            <a:r>
              <a:rPr sz="1600" b="1">
                <a:solidFill>
                  <a:srgbClr val="1F2A30"/>
                </a:solidFill>
                <a:latin typeface="맑은 고딕"/>
              </a:rPr>
              <a:t>AI와 직접 대화하기 어려운 환자</a:t>
            </a:r>
            <a:r>
              <a:rPr sz="1600" b="0">
                <a:solidFill>
                  <a:srgbClr val="1F2A30"/>
                </a:solidFill>
                <a:latin typeface="맑은 고딕"/>
              </a:rPr>
              <a:t>를 위한 모드예요.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F2A30"/>
                </a:solidFill>
                <a:latin typeface="맑은 고딕"/>
              </a:rPr>
              <a:t>말을 주고받지 않고, 환자의 </a:t>
            </a:r>
            <a:r>
              <a:rPr sz="1600" b="1">
                <a:solidFill>
                  <a:srgbClr val="1F2A30"/>
                </a:solidFill>
                <a:latin typeface="맑은 고딕"/>
              </a:rPr>
              <a:t>혼잣말·평소 말소리를 조용히 들으며</a:t>
            </a:r>
            <a:r>
              <a:rPr sz="1600" b="0">
                <a:solidFill>
                  <a:srgbClr val="1F2A30"/>
                </a:solidFill>
                <a:latin typeface="맑은 고딕"/>
              </a:rPr>
              <a:t> 건강 상태를 살핍니다.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3337560"/>
            <a:ext cx="868680" cy="8686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3364992"/>
            <a:ext cx="868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FFFFFF"/>
                </a:solidFill>
                <a:latin typeface="맑은 고딕"/>
              </a:rPr>
              <a:t>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3434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F2A30"/>
                </a:solidFill>
                <a:latin typeface="맑은 고딕"/>
              </a:rPr>
              <a:t>상시 청취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736592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B73"/>
                </a:solidFill>
                <a:latin typeface="맑은 고딕"/>
              </a:rPr>
              <a:t>환자가 말할 때마다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B73"/>
                </a:solidFill>
                <a:latin typeface="맑은 고딕"/>
              </a:rPr>
              <a:t>조용히 듣고 기록해요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306324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79" y="3337560"/>
            <a:ext cx="868680" cy="8686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3364992"/>
            <a:ext cx="868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FFFFFF"/>
                </a:solidFill>
                <a:latin typeface="맑은 고딕"/>
              </a:rPr>
              <a:t>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43434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F2A30"/>
                </a:solidFill>
                <a:latin typeface="맑은 고딕"/>
              </a:rPr>
              <a:t>환자 목소리만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4736592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B73"/>
                </a:solidFill>
                <a:latin typeface="맑은 고딕"/>
              </a:rPr>
              <a:t>등록된 환자 목소리만 골라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B73"/>
                </a:solidFill>
                <a:latin typeface="맑은 고딕"/>
              </a:rPr>
              <a:t>분석해요(가족·간병인 제외)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306324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0" y="3337560"/>
            <a:ext cx="868680" cy="8686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364992"/>
            <a:ext cx="868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FFFFFF"/>
                </a:solidFill>
                <a:latin typeface="맑은 고딕"/>
              </a:rPr>
              <a:t>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43434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F2A30"/>
                </a:solidFill>
                <a:latin typeface="맑은 고딕"/>
              </a:rPr>
              <a:t>위급 시 알림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4736592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B73"/>
                </a:solidFill>
                <a:latin typeface="맑은 고딕"/>
              </a:rPr>
              <a:t>응급 신호가 보이면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B73"/>
                </a:solidFill>
                <a:latin typeface="맑은 고딕"/>
              </a:rPr>
              <a:t>보호자에게 바로 연락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B6B73"/>
                </a:solidFill>
                <a:latin typeface="맑은 고딕"/>
              </a:rPr>
              <a:t>마음이음 · 상시 감시 안내서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>
                <a:solidFill>
                  <a:srgbClr val="5B6B73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8686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1. 상시 감시 시작하기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B9D6DB"/>
                </a:solidFill>
                <a:latin typeface="맑은 고딕"/>
              </a:rPr>
              <a:t>먼저 환자 목소리 등록이 되어 있어야 해요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146304"/>
            <a:ext cx="2286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>
                <a:solidFill>
                  <a:srgbClr val="00A896"/>
                </a:solidFill>
                <a:latin typeface="맑은 고딕"/>
              </a:rPr>
              <a:t>마음이음</a:t>
            </a:r>
          </a:p>
        </p:txBody>
      </p:sp>
      <p:pic>
        <p:nvPicPr>
          <p:cNvPr id="6" name="Picture 5" descr="guide-05-observe-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417320"/>
            <a:ext cx="2377440" cy="5145024"/>
          </a:xfrm>
          <a:prstGeom prst="rect">
            <a:avLst/>
          </a:prstGeom>
          <a:ln w="12700">
            <a:solidFill>
              <a:srgbClr val="D0D5D8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1051560" y="2909376"/>
            <a:ext cx="2286000" cy="385876"/>
          </a:xfrm>
          <a:prstGeom prst="roundRect">
            <a:avLst/>
          </a:prstGeom>
          <a:noFill/>
          <a:ln w="381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36976" y="2907718"/>
            <a:ext cx="384048" cy="38404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475329"/>
            <a:ext cx="2286000" cy="308701"/>
          </a:xfrm>
          <a:prstGeom prst="roundRect">
            <a:avLst/>
          </a:prstGeom>
          <a:noFill/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36976" y="3437656"/>
            <a:ext cx="384048" cy="384048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4142232" y="1581912"/>
            <a:ext cx="457200" cy="45720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1572768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F2A30"/>
                </a:solidFill>
                <a:latin typeface="맑은 고딕"/>
              </a:rPr>
              <a:t>[▶ 감시 시작] 을 누르세요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920240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B6B73"/>
                </a:solidFill>
                <a:latin typeface="맑은 고딕"/>
              </a:rPr>
              <a:t>누르면 마이크 권한을 물어봐요. '허용'을 눌러 주세요.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5B6B73"/>
                </a:solidFill>
                <a:latin typeface="맑은 고딕"/>
              </a:rPr>
              <a:t>이때부터 환자 목소리를 조용히 듣기 시작합니다.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4142232" y="2514600"/>
            <a:ext cx="457200" cy="45720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505456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F2A30"/>
                </a:solidFill>
                <a:latin typeface="맑은 고딕"/>
              </a:rPr>
              <a:t>동의는 꼭 먼저 받으세요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2852927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B6B73"/>
                </a:solidFill>
                <a:latin typeface="맑은 고딕"/>
              </a:rPr>
              <a:t>상시 청취 기능이라 환자 본인과 함께 사는 가족의 동의가 필요합니다.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5B6B73"/>
                </a:solidFill>
                <a:latin typeface="맑은 고딕"/>
              </a:rPr>
              <a:t>(별도 동의서 양식 사용)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840480"/>
            <a:ext cx="7680960" cy="1371600"/>
          </a:xfrm>
          <a:prstGeom prst="roundRect">
            <a:avLst/>
          </a:prstGeom>
          <a:solidFill>
            <a:srgbClr val="E7F3F4"/>
          </a:solidFill>
          <a:ln w="1524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4023360"/>
            <a:ext cx="72237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F2A30"/>
                </a:solidFill>
                <a:latin typeface="맑은 고딕"/>
              </a:rPr>
              <a:t>💡 준비물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F2A30"/>
                </a:solidFill>
                <a:latin typeface="맑은 고딕"/>
              </a:rPr>
              <a:t>· 환자 목소리 등록 완료 (마이페이지 → 목소리 등록·확인)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F2A30"/>
                </a:solidFill>
                <a:latin typeface="맑은 고딕"/>
              </a:rPr>
              <a:t>· 보호자 계정 연결 + 마음이음 앱 로그인 (알림 받으려면 필수)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B6B73"/>
                </a:solidFill>
                <a:latin typeface="맑은 고딕"/>
              </a:rPr>
              <a:t>마음이음 · 상시 감시 안내서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>
                <a:solidFill>
                  <a:srgbClr val="5B6B73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8686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2. 감시 중 화면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B9D6DB"/>
                </a:solidFill>
                <a:latin typeface="맑은 고딕"/>
              </a:rPr>
              <a:t>지금 무엇을 듣고 어떻게 판단하는지 한눈에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146304"/>
            <a:ext cx="2286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>
                <a:solidFill>
                  <a:srgbClr val="00A896"/>
                </a:solidFill>
                <a:latin typeface="맑은 고딕"/>
              </a:rPr>
              <a:t>마음이음</a:t>
            </a:r>
          </a:p>
        </p:txBody>
      </p:sp>
      <p:pic>
        <p:nvPicPr>
          <p:cNvPr id="6" name="Picture 5" descr="guide-06-observe-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2514600" cy="5802923"/>
          </a:xfrm>
          <a:prstGeom prst="rect">
            <a:avLst/>
          </a:prstGeom>
          <a:ln w="12700">
            <a:solidFill>
              <a:srgbClr val="D0D5D8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950976" y="1906172"/>
            <a:ext cx="2441448" cy="493248"/>
          </a:xfrm>
          <a:prstGeom prst="roundRect">
            <a:avLst/>
          </a:prstGeom>
          <a:noFill/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55264" y="1960772"/>
            <a:ext cx="384048" cy="384048"/>
          </a:xfrm>
          <a:prstGeom prst="ellipse">
            <a:avLst/>
          </a:prstGeom>
          <a:solidFill>
            <a:srgbClr val="DC262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515479"/>
            <a:ext cx="2441448" cy="841423"/>
          </a:xfrm>
          <a:prstGeom prst="roundRect">
            <a:avLst/>
          </a:prstGeom>
          <a:noFill/>
          <a:ln w="381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55264" y="2744167"/>
            <a:ext cx="384048" cy="38404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4256356"/>
            <a:ext cx="2441448" cy="812409"/>
          </a:xfrm>
          <a:prstGeom prst="roundRect">
            <a:avLst/>
          </a:prstGeom>
          <a:noFill/>
          <a:ln w="381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55264" y="4470536"/>
            <a:ext cx="384048" cy="384048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4325112" y="1508760"/>
            <a:ext cx="457200" cy="457200"/>
          </a:xfrm>
          <a:prstGeom prst="ellipse">
            <a:avLst/>
          </a:prstGeom>
          <a:solidFill>
            <a:srgbClr val="DC262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1499616"/>
            <a:ext cx="6766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F2A30"/>
                </a:solidFill>
                <a:latin typeface="맑은 고딕"/>
              </a:rPr>
              <a:t>🚨 응급 알림 (빨간 띠)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1847088"/>
            <a:ext cx="67665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B6B73"/>
                </a:solidFill>
                <a:latin typeface="맑은 고딕"/>
              </a:rPr>
              <a:t>응급 신호를 감지하면 여기에 뜨고, 동시에 보호자 폰으로 알림이 갑니다.</a:t>
            </a:r>
          </a:p>
        </p:txBody>
      </p:sp>
      <p:sp>
        <p:nvSpPr>
          <p:cNvPr id="16" name="Oval 15"/>
          <p:cNvSpPr/>
          <p:nvPr/>
        </p:nvSpPr>
        <p:spPr>
          <a:xfrm>
            <a:off x="4325112" y="2441448"/>
            <a:ext cx="457200" cy="45720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2432304"/>
            <a:ext cx="6766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F2A30"/>
                </a:solidFill>
                <a:latin typeface="맑은 고딕"/>
              </a:rPr>
              <a:t>지금 상태 · 소리 크기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2779776"/>
            <a:ext cx="67665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B6B73"/>
                </a:solidFill>
                <a:latin typeface="맑은 고딕"/>
              </a:rPr>
              <a:t>'듣는 중/대기 중' 표시와 소리 막대. 아래에 '환자 발화 N건 분석 · 그 외 N건 무시'.</a:t>
            </a:r>
          </a:p>
        </p:txBody>
      </p:sp>
      <p:sp>
        <p:nvSpPr>
          <p:cNvPr id="19" name="Oval 18"/>
          <p:cNvSpPr/>
          <p:nvPr/>
        </p:nvSpPr>
        <p:spPr>
          <a:xfrm>
            <a:off x="4325112" y="3374136"/>
            <a:ext cx="457200" cy="45720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3364992"/>
            <a:ext cx="6766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F2A30"/>
                </a:solidFill>
                <a:latin typeface="맑은 고딕"/>
              </a:rPr>
              <a:t>관찰 기록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3712464"/>
            <a:ext cx="67665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B6B73"/>
                </a:solidFill>
                <a:latin typeface="맑은 고딕"/>
              </a:rPr>
              <a:t>환자 발화(초록)·응급(빨강)·무시(회색)가 시간순으로 쌓여요. 옆의 % 는 목소리 일치도.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B6B73"/>
                </a:solidFill>
                <a:latin typeface="맑은 고딕"/>
              </a:rPr>
              <a:t>마음이음 · 상시 감시 안내서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>
                <a:solidFill>
                  <a:srgbClr val="5B6B73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8686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3. 안전과 개인정보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B9D6DB"/>
                </a:solidFill>
                <a:latin typeface="맑은 고딕"/>
              </a:rPr>
              <a:t>가장 중요한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146304"/>
            <a:ext cx="2286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>
                <a:solidFill>
                  <a:srgbClr val="00A896"/>
                </a:solidFill>
                <a:latin typeface="맑은 고딕"/>
              </a:rPr>
              <a:t>마음이음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64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636776"/>
            <a:ext cx="621792" cy="62179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6217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맑은 고딕"/>
              </a:rPr>
              <a:t>🧑‍⚕️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563624"/>
            <a:ext cx="2834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F2A30"/>
                </a:solidFill>
                <a:latin typeface="맑은 고딕"/>
              </a:rPr>
              <a:t>환자 목소리만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563624"/>
            <a:ext cx="6949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B73"/>
                </a:solidFill>
                <a:latin typeface="맑은 고딕"/>
              </a:rPr>
              <a:t>다른 사람 말소리·잡음은 </a:t>
            </a:r>
            <a:r>
              <a:rPr sz="1400" b="1">
                <a:solidFill>
                  <a:srgbClr val="5B6B73"/>
                </a:solidFill>
                <a:latin typeface="맑은 고딕"/>
              </a:rPr>
              <a:t>휴대폰 안에서 바로 버려지고 서버로 가지 않습니다.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87752"/>
            <a:ext cx="11064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807208"/>
            <a:ext cx="621792" cy="6217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16352"/>
            <a:ext cx="6217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맑은 고딕"/>
              </a:rPr>
              <a:t>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734056"/>
            <a:ext cx="2834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F2A30"/>
                </a:solidFill>
                <a:latin typeface="맑은 고딕"/>
              </a:rPr>
              <a:t>대화 원본 비저장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34056"/>
            <a:ext cx="6949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B73"/>
                </a:solidFill>
                <a:latin typeface="맑은 고딕"/>
              </a:rPr>
              <a:t>목소리 원음은 저장하지 않고, 분석에 필요한 </a:t>
            </a:r>
            <a:r>
              <a:rPr sz="1400" b="1">
                <a:solidFill>
                  <a:srgbClr val="5B6B73"/>
                </a:solidFill>
                <a:latin typeface="맑은 고딕"/>
              </a:rPr>
              <a:t>텍스트만</a:t>
            </a:r>
            <a:r>
              <a:rPr sz="1400" b="0">
                <a:solidFill>
                  <a:srgbClr val="5B6B73"/>
                </a:solidFill>
                <a:latin typeface="맑은 고딕"/>
              </a:rPr>
              <a:t> 잠깐 다뤄요.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58184"/>
            <a:ext cx="11064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3977640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86784"/>
            <a:ext cx="6217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맑은 고딕"/>
              </a:rPr>
              <a:t>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904488"/>
            <a:ext cx="2834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F2A30"/>
                </a:solidFill>
                <a:latin typeface="맑은 고딕"/>
              </a:rPr>
              <a:t>반드시 사전 동의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904488"/>
            <a:ext cx="6949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B73"/>
                </a:solidFill>
                <a:latin typeface="맑은 고딕"/>
              </a:rPr>
              <a:t>환자 본인(가능한 시점)과 함께 사는 가족의 </a:t>
            </a:r>
            <a:r>
              <a:rPr sz="1400" b="1">
                <a:solidFill>
                  <a:srgbClr val="5B6B73"/>
                </a:solidFill>
                <a:latin typeface="맑은 고딕"/>
              </a:rPr>
              <a:t>서면 동의</a:t>
            </a:r>
            <a:r>
              <a:rPr sz="1400" b="0">
                <a:solidFill>
                  <a:srgbClr val="5B6B73"/>
                </a:solidFill>
                <a:latin typeface="맑은 고딕"/>
              </a:rPr>
              <a:t> 후 사용하세요.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28616"/>
            <a:ext cx="11064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5148072"/>
            <a:ext cx="621792" cy="62179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57216"/>
            <a:ext cx="6217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맑은 고딕"/>
              </a:rPr>
              <a:t>⚖️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074920"/>
            <a:ext cx="2834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F2A30"/>
                </a:solidFill>
                <a:latin typeface="맑은 고딕"/>
              </a:rPr>
              <a:t>법률 확인 진행 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074920"/>
            <a:ext cx="6949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B73"/>
                </a:solidFill>
                <a:latin typeface="맑은 고딕"/>
              </a:rPr>
              <a:t>상시 청취는 관련 법 검토가 필요한 기능이라, 정식 도입 전 </a:t>
            </a:r>
            <a:r>
              <a:rPr sz="1400" b="1">
                <a:solidFill>
                  <a:srgbClr val="5B6B73"/>
                </a:solidFill>
                <a:latin typeface="맑은 고딕"/>
              </a:rPr>
              <a:t>자문 확인</a:t>
            </a:r>
            <a:r>
              <a:rPr sz="1400" b="0">
                <a:solidFill>
                  <a:srgbClr val="5B6B73"/>
                </a:solidFill>
                <a:latin typeface="맑은 고딕"/>
              </a:rPr>
              <a:t>을 거칩니다.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B6B73"/>
                </a:solidFill>
                <a:latin typeface="맑은 고딕"/>
              </a:rPr>
              <a:t>마음이음 · 상시 감시 안내서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>
                <a:solidFill>
                  <a:srgbClr val="5B6B73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환자 곁에서 함께 지켜봅니다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4747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C7DEE3"/>
                </a:solidFill>
                <a:latin typeface="맑은 고딕"/>
              </a:rPr>
              <a:t>궁금한 점이나 설정 도움이 필요하시면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C7DEE3"/>
                </a:solidFill>
                <a:latin typeface="맑은 고딕"/>
              </a:rPr>
              <a:t>담당 전문가 또는 마음이음 관리자에게 문의해 주세요.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B6B73"/>
                </a:solidFill>
                <a:latin typeface="맑은 고딕"/>
              </a:rPr>
              <a:t>마음이음 · 상시 감시 안내서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>
                <a:solidFill>
                  <a:srgbClr val="5B6B73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