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6" y="777240"/>
            <a:ext cx="16029432" cy="8723376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7"/>
            <a:ext cx="15782544" cy="9217152"/>
          </a:xfrm>
          <a:prstGeom prst="rect">
            <a:avLst/>
          </a:prstGeom>
        </p:spPr>
      </p:pic>
      <p:pic>
        <p:nvPicPr>
          <p:cNvPr id="4" name="Picture 3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9240" y="1435608"/>
            <a:ext cx="457200" cy="457200"/>
          </a:xfrm>
          <a:prstGeom prst="rect">
            <a:avLst/>
          </a:prstGeom>
        </p:spPr>
      </p:pic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79240" y="2459736"/>
            <a:ext cx="457200" cy="457200"/>
          </a:xfrm>
          <a:prstGeom prst="rect">
            <a:avLst/>
          </a:prstGeom>
        </p:spPr>
      </p:pic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79240" y="3767328"/>
            <a:ext cx="457200" cy="457200"/>
          </a:xfrm>
          <a:prstGeom prst="rect">
            <a:avLst/>
          </a:prstGeom>
        </p:spPr>
      </p:pic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79240" y="4901184"/>
            <a:ext cx="457200" cy="457200"/>
          </a:xfrm>
          <a:prstGeom prst="rect">
            <a:avLst/>
          </a:prstGeom>
        </p:spPr>
      </p:pic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79240" y="6108192"/>
            <a:ext cx="457200" cy="457200"/>
          </a:xfrm>
          <a:prstGeom prst="rect">
            <a:avLst/>
          </a:prstGeom>
        </p:spPr>
      </p:pic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779240" y="7187184"/>
            <a:ext cx="457200" cy="457200"/>
          </a:xfrm>
          <a:prstGeom prst="rect">
            <a:avLst/>
          </a:prstGeom>
        </p:spPr>
      </p:pic>
      <p:pic>
        <p:nvPicPr>
          <p:cNvPr id="10" name="Picture 9" descr="image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79240" y="8430768"/>
            <a:ext cx="457200" cy="457200"/>
          </a:xfrm>
          <a:prstGeom prst="rect">
            <a:avLst/>
          </a:prstGeom>
        </p:spPr>
      </p:pic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2148840"/>
            <a:ext cx="685800" cy="9144"/>
          </a:xfrm>
          <a:prstGeom prst="rect">
            <a:avLst/>
          </a:prstGeom>
        </p:spPr>
      </p:pic>
      <p:pic>
        <p:nvPicPr>
          <p:cNvPr id="12" name="Picture 11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3355848"/>
            <a:ext cx="685800" cy="9144"/>
          </a:xfrm>
          <a:prstGeom prst="rect">
            <a:avLst/>
          </a:prstGeom>
        </p:spPr>
      </p:pic>
      <p:pic>
        <p:nvPicPr>
          <p:cNvPr id="13" name="Picture 12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4544568"/>
            <a:ext cx="685800" cy="9144"/>
          </a:xfrm>
          <a:prstGeom prst="rect">
            <a:avLst/>
          </a:prstGeom>
        </p:spPr>
      </p:pic>
      <p:pic>
        <p:nvPicPr>
          <p:cNvPr id="14" name="Picture 13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5742432"/>
            <a:ext cx="685800" cy="9144"/>
          </a:xfrm>
          <a:prstGeom prst="rect">
            <a:avLst/>
          </a:prstGeom>
        </p:spPr>
      </p:pic>
      <p:pic>
        <p:nvPicPr>
          <p:cNvPr id="15" name="Picture 14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6766560"/>
            <a:ext cx="685800" cy="9144"/>
          </a:xfrm>
          <a:prstGeom prst="rect">
            <a:avLst/>
          </a:prstGeom>
        </p:spPr>
      </p:pic>
      <p:pic>
        <p:nvPicPr>
          <p:cNvPr id="16" name="Picture 15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7964424"/>
            <a:ext cx="685800" cy="9144"/>
          </a:xfrm>
          <a:prstGeom prst="rect">
            <a:avLst/>
          </a:prstGeom>
        </p:spPr>
      </p:pic>
      <p:pic>
        <p:nvPicPr>
          <p:cNvPr id="17" name="Picture 16" descr="image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8488" y="1481328"/>
            <a:ext cx="2112264" cy="320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31336" y="1499616"/>
            <a:ext cx="2377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400" b="0">
                <a:solidFill>
                  <a:srgbClr val="858585"/>
                </a:solidFill>
                <a:latin typeface="Pretendard"/>
              </a:rPr>
              <a:t>FIRST C&amp;D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249424"/>
            <a:ext cx="13487400" cy="2615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>마음이음 AI 모델 선정 · 가격 정책</a:t>
            </a:r>
          </a:p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 xml:space="preserve">타사 비교 기반 </a:t>
            </a:r>
            <a:r>
              <a:rPr sz="5000" b="1">
                <a:solidFill>
                  <a:srgbClr val="4081ED"/>
                </a:solidFill>
                <a:latin typeface="Pretendard SemiBold"/>
              </a:rPr>
              <a:t>적정 가격 · 사용량</a:t>
            </a:r>
            <a:r>
              <a:rPr sz="5000" b="1">
                <a:solidFill>
                  <a:srgbClr val="111111"/>
                </a:solidFill>
                <a:latin typeface="Pretendard SemiBold"/>
              </a:rPr>
              <a:t> 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6208776"/>
            <a:ext cx="5093208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2800" b="1">
                <a:solidFill>
                  <a:srgbClr val="111111"/>
                </a:solidFill>
                <a:latin typeface="Pretendard SemiBold"/>
              </a:rPr>
              <a:t>㈜퍼스트씨앤디</a:t>
            </a:r>
          </a:p>
        </p:txBody>
      </p:sp>
      <p:pic>
        <p:nvPicPr>
          <p:cNvPr id="21" name="Picture 20" descr="image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6272" y="7205472"/>
            <a:ext cx="12810744" cy="9144"/>
          </a:xfrm>
          <a:prstGeom prst="rect">
            <a:avLst/>
          </a:prstGeom>
        </p:spPr>
      </p:pic>
      <p:pic>
        <p:nvPicPr>
          <p:cNvPr id="22" name="Picture 21" descr="image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21992" y="7571231"/>
            <a:ext cx="1956816" cy="466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21992" y="7671816"/>
            <a:ext cx="1956816" cy="28346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내부 자료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7644383"/>
            <a:ext cx="11521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2026. 10. 1.   ㅣ   실측 280시행 · 적응형 30턴 대화   ㅣ   타사 벤치마크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한눈에 보는 결론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핵심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모델은 확정됐다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확인 턴만 3.8-flash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지시 준수 56/56 (100%)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9.6원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우리는 '말벗' 사용량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Replika 하루 70건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클로바 케어콜 주 2회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상한 없으면 원가 무한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권장 가격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무료 20턴 · 유료 50턴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월 19,900원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최악 가정에도 흑자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모델 최적화는 끝났고 남은 변수는 가격 — 업계 무료 상한(50~70건)과 우리 원가(턴당 9.6원)가 가격 하한을 결정한다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모델 선정 — 지시 준수 전수 측정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5모델 280시행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420624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지시 준수  ·  턴당 원가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gemini-2.5-flash (기존)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gemini-3.1-flash-lite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51/56 (91%)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gemini-3.5-flash-lite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50/56 (89%)  ·  $0.0059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gemini-3-flash-preview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$0.0081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gemini-3.8-flash (채택)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56/56 (100%)  ·  $0.0097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측정 규모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5모델 × 7영역 × 8회 = 280시행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판정 방법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LLM 심판 3분류 (수행 / 다른질문 / 미수행)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채택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gemini-3.8-flash — 인지 확인 턴 전용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0607040" y="3931920"/>
            <a:ext cx="5989320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4081ED"/>
                </a:solidFill>
                <a:latin typeface="Pretendard SemiBold"/>
              </a:rPr>
              <a:t>가장 중요한 발견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비용 절감이 인지 선별을 껐다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확인 턴 입력 토큰 +45% 지불하고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인지 평가는 0건 — 로그에 실패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6446520"/>
            <a:ext cx="5989320" cy="18288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왜 '지시 준수'로 재는가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문장 품질은 싼 모델도 통과한다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깨지는 건 주입한 지시의 수행이고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기능 누락이라 일반 지표에 안 잡힌다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8549640"/>
            <a:ext cx="14813280" cy="658368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700" b="1">
                <a:solidFill>
                  <a:srgbClr val="111111"/>
                </a:solidFill>
                <a:latin typeface="Pretendard SemiBold"/>
              </a:rPr>
              <a:t>전 구간을 올리지 않고 확인 턴 20%만 3.8-flash로 — 비용 증가를 최소화하면서 선별 기능을 되살렸다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최종 모델 배치 · 턴당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호출 지점별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88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09360"/>
                <a:gridCol w="21945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호출 지점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  ·  턴당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수다 턴 (80%)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인지 확인 턴 (20%)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동반자 합 $0.0038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1차 (선별 라우팅)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정밀 채점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분석기 합 $0.0031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턴당 합계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4081ED"/>
                          </a:solidFill>
                          <a:latin typeface="Pretendard SemiBold"/>
                        </a:rPr>
                        <a:t>$0.0069  ≈  9.6원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7086600"/>
            <a:ext cx="8503920" cy="603504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300" b="0">
                <a:solidFill>
                  <a:srgbClr val="858585"/>
                </a:solidFill>
                <a:latin typeface="Pretendard"/>
              </a:rPr>
              <a:t>※ 적응형 30턴 대화 실측 · 환율 1,390원 기준 · 서버 TTS 비용 별도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3758184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19456" tIns="201168">
            <a:no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F6FD6"/>
                </a:solidFill>
                <a:latin typeface="Pretendard SemiBold"/>
              </a:rPr>
              <a:t>적용한 최적화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확인 턴만 상위 모델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분석기 3.5→3.8 (정확도↑ 단가 ½)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도메인별 프로토콜 슬라이싱 −7%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암묵 캐시 적중 42% (입력 90% 할인)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측정 오류 4건 교정 후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73568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⚠ 3.8-flash 도입가는 2026-12-31 종료 — 2027년 턴당 약 14.6원으로 오른다 (연말 전 재검토 필요)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AI 말벗 · 돌봄 사용량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실사용 벤치마크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2F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Replika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약 70건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세션 15분 (일부 2시간)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$19.99 / 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1383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1383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Character.AI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세션 17.4분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3.2세션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$9.99 / 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6287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287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클로바 케어콜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주 2회 안부 전화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통화당 약 1분 15초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>· 지자체 B2G · 5만명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응답률 96%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1191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01191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A8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효돌 (돌봄인형)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5763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상시 거치형 (횟수 무제한)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대화+복약+인지퀴즈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118개 지자체 5,800대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만족도 80.1%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7818120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사용 패턴은 말벗 앱(70건/일), 수익 모델은 돌봄 서비스 — 이 조합이 가격 설계의 핵심 제약이다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가격 · 무료 상한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업계 관행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서비스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무료 상한  ·  유료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Talkie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50건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약 70건 · $13.99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Character.AI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무제한 · $9.99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Replika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소형 모델 · $19.99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마음이음 (제안)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무료 20턴 · 유료 50턴 / 19,900원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6903720"/>
            <a:ext cx="8503920" cy="640080"/>
          </a:xfrm>
          <a:prstGeom prst="roundRect">
            <a:avLst>
              <a:gd name="adj" fmla="val 2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600" b="1">
                <a:solidFill>
                  <a:srgbClr val="4081ED"/>
                </a:solidFill>
                <a:latin typeface="Pretendard SemiBold"/>
              </a:rPr>
              <a:t>→ 마음이음 제안은 업계 하단 — 무료 20턴 · 유료 50턴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무료 상한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하루 50~70건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Talkie 50 · Chai 70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539496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유료 가격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$9.99 ~ $19.99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월 14,000~28,000원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6858000"/>
            <a:ext cx="5989320" cy="1417320"/>
          </a:xfrm>
          <a:prstGeom prst="roundRect">
            <a:avLst>
              <a:gd name="adj" fmla="val 8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 SemiBold"/>
              </a:rPr>
              <a:t>우리 실측 중앙값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Pretendard SemiBold"/>
              </a:rPr>
              <a:t>하루 15턴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EAF0FC"/>
                </a:solidFill>
                <a:latin typeface="Pretendard"/>
              </a:rPr>
              <a:t>사람이 쓴 40일 기준 (p75 26턴)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8732520"/>
            <a:ext cx="1481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※ 타사는 대화 모델만 돌리지만 우리는 매 턴 인지 분석기가 함께 돈다 — 같은 턴 수라도 원가가 높다. 타사의 '건'은 사용자 메시지 1건으로 우리 '턴'과 같은 단위다. 우리 중앙값은 내부·관계자 계정 40일 기준이며 외부 실사용자 데이터는 아직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사용량별 1인 월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턴당 9.6원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4434840"/>
            <a:ext cx="22860" cy="425196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61772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70턴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 SemiBold"/>
              </a:rPr>
              <a:t>Replika 실사용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617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461772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20,160원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608076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50턴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Talkie 무료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6080760"/>
            <a:ext cx="3918857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0897" y="608076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14,400원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54380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20턴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권장 무료 상한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7543800"/>
            <a:ext cx="1567542" cy="1051560"/>
          </a:xfrm>
          <a:prstGeom prst="roundRect">
            <a:avLst>
              <a:gd name="adj" fmla="val 12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9582" y="754380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1">
                <a:solidFill>
                  <a:srgbClr val="4081ED"/>
                </a:solidFill>
                <a:latin typeface="Pretendard SemiBold"/>
              </a:rPr>
              <a:t>5,760원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64792" y="8686800"/>
            <a:ext cx="14813280" cy="77724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Play 수수료 15%를 뗀 수령액이 이 원가를 넘어야 한다 — 가격의 하한선을 결정하는 수치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가격안 — 두 가지 시나리오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월 단위 수지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75720" y="3584448"/>
            <a:ext cx="256032" cy="256032"/>
          </a:xfrm>
          <a:prstGeom prst="rect">
            <a:avLst/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0" y="3520440"/>
            <a:ext cx="2011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동반자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081760" y="3584448"/>
            <a:ext cx="256032" cy="256032"/>
          </a:xfrm>
          <a:prstGeom prst="rect">
            <a:avLst/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1800" y="3520440"/>
            <a:ext cx="22860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분석기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402336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A · 보급형 (월 9,900원 / 하루 30턴)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1480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진입 쉬움, 최악 가정에선 −225원 (≈ 손익분기)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459028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61772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9,900원 − 수수료 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617720"/>
            <a:ext cx="269313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5256" y="461772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8,415원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21808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30턴 × 30일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5321808"/>
            <a:ext cx="1520190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4,750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15150" y="5321808"/>
            <a:ext cx="1244955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3,890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7265" y="5321808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8,640원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25880" y="635508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644652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B · 표준형 (월 19,900원 / 하루 50턴)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644652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Replika 동급 가격 · 최악 가정에도 +2,515원 흑자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692200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694944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19,900원 − 수수료 15%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6949440"/>
            <a:ext cx="541347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45596" y="694944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16,915원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7653527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50턴 × 30일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7653527"/>
            <a:ext cx="2534716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7,920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29676" y="7653527"/>
            <a:ext cx="2073859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6,480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5" y="7653527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14,400원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64792" y="8705088"/>
            <a:ext cx="14904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>
                <a:solidFill>
                  <a:srgbClr val="858585"/>
                </a:solidFill>
                <a:latin typeface="Pretendard"/>
              </a:rPr>
              <a:t>※ '최대 원가'는 상한을 매일 끝까지 쓰는 최악 가정. 실측 중앙값(하루 15턴)이면 원가 4,320원이라 두 안 모두 흑자다. 안 A는 사용량이 늘수록 적자로 돌아서고, 안 B는 상한까지 써도 2026년 단가에선 흑자다. ⚠ 2027년 단가(턴당 14.6원)에서는 안 B의 최대 원가가 21,900원이 되어 역전된다 — 연말 전 모델 재검토가 이 가격의 전제다.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결론 · 권장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3F80ED"/>
                </a:solidFill>
                <a:latin typeface="Pretendard SemiBold"/>
              </a:rPr>
              <a:t>모델</a:t>
            </a:r>
          </a:p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확정 — 확인 턴 3.8-flash · 턴당 9.6원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5431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5431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무료 상한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하루 20턴 (실측 중앙값 15턴의 1.3배)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6479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479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유료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월 19,900원 · 하루 50턴 — 최악에도 흑자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런칭 전략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보급형(9,900원 · 30턴) 프로모션 → 표준형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8028431"/>
            <a:ext cx="14813280" cy="1143000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FFFFFF"/>
                </a:solidFill>
                <a:latin typeface="Pretendard SemiBold"/>
              </a:rPr>
              <a:t>① 가격 확정  →  ② Play 구독 상품 생성  →  ③ 서비스 계정 · RTDN  →  ④ 라이선스 테스터 실결제  →  ⑤ 유료 전환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원가 추가 절감 — 실측 A/B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측정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안 쓰던 캐시가 있었다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구현은 돼 있었지만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한 번도 켠 적이 없었다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입력 적중 18% → 86%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토큰 비용 −17%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동일 6턴 A/B 실측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10원 → 8원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모델·프롬프트 동일 = 품질 동일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단, 조건부다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저장·생성료를 반영하면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손익분기 10분당 3.4턴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서버리스 공유 수정이 선행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품질을 건드리지 않고 원가를 더 낮출 여지가 있다 — 남은 레버 7건(분석기 thinking·2단 라우팅·일 1회 배치 등)은 품질 검증 통과분만 적용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