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56" y="777240"/>
            <a:ext cx="16029432" cy="8723376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21207"/>
            <a:ext cx="15782544" cy="9217152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9240" y="1435608"/>
            <a:ext cx="457200" cy="457200"/>
          </a:xfrm>
          <a:prstGeom prst="rect">
            <a:avLst/>
          </a:prstGeom>
        </p:spPr>
      </p:pic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9240" y="2459736"/>
            <a:ext cx="457200" cy="457200"/>
          </a:xfrm>
          <a:prstGeom prst="rect">
            <a:avLst/>
          </a:prstGeom>
        </p:spPr>
      </p:pic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9240" y="3767328"/>
            <a:ext cx="457200" cy="457200"/>
          </a:xfrm>
          <a:prstGeom prst="rect">
            <a:avLst/>
          </a:prstGeom>
        </p:spPr>
      </p:pic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9240" y="4901184"/>
            <a:ext cx="457200" cy="457200"/>
          </a:xfrm>
          <a:prstGeom prst="rect">
            <a:avLst/>
          </a:prstGeom>
        </p:spPr>
      </p:pic>
      <p:pic>
        <p:nvPicPr>
          <p:cNvPr id="8" name="Picture 7" descr="imag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9240" y="6108192"/>
            <a:ext cx="457200" cy="457200"/>
          </a:xfrm>
          <a:prstGeom prst="rect">
            <a:avLst/>
          </a:prstGeom>
        </p:spPr>
      </p:pic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79240" y="7187184"/>
            <a:ext cx="457200" cy="457200"/>
          </a:xfrm>
          <a:prstGeom prst="rect">
            <a:avLst/>
          </a:prstGeom>
        </p:spPr>
      </p:pic>
      <p:pic>
        <p:nvPicPr>
          <p:cNvPr id="10" name="Picture 9" descr="image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79240" y="8430768"/>
            <a:ext cx="457200" cy="457200"/>
          </a:xfrm>
          <a:prstGeom prst="rect">
            <a:avLst/>
          </a:prstGeom>
        </p:spPr>
      </p:pic>
      <p:pic>
        <p:nvPicPr>
          <p:cNvPr id="11" name="Picture 10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2148840"/>
            <a:ext cx="685800" cy="9144"/>
          </a:xfrm>
          <a:prstGeom prst="rect">
            <a:avLst/>
          </a:prstGeom>
        </p:spPr>
      </p:pic>
      <p:pic>
        <p:nvPicPr>
          <p:cNvPr id="12" name="Picture 11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3355848"/>
            <a:ext cx="685800" cy="9144"/>
          </a:xfrm>
          <a:prstGeom prst="rect">
            <a:avLst/>
          </a:prstGeom>
        </p:spPr>
      </p:pic>
      <p:pic>
        <p:nvPicPr>
          <p:cNvPr id="13" name="Picture 12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4544568"/>
            <a:ext cx="685800" cy="9144"/>
          </a:xfrm>
          <a:prstGeom prst="rect">
            <a:avLst/>
          </a:prstGeom>
        </p:spPr>
      </p:pic>
      <p:pic>
        <p:nvPicPr>
          <p:cNvPr id="14" name="Picture 13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5742432"/>
            <a:ext cx="685800" cy="9144"/>
          </a:xfrm>
          <a:prstGeom prst="rect">
            <a:avLst/>
          </a:prstGeom>
        </p:spPr>
      </p:pic>
      <p:pic>
        <p:nvPicPr>
          <p:cNvPr id="15" name="Picture 14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6766560"/>
            <a:ext cx="685800" cy="9144"/>
          </a:xfrm>
          <a:prstGeom prst="rect">
            <a:avLst/>
          </a:prstGeom>
        </p:spPr>
      </p:pic>
      <p:pic>
        <p:nvPicPr>
          <p:cNvPr id="16" name="Picture 15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7964424"/>
            <a:ext cx="685800" cy="9144"/>
          </a:xfrm>
          <a:prstGeom prst="rect">
            <a:avLst/>
          </a:prstGeom>
        </p:spPr>
      </p:pic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8488" y="1481328"/>
            <a:ext cx="2112264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31336" y="1499616"/>
            <a:ext cx="237744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400" b="0">
                <a:solidFill>
                  <a:srgbClr val="858585"/>
                </a:solidFill>
                <a:latin typeface="Pretendard"/>
              </a:rPr>
              <a:t>FIRST C&amp;D Inc.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249424"/>
            <a:ext cx="13487400" cy="2615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111111"/>
                </a:solidFill>
                <a:latin typeface="Pretendard SemiBold"/>
              </a:rPr>
              <a:t>마음이음 AI 모델 선정 · 가격 정책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111111"/>
                </a:solidFill>
                <a:latin typeface="Pretendard SemiBold"/>
              </a:rPr>
              <a:t>타사 비교 기반 </a:t>
            </a:r>
            <a:r>
              <a:rPr sz="5000" b="1">
                <a:solidFill>
                  <a:srgbClr val="4081ED"/>
                </a:solidFill>
                <a:latin typeface="Pretendard SemiBold"/>
              </a:rPr>
              <a:t>적정 가격 · 사용량</a:t>
            </a:r>
            <a:r>
              <a:rPr sz="5000" b="1">
                <a:solidFill>
                  <a:srgbClr val="111111"/>
                </a:solidFill>
                <a:latin typeface="Pretendard SemiBold"/>
              </a:rPr>
              <a:t> 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6208776"/>
            <a:ext cx="5093208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ctr"/>
            <a:r>
              <a:rPr sz="2800" b="1">
                <a:solidFill>
                  <a:srgbClr val="111111"/>
                </a:solidFill>
                <a:latin typeface="Pretendard SemiBold"/>
              </a:rPr>
              <a:t>㈜퍼스트씨앤디</a:t>
            </a:r>
          </a:p>
        </p:txBody>
      </p:sp>
      <p:pic>
        <p:nvPicPr>
          <p:cNvPr id="21" name="Picture 20" descr="image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6272" y="7205472"/>
            <a:ext cx="12810744" cy="9144"/>
          </a:xfrm>
          <a:prstGeom prst="rect">
            <a:avLst/>
          </a:prstGeom>
        </p:spPr>
      </p:pic>
      <p:pic>
        <p:nvPicPr>
          <p:cNvPr id="22" name="Picture 21" descr="image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21992" y="7571231"/>
            <a:ext cx="1956816" cy="4663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21992" y="7671816"/>
            <a:ext cx="1956816" cy="2834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내부 자료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7644383"/>
            <a:ext cx="1152144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858585"/>
                </a:solidFill>
                <a:latin typeface="Pretendard"/>
              </a:rPr>
              <a:t>2026. 10. 1.   ㅣ   실측 280시행 · 적응형 30턴 대화   ㅣ   타사 벤치마크 반영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한눈에 보는 결론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핵심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4343400"/>
            <a:ext cx="4572000" cy="3063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>
            <a:no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081ED"/>
                </a:solidFill>
                <a:latin typeface="Pretendard SemiBold"/>
              </a:rPr>
              <a:t>①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모델은 확정됐다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확인 턴만 3.8-flash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지시 준수 56/56 (100%)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턴당 9.6원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85432" y="4343400"/>
            <a:ext cx="4572000" cy="3063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>
            <a:no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081ED"/>
                </a:solidFill>
                <a:latin typeface="Pretendard SemiBold"/>
              </a:rPr>
              <a:t>②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우리는 '말벗' 사용량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Replika 하루 70건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클로바 케어콜 주 2회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상한 없으면 원가 무한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06072" y="4343400"/>
            <a:ext cx="4572000" cy="3063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>
            <a:no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081ED"/>
                </a:solidFill>
                <a:latin typeface="Pretendard SemiBold"/>
              </a:rPr>
              <a:t>③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권장 가격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무료 20턴 · 유료 50턴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월 19,900원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최악 가정에도 흑자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4792" y="7955279"/>
            <a:ext cx="14813280" cy="868680"/>
          </a:xfrm>
          <a:prstGeom prst="roundRect">
            <a:avLst>
              <a:gd name="adj" fmla="val 3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retendard SemiBold"/>
              </a:rPr>
              <a:t>모델 최적화는 끝났고 남은 변수는 가격 — 업계 무료 상한(50~70건)과 우리 원가(턴당 9.6원)가 가격 하한을 결정한다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모델 선정 — 지시 준수 전수 측정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310896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5모델 280시행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3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64792" y="4050791"/>
          <a:ext cx="8503920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420624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모델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지시 준수  ·  턴당 원가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gemini-2.5-flash (기존)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52/56 (93%)  ·  $0.0045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gemini-3.1-flash-lite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51/56 (91%)  ·  $0.0045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gemini-3.5-flash-lite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50/56 (89%)  ·  $0.0059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gemini-3-flash-preview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52/56 (93%)  ·  $0.0081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gemini-3.8-flash (채택)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56/56 (100%)  ·  $0.0097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측정 규모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5모델 × 7영역 × 8회 = 280시행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판정 방법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LLM 심판 3분류 (수행 / 다른질문 / 미수행)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채택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gemini-3.8-flash — 인지 확인 턴 전용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0607040" y="3931920"/>
            <a:ext cx="5989320" cy="23317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>
            <a:no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081ED"/>
                </a:solidFill>
                <a:latin typeface="Pretendard SemiBold"/>
              </a:rPr>
              <a:t>가장 중요한 발견</a:t>
            </a:r>
          </a:p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비용 절감이 인지 선별을 껐다</a:t>
            </a:r>
          </a:p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확인 턴 입력 토큰 +45% 지불하고</a:t>
            </a:r>
          </a:p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인지 평가는 0건 — 로그에 실패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6446520"/>
            <a:ext cx="5989320" cy="18288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58585"/>
                </a:solidFill>
                <a:latin typeface="Pretendard SemiBold"/>
              </a:rPr>
              <a:t>왜 '지시 준수'로 재는가</a:t>
            </a:r>
          </a:p>
          <a:p>
            <a:pPr algn="l"/>
            <a:r>
              <a:rPr sz="1600" b="1">
                <a:solidFill>
                  <a:srgbClr val="858585"/>
                </a:solidFill>
                <a:latin typeface="Pretendard SemiBold"/>
              </a:rPr>
              <a:t>문장 품질은 싼 모델도 통과한다</a:t>
            </a:r>
          </a:p>
          <a:p>
            <a:pPr algn="l"/>
            <a:r>
              <a:rPr sz="1600" b="1">
                <a:solidFill>
                  <a:srgbClr val="858585"/>
                </a:solidFill>
                <a:latin typeface="Pretendard SemiBold"/>
              </a:rPr>
              <a:t>깨지는 건 주입한 지시의 수행이고</a:t>
            </a:r>
          </a:p>
          <a:p>
            <a:pPr algn="l"/>
            <a:r>
              <a:rPr sz="1600" b="1">
                <a:solidFill>
                  <a:srgbClr val="858585"/>
                </a:solidFill>
                <a:latin typeface="Pretendard SemiBold"/>
              </a:rPr>
              <a:t>기능 누락이라 일반 지표에 안 잡힌다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4792" y="8549640"/>
            <a:ext cx="14813280" cy="658368"/>
          </a:xfrm>
          <a:prstGeom prst="roundRect">
            <a:avLst>
              <a:gd name="adj" fmla="val 30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Pretendard SemiBold"/>
              </a:rPr>
              <a:t>전 구간을 올리지 않고 확인 턴 20%만 3.8-flash로 — 비용 증가를 최소화하면서 선별 기능을 되살렸다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최종 모델 배치 · 턴당 원가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310896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호출 지점별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64792" y="4050791"/>
          <a:ext cx="8503920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09360"/>
                <a:gridCol w="219456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호출 지점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모델  ·  턴당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Pretendard"/>
                        </a:rPr>
                        <a:t>동반자 — 수다 턴 (80%)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2.5-flash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Pretendard"/>
                        </a:rPr>
                        <a:t>동반자 — 인지 확인 턴 (20%)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3.8-flash  ·  동반자 합 $0.0038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Pretendard"/>
                        </a:rPr>
                        <a:t>분석기 1차 (선별 라우팅)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2.5-flash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Pretendard"/>
                        </a:rPr>
                        <a:t>분석기 정밀 채점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3.8-flash  ·  분석기 합 $0.0031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턴당 합계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4081ED"/>
                          </a:solidFill>
                          <a:latin typeface="Pretendard SemiBold"/>
                        </a:rPr>
                        <a:t>$0.0069  ≈  9.6원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764792" y="7086600"/>
            <a:ext cx="8503920" cy="603504"/>
          </a:xfrm>
          <a:prstGeom prst="roundRect">
            <a:avLst>
              <a:gd name="adj" fmla="val 30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300" b="0">
                <a:solidFill>
                  <a:srgbClr val="858585"/>
                </a:solidFill>
                <a:latin typeface="Pretendard"/>
              </a:rPr>
              <a:t>※ 적응형 30턴 대화 실측 · 환율 1,390원 기준 · 서버 TTS 비용 별도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3931920"/>
            <a:ext cx="5989320" cy="3758184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19456" tIns="201168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F6FD6"/>
                </a:solidFill>
                <a:latin typeface="Pretendard SemiBold"/>
              </a:rPr>
              <a:t>적용한 최적화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확인 턴만 상위 모델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분석기 3.5→3.8 (정확도↑ 단가 ½)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도메인별 프로토콜 슬라이싱 −7%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암묵 캐시 적중 42% (입력 90% 할인)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측정 오류 4건 교정 후 확정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4792" y="7973568"/>
            <a:ext cx="14813280" cy="868680"/>
          </a:xfrm>
          <a:prstGeom prst="roundRect">
            <a:avLst>
              <a:gd name="adj" fmla="val 3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retendard SemiBold"/>
              </a:rPr>
              <a:t>⚠ 3.8-flash 도입가는 2026-12-31 종료 — 2027년 턴당 약 14.6원으로 오른다 (연말 전 재검토 필요)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타사 AI 말벗 · 돌봄 사용량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실사용 벤치마크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41605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64792" y="416052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2F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Replika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4956048"/>
            <a:ext cx="3429000" cy="2395728"/>
          </a:xfrm>
          <a:prstGeom prst="rect">
            <a:avLst/>
          </a:prstGeom>
          <a:noFill/>
        </p:spPr>
        <p:txBody>
          <a:bodyPr wrap="square" lIns="182880" rIns="109728" tIns="18288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하루 약 70건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세션 15분 (일부 2시간)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유료 $19.99 / 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832" y="41605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13832" y="416052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Character.AI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4956048"/>
            <a:ext cx="3429000" cy="2395728"/>
          </a:xfrm>
          <a:prstGeom prst="rect">
            <a:avLst/>
          </a:prstGeom>
          <a:noFill/>
        </p:spPr>
        <p:txBody>
          <a:bodyPr wrap="square" lIns="182880" rIns="109728" tIns="18288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세션 17.4분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하루 3.2세션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유료 $9.99 / 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41605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62872" y="416052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클로바 케어콜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4956048"/>
            <a:ext cx="3429000" cy="2395728"/>
          </a:xfrm>
          <a:prstGeom prst="rect">
            <a:avLst/>
          </a:prstGeom>
          <a:noFill/>
        </p:spPr>
        <p:txBody>
          <a:bodyPr wrap="square" lIns="182880" rIns="109728" tIns="18288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주 2회 안부 전화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Pretendard"/>
              </a:rPr>
              <a:t>· 통화당 약 1분 15초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Pretendard"/>
              </a:rPr>
              <a:t>· 지자체 B2G · 5만명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Pretendard"/>
              </a:rPr>
              <a:t>· 응답률 96%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011912" y="41605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011912" y="416052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A8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효돌 (돌봄인형)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57632" y="4956048"/>
            <a:ext cx="3429000" cy="2395728"/>
          </a:xfrm>
          <a:prstGeom prst="rect">
            <a:avLst/>
          </a:prstGeom>
          <a:noFill/>
        </p:spPr>
        <p:txBody>
          <a:bodyPr wrap="square" lIns="182880" rIns="109728" tIns="18288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상시 거치형 (횟수 무제한)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대화+복약+인지퀴즈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118개 지자체 5,800대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만족도 80.1%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64792" y="7818120"/>
            <a:ext cx="14813280" cy="868680"/>
          </a:xfrm>
          <a:prstGeom prst="roundRect">
            <a:avLst>
              <a:gd name="adj" fmla="val 3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사용 패턴은 말벗 앱(70건/일), 수익 모델은 돌봄 서비스 — 이 조합이 가격 설계의 핵심 제약이다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타사 가격 · 무료 상한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업계 관행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6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64792" y="4050791"/>
          <a:ext cx="85039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72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서비스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무료 상한  ·  유료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Talkie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하루 50건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Chai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하루 약 70건 · $13.99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Character.AI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무제한 · $9.99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Replika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소형 모델 · $19.99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마음이음 (제안)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무료 20턴 · 유료 50턴 / 19,900원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764792" y="6903720"/>
            <a:ext cx="8503920" cy="640080"/>
          </a:xfrm>
          <a:prstGeom prst="roundRect">
            <a:avLst>
              <a:gd name="adj" fmla="val 25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600" b="1">
                <a:solidFill>
                  <a:srgbClr val="4081ED"/>
                </a:solidFill>
                <a:latin typeface="Pretendard SemiBold"/>
              </a:rPr>
              <a:t>→ 마음이음 제안은 업계 하단 — 무료 20턴 · 유료 50턴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3931920"/>
            <a:ext cx="5989320" cy="12344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58585"/>
                </a:solidFill>
                <a:latin typeface="Pretendard SemiBold"/>
              </a:rPr>
              <a:t>업계 무료 상한</a:t>
            </a:r>
          </a:p>
          <a:p>
            <a:pPr algn="l">
              <a:spcAft>
                <a:spcPts val="400"/>
              </a:spcAft>
            </a:pPr>
            <a:r>
              <a:rPr sz="2500" b="1">
                <a:solidFill>
                  <a:srgbClr val="4081ED"/>
                </a:solidFill>
                <a:latin typeface="Pretendard SemiBold"/>
              </a:rPr>
              <a:t>하루 50~70건</a:t>
            </a:r>
          </a:p>
          <a:p>
            <a:pPr algn="l">
              <a:lnSpc>
                <a:spcPct val="108000"/>
              </a:lnSpc>
            </a:pPr>
            <a:r>
              <a:rPr sz="1400" b="0">
                <a:solidFill>
                  <a:srgbClr val="333333"/>
                </a:solidFill>
                <a:latin typeface="Pretendard"/>
              </a:rPr>
              <a:t>Talkie 50 · Chai 70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07040" y="5394960"/>
            <a:ext cx="5989320" cy="12344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58585"/>
                </a:solidFill>
                <a:latin typeface="Pretendard SemiBold"/>
              </a:rPr>
              <a:t>업계 유료 가격</a:t>
            </a:r>
          </a:p>
          <a:p>
            <a:pPr algn="l">
              <a:spcAft>
                <a:spcPts val="400"/>
              </a:spcAft>
            </a:pPr>
            <a:r>
              <a:rPr sz="2500" b="1">
                <a:solidFill>
                  <a:srgbClr val="4081ED"/>
                </a:solidFill>
                <a:latin typeface="Pretendard SemiBold"/>
              </a:rPr>
              <a:t>$9.99 ~ $19.99</a:t>
            </a:r>
          </a:p>
          <a:p>
            <a:pPr algn="l">
              <a:lnSpc>
                <a:spcPct val="108000"/>
              </a:lnSpc>
            </a:pPr>
            <a:r>
              <a:rPr sz="1400" b="0">
                <a:solidFill>
                  <a:srgbClr val="333333"/>
                </a:solidFill>
                <a:latin typeface="Pretendard"/>
              </a:rPr>
              <a:t>월 14,000~28,000원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6858000"/>
            <a:ext cx="5989320" cy="1417320"/>
          </a:xfrm>
          <a:prstGeom prst="roundRect">
            <a:avLst>
              <a:gd name="adj" fmla="val 8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 SemiBold"/>
              </a:rPr>
              <a:t>우리 실측 중앙값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retendard SemiBold"/>
              </a:rPr>
              <a:t>하루 15턴</a:t>
            </a:r>
          </a:p>
          <a:p>
            <a:pPr algn="l">
              <a:lnSpc>
                <a:spcPct val="108000"/>
              </a:lnSpc>
            </a:pPr>
            <a:r>
              <a:rPr sz="1400" b="0">
                <a:solidFill>
                  <a:srgbClr val="EAF0FC"/>
                </a:solidFill>
                <a:latin typeface="Pretendard"/>
              </a:rPr>
              <a:t>사람이 쓴 40일 기준 (p75 26턴)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8732520"/>
            <a:ext cx="148132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858585"/>
                </a:solidFill>
                <a:latin typeface="Pretendard"/>
              </a:rPr>
              <a:t>※ 타사는 대화 모델만 돌리지만 우리는 매 턴 인지 분석기가 함께 돈다 — 같은 턴 수라도 원가가 높다. 타사의 '건'은 사용자 메시지 1건으로 우리 '턴'과 같은 단위다. 우리 중앙값은 내부·관계자 계정 40일 기준이며 외부 실사용자 데이터는 아직 없다.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사용량별 1인 월 원가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턴당 9.6원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4434840"/>
            <a:ext cx="22860" cy="4251960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617720"/>
            <a:ext cx="315468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600" b="1">
                <a:solidFill>
                  <a:srgbClr val="111111"/>
                </a:solidFill>
                <a:latin typeface="Pretendard SemiBold"/>
              </a:rPr>
              <a:t>하루 70턴</a:t>
            </a:r>
          </a:p>
          <a:p>
            <a:pPr algn="r"/>
            <a:r>
              <a:rPr sz="1200" b="0">
                <a:solidFill>
                  <a:srgbClr val="858585"/>
                </a:solidFill>
                <a:latin typeface="Pretendard SemiBold"/>
              </a:rPr>
              <a:t>Replika 실사용 평균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6177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4617720"/>
            <a:ext cx="3108960" cy="10515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Pretendard SemiBold"/>
              </a:rPr>
              <a:t>20,160원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6080760"/>
            <a:ext cx="315468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600" b="1">
                <a:solidFill>
                  <a:srgbClr val="111111"/>
                </a:solidFill>
                <a:latin typeface="Pretendard SemiBold"/>
              </a:rPr>
              <a:t>하루 50턴</a:t>
            </a:r>
          </a:p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Talkie 무료 상한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6080760"/>
            <a:ext cx="3918857" cy="1051560"/>
          </a:xfrm>
          <a:prstGeom prst="roundRect">
            <a:avLst>
              <a:gd name="adj" fmla="val 12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0897" y="6080760"/>
            <a:ext cx="3108960" cy="10515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Pretendard SemiBold"/>
              </a:rPr>
              <a:t>14,400원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7543800"/>
            <a:ext cx="315468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600" b="1">
                <a:solidFill>
                  <a:srgbClr val="111111"/>
                </a:solidFill>
                <a:latin typeface="Pretendard SemiBold"/>
              </a:rPr>
              <a:t>하루 20턴</a:t>
            </a:r>
          </a:p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권장 무료 상한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7543800"/>
            <a:ext cx="1567542" cy="1051560"/>
          </a:xfrm>
          <a:prstGeom prst="roundRect">
            <a:avLst>
              <a:gd name="adj" fmla="val 12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9582" y="7543800"/>
            <a:ext cx="3108960" cy="10515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1">
                <a:solidFill>
                  <a:srgbClr val="4081ED"/>
                </a:solidFill>
                <a:latin typeface="Pretendard SemiBold"/>
              </a:rPr>
              <a:t>5,760원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64792" y="8686800"/>
            <a:ext cx="14813280" cy="777240"/>
          </a:xfrm>
          <a:prstGeom prst="roundRect">
            <a:avLst>
              <a:gd name="adj" fmla="val 3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Play 수수료 15%를 뗀 수령액이 이 원가를 넘어야 한다 — 가격의 하한선을 결정하는 수치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가격안 — 두 가지 시나리오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월 단위 수지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75720" y="3584448"/>
            <a:ext cx="256032" cy="256032"/>
          </a:xfrm>
          <a:prstGeom prst="rect">
            <a:avLst/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0" y="3520440"/>
            <a:ext cx="20116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retendard"/>
              </a:rPr>
              <a:t>최대 원가 — 동반자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60" y="3584448"/>
            <a:ext cx="256032" cy="256032"/>
          </a:xfrm>
          <a:prstGeom prst="rect">
            <a:avLst/>
          </a:prstGeom>
          <a:solidFill>
            <a:srgbClr val="AFC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01800" y="3520440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retendard"/>
              </a:rPr>
              <a:t>최대 원가 — 분석기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4023360"/>
            <a:ext cx="15663672" cy="2148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114800"/>
            <a:ext cx="56692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안 A · 보급형 (월 9,900원 / 하루 30턴)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14800"/>
            <a:ext cx="891540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r"/>
            <a:r>
              <a:rPr sz="1400" b="1">
                <a:solidFill>
                  <a:srgbClr val="333333"/>
                </a:solidFill>
                <a:latin typeface="Pretendard SemiBold"/>
              </a:rPr>
              <a:t>→ 진입 쉬움, 최악 가정에선 −225원 (≈ 손익분기)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590288"/>
            <a:ext cx="18288" cy="1417320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617720"/>
            <a:ext cx="37947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500" b="1">
                <a:solidFill>
                  <a:srgbClr val="111111"/>
                </a:solidFill>
                <a:latin typeface="Pretendard SemiBold"/>
              </a:rPr>
              <a:t>수령액</a:t>
            </a:r>
          </a:p>
          <a:p>
            <a:pPr algn="r"/>
            <a:r>
              <a:rPr sz="1100" b="0">
                <a:solidFill>
                  <a:srgbClr val="858585"/>
                </a:solidFill>
                <a:latin typeface="Pretendard"/>
              </a:rPr>
              <a:t>9,900원 − 수수료 15%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4617720"/>
            <a:ext cx="2693136" cy="566928"/>
          </a:xfrm>
          <a:prstGeom prst="roundRect">
            <a:avLst>
              <a:gd name="adj" fmla="val 14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5256" y="4617720"/>
            <a:ext cx="2468880" cy="56692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Pretendard SemiBold"/>
              </a:rPr>
              <a:t>8,415원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21808"/>
            <a:ext cx="37947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500" b="1">
                <a:solidFill>
                  <a:srgbClr val="111111"/>
                </a:solidFill>
                <a:latin typeface="Pretendard SemiBold"/>
              </a:rPr>
              <a:t>최대 원가</a:t>
            </a:r>
          </a:p>
          <a:p>
            <a:pPr algn="r"/>
            <a:r>
              <a:rPr sz="1100" b="0">
                <a:solidFill>
                  <a:srgbClr val="858585"/>
                </a:solidFill>
                <a:latin typeface="Pretendard"/>
              </a:rPr>
              <a:t>하루 30턴 × 30일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5321808"/>
            <a:ext cx="1520190" cy="566928"/>
          </a:xfrm>
          <a:prstGeom prst="roundRect">
            <a:avLst>
              <a:gd name="adj" fmla="val 14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SemiBold"/>
              </a:rPr>
              <a:t>4,750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5150" y="5321808"/>
            <a:ext cx="1244955" cy="566928"/>
          </a:xfrm>
          <a:prstGeom prst="roundRect">
            <a:avLst>
              <a:gd name="adj" fmla="val 14000"/>
            </a:avLst>
          </a:prstGeom>
          <a:solidFill>
            <a:srgbClr val="AFC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Pretendard SemiBold"/>
              </a:rPr>
              <a:t>3,890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7265" y="5321808"/>
            <a:ext cx="2468880" cy="56692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8,640원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6355080"/>
            <a:ext cx="15663672" cy="2148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6446520"/>
            <a:ext cx="56692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안 B · 표준형 (월 19,900원 / 하루 50턴)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6446520"/>
            <a:ext cx="891540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r"/>
            <a:r>
              <a:rPr sz="1400" b="1">
                <a:solidFill>
                  <a:srgbClr val="333333"/>
                </a:solidFill>
                <a:latin typeface="Pretendard SemiBold"/>
              </a:rPr>
              <a:t>→ Replika 동급 가격 · 최악 가정에도 +2,515원 흑자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6922008"/>
            <a:ext cx="18288" cy="1417320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6949440"/>
            <a:ext cx="37947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500" b="1">
                <a:solidFill>
                  <a:srgbClr val="111111"/>
                </a:solidFill>
                <a:latin typeface="Pretendard SemiBold"/>
              </a:rPr>
              <a:t>수령액</a:t>
            </a:r>
          </a:p>
          <a:p>
            <a:pPr algn="r"/>
            <a:r>
              <a:rPr sz="1100" b="0">
                <a:solidFill>
                  <a:srgbClr val="858585"/>
                </a:solidFill>
                <a:latin typeface="Pretendard"/>
              </a:rPr>
              <a:t>19,900원 − 수수료 15%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6949440"/>
            <a:ext cx="5413476" cy="566928"/>
          </a:xfrm>
          <a:prstGeom prst="roundRect">
            <a:avLst>
              <a:gd name="adj" fmla="val 14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45596" y="6949440"/>
            <a:ext cx="2468880" cy="56692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Pretendard SemiBold"/>
              </a:rPr>
              <a:t>16,915원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7653527"/>
            <a:ext cx="37947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500" b="1">
                <a:solidFill>
                  <a:srgbClr val="111111"/>
                </a:solidFill>
                <a:latin typeface="Pretendard SemiBold"/>
              </a:rPr>
              <a:t>최대 원가</a:t>
            </a:r>
          </a:p>
          <a:p>
            <a:pPr algn="r"/>
            <a:r>
              <a:rPr sz="1100" b="0">
                <a:solidFill>
                  <a:srgbClr val="858585"/>
                </a:solidFill>
                <a:latin typeface="Pretendard"/>
              </a:rPr>
              <a:t>하루 50턴 × 30일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7653527"/>
            <a:ext cx="2534716" cy="566928"/>
          </a:xfrm>
          <a:prstGeom prst="roundRect">
            <a:avLst>
              <a:gd name="adj" fmla="val 14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SemiBold"/>
              </a:rPr>
              <a:t>7,920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29676" y="7653527"/>
            <a:ext cx="2073859" cy="566928"/>
          </a:xfrm>
          <a:prstGeom prst="roundRect">
            <a:avLst>
              <a:gd name="adj" fmla="val 14000"/>
            </a:avLst>
          </a:prstGeom>
          <a:solidFill>
            <a:srgbClr val="AFC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Pretendard SemiBold"/>
              </a:rPr>
              <a:t>6,480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0695" y="7653527"/>
            <a:ext cx="2468880" cy="56692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14,400원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64792" y="8705088"/>
            <a:ext cx="149047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>
                <a:solidFill>
                  <a:srgbClr val="858585"/>
                </a:solidFill>
                <a:latin typeface="Pretendard"/>
              </a:rPr>
              <a:t>※ '최대 원가'는 상한을 매일 끝까지 쓰는 최악 가정. 실측 중앙값(하루 15턴)이면 원가 4,320원이라 두 안 모두 흑자다. 안 A는 사용량이 늘수록 적자로 돌아서고, 안 B는 상한까지 써도 2026년 단가에선 흑자다. ⚠ 2027년 단가(턴당 14.6원)에서는 안 B의 최대 원가가 21,900원이 되어 역전된다 — 연말 전 모델 재검토가 이 가격의 전제다.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결론 · 권장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4206240"/>
            <a:ext cx="7223760" cy="16916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64792" y="4206240"/>
            <a:ext cx="146304" cy="1691640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4206240"/>
            <a:ext cx="6629400" cy="1691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3F80ED"/>
                </a:solidFill>
                <a:latin typeface="Pretendard SemiBold"/>
              </a:rPr>
              <a:t>모델</a:t>
            </a:r>
          </a:p>
          <a:p>
            <a:pPr algn="l"/>
            <a:r>
              <a:rPr sz="1700" b="1">
                <a:solidFill>
                  <a:srgbClr val="111111"/>
                </a:solidFill>
                <a:latin typeface="Pretendard SemiBold"/>
              </a:rPr>
              <a:t>확정 — 확인 턴 3.8-flash · 턴당 9.6원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54312" y="4206240"/>
            <a:ext cx="7223760" cy="16916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54312" y="4206240"/>
            <a:ext cx="146304" cy="1691640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4206240"/>
            <a:ext cx="6629400" cy="1691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무료 상한</a:t>
            </a:r>
          </a:p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하루 20턴 (실측 중앙값 15턴의 1.3배)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64792" y="6053328"/>
            <a:ext cx="7223760" cy="16916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64792" y="6053328"/>
            <a:ext cx="146304" cy="1691640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6053328"/>
            <a:ext cx="6629400" cy="1691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유료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900" b="1">
                <a:solidFill>
                  <a:srgbClr val="111111"/>
                </a:solidFill>
                <a:latin typeface="Pretendard SemiBold"/>
              </a:rPr>
              <a:t>월 19,900원 · 하루 50턴 — 최악에도 흑자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54312" y="6053328"/>
            <a:ext cx="7223760" cy="16916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54312" y="6053328"/>
            <a:ext cx="146304" cy="1691640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6053328"/>
            <a:ext cx="6629400" cy="1691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런칭 전략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900" b="1">
                <a:solidFill>
                  <a:srgbClr val="111111"/>
                </a:solidFill>
                <a:latin typeface="Pretendard SemiBold"/>
              </a:rPr>
              <a:t>보급형(9,900원 · 30턴) 프로모션 → 표준형 전환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64792" y="8028431"/>
            <a:ext cx="14813280" cy="1143000"/>
          </a:xfrm>
          <a:prstGeom prst="roundRect">
            <a:avLst>
              <a:gd name="adj" fmla="val 14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Pretendard SemiBold"/>
              </a:rPr>
              <a:t>① 가격 확정  →  ② Play 구독 상품 생성  →  ③ 서비스 계정 · RTDN  →  ④ 라이선스 테스터 실결제  →  ⑤ 유료 전환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