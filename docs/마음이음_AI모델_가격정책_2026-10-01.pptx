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8288000" cy="10287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Relationship Id="rId8" Type="http://schemas.openxmlformats.org/officeDocument/2006/relationships/image" Target="../media/image7.png"/><Relationship Id="rId9" Type="http://schemas.openxmlformats.org/officeDocument/2006/relationships/image" Target="../media/image8.png"/><Relationship Id="rId10" Type="http://schemas.openxmlformats.org/officeDocument/2006/relationships/image" Target="../media/image9.png"/><Relationship Id="rId11" Type="http://schemas.openxmlformats.org/officeDocument/2006/relationships/image" Target="../media/image10.png"/><Relationship Id="rId12" Type="http://schemas.openxmlformats.org/officeDocument/2006/relationships/image" Target="../media/image11.png"/><Relationship Id="rId13" Type="http://schemas.openxmlformats.org/officeDocument/2006/relationships/image" Target="../media/image12.png"/><Relationship Id="rId14" Type="http://schemas.openxmlformats.org/officeDocument/2006/relationships/image" Target="../media/image13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image" Target="../media/image15.png"/><Relationship Id="rId4" Type="http://schemas.openxmlformats.org/officeDocument/2006/relationships/image" Target="../media/image16.png"/><Relationship Id="rId5" Type="http://schemas.openxmlformats.org/officeDocument/2006/relationships/image" Target="../media/image17.png"/><Relationship Id="rId6" Type="http://schemas.openxmlformats.org/officeDocument/2006/relationships/image" Target="../media/image18.png"/><Relationship Id="rId7" Type="http://schemas.openxmlformats.org/officeDocument/2006/relationships/image" Target="../media/image19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image" Target="../media/image15.png"/><Relationship Id="rId4" Type="http://schemas.openxmlformats.org/officeDocument/2006/relationships/image" Target="../media/image16.png"/><Relationship Id="rId5" Type="http://schemas.openxmlformats.org/officeDocument/2006/relationships/image" Target="../media/image17.png"/><Relationship Id="rId6" Type="http://schemas.openxmlformats.org/officeDocument/2006/relationships/image" Target="../media/image18.png"/><Relationship Id="rId7" Type="http://schemas.openxmlformats.org/officeDocument/2006/relationships/image" Target="../media/image19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image" Target="../media/image15.png"/><Relationship Id="rId4" Type="http://schemas.openxmlformats.org/officeDocument/2006/relationships/image" Target="../media/image16.png"/><Relationship Id="rId5" Type="http://schemas.openxmlformats.org/officeDocument/2006/relationships/image" Target="../media/image17.png"/><Relationship Id="rId6" Type="http://schemas.openxmlformats.org/officeDocument/2006/relationships/image" Target="../media/image18.png"/><Relationship Id="rId7" Type="http://schemas.openxmlformats.org/officeDocument/2006/relationships/image" Target="../media/image19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image" Target="../media/image15.png"/><Relationship Id="rId4" Type="http://schemas.openxmlformats.org/officeDocument/2006/relationships/image" Target="../media/image16.png"/><Relationship Id="rId5" Type="http://schemas.openxmlformats.org/officeDocument/2006/relationships/image" Target="../media/image17.png"/><Relationship Id="rId6" Type="http://schemas.openxmlformats.org/officeDocument/2006/relationships/image" Target="../media/image18.png"/><Relationship Id="rId7" Type="http://schemas.openxmlformats.org/officeDocument/2006/relationships/image" Target="../media/image19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image" Target="../media/image15.png"/><Relationship Id="rId4" Type="http://schemas.openxmlformats.org/officeDocument/2006/relationships/image" Target="../media/image16.png"/><Relationship Id="rId5" Type="http://schemas.openxmlformats.org/officeDocument/2006/relationships/image" Target="../media/image17.png"/><Relationship Id="rId6" Type="http://schemas.openxmlformats.org/officeDocument/2006/relationships/image" Target="../media/image18.png"/><Relationship Id="rId7" Type="http://schemas.openxmlformats.org/officeDocument/2006/relationships/image" Target="../media/image19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image" Target="../media/image15.png"/><Relationship Id="rId4" Type="http://schemas.openxmlformats.org/officeDocument/2006/relationships/image" Target="../media/image16.png"/><Relationship Id="rId5" Type="http://schemas.openxmlformats.org/officeDocument/2006/relationships/image" Target="../media/image17.png"/><Relationship Id="rId6" Type="http://schemas.openxmlformats.org/officeDocument/2006/relationships/image" Target="../media/image18.png"/><Relationship Id="rId7" Type="http://schemas.openxmlformats.org/officeDocument/2006/relationships/image" Target="../media/image19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image" Target="../media/image15.png"/><Relationship Id="rId4" Type="http://schemas.openxmlformats.org/officeDocument/2006/relationships/image" Target="../media/image16.png"/><Relationship Id="rId5" Type="http://schemas.openxmlformats.org/officeDocument/2006/relationships/image" Target="../media/image17.png"/><Relationship Id="rId6" Type="http://schemas.openxmlformats.org/officeDocument/2006/relationships/image" Target="../media/image18.png"/><Relationship Id="rId7" Type="http://schemas.openxmlformats.org/officeDocument/2006/relationships/image" Target="../media/image19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image" Target="../media/image15.png"/><Relationship Id="rId4" Type="http://schemas.openxmlformats.org/officeDocument/2006/relationships/image" Target="../media/image16.png"/><Relationship Id="rId5" Type="http://schemas.openxmlformats.org/officeDocument/2006/relationships/image" Target="../media/image17.png"/><Relationship Id="rId6" Type="http://schemas.openxmlformats.org/officeDocument/2006/relationships/image" Target="../media/image18.png"/><Relationship Id="rId7" Type="http://schemas.openxmlformats.org/officeDocument/2006/relationships/image" Target="../media/image19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image" Target="../media/image15.png"/><Relationship Id="rId4" Type="http://schemas.openxmlformats.org/officeDocument/2006/relationships/image" Target="../media/image16.png"/><Relationship Id="rId5" Type="http://schemas.openxmlformats.org/officeDocument/2006/relationships/image" Target="../media/image17.png"/><Relationship Id="rId6" Type="http://schemas.openxmlformats.org/officeDocument/2006/relationships/image" Target="../media/image18.png"/><Relationship Id="rId7" Type="http://schemas.openxmlformats.org/officeDocument/2006/relationships/image" Target="../media/image19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91056" y="777240"/>
            <a:ext cx="16029432" cy="8723376"/>
          </a:xfrm>
          <a:prstGeom prst="rect">
            <a:avLst/>
          </a:prstGeom>
        </p:spPr>
      </p:pic>
      <p:pic>
        <p:nvPicPr>
          <p:cNvPr id="3" name="Picture 2" descr="image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6656" y="521207"/>
            <a:ext cx="15782544" cy="9217152"/>
          </a:xfrm>
          <a:prstGeom prst="rect">
            <a:avLst/>
          </a:prstGeom>
        </p:spPr>
      </p:pic>
      <p:pic>
        <p:nvPicPr>
          <p:cNvPr id="4" name="Picture 3" descr="image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779240" y="1435608"/>
            <a:ext cx="457200" cy="457200"/>
          </a:xfrm>
          <a:prstGeom prst="rect">
            <a:avLst/>
          </a:prstGeom>
        </p:spPr>
      </p:pic>
      <p:pic>
        <p:nvPicPr>
          <p:cNvPr id="5" name="Picture 4" descr="image4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6779240" y="2459736"/>
            <a:ext cx="457200" cy="457200"/>
          </a:xfrm>
          <a:prstGeom prst="rect">
            <a:avLst/>
          </a:prstGeom>
        </p:spPr>
      </p:pic>
      <p:pic>
        <p:nvPicPr>
          <p:cNvPr id="6" name="Picture 5" descr="image5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6779240" y="3767328"/>
            <a:ext cx="457200" cy="457200"/>
          </a:xfrm>
          <a:prstGeom prst="rect">
            <a:avLst/>
          </a:prstGeom>
        </p:spPr>
      </p:pic>
      <p:pic>
        <p:nvPicPr>
          <p:cNvPr id="7" name="Picture 6" descr="image6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6779240" y="4901184"/>
            <a:ext cx="457200" cy="457200"/>
          </a:xfrm>
          <a:prstGeom prst="rect">
            <a:avLst/>
          </a:prstGeom>
        </p:spPr>
      </p:pic>
      <p:pic>
        <p:nvPicPr>
          <p:cNvPr id="8" name="Picture 7" descr="image7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6779240" y="6108192"/>
            <a:ext cx="457200" cy="457200"/>
          </a:xfrm>
          <a:prstGeom prst="rect">
            <a:avLst/>
          </a:prstGeom>
        </p:spPr>
      </p:pic>
      <p:pic>
        <p:nvPicPr>
          <p:cNvPr id="9" name="Picture 8" descr="image8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6779240" y="7187184"/>
            <a:ext cx="457200" cy="457200"/>
          </a:xfrm>
          <a:prstGeom prst="rect">
            <a:avLst/>
          </a:prstGeom>
        </p:spPr>
      </p:pic>
      <p:pic>
        <p:nvPicPr>
          <p:cNvPr id="10" name="Picture 9" descr="image9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6779240" y="8430768"/>
            <a:ext cx="457200" cy="457200"/>
          </a:xfrm>
          <a:prstGeom prst="rect">
            <a:avLst/>
          </a:prstGeom>
        </p:spPr>
      </p:pic>
      <p:pic>
        <p:nvPicPr>
          <p:cNvPr id="11" name="Picture 10" descr="image10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6678655" y="2148840"/>
            <a:ext cx="685800" cy="9144"/>
          </a:xfrm>
          <a:prstGeom prst="rect">
            <a:avLst/>
          </a:prstGeom>
        </p:spPr>
      </p:pic>
      <p:pic>
        <p:nvPicPr>
          <p:cNvPr id="12" name="Picture 11" descr="image10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6678655" y="3355848"/>
            <a:ext cx="685800" cy="9144"/>
          </a:xfrm>
          <a:prstGeom prst="rect">
            <a:avLst/>
          </a:prstGeom>
        </p:spPr>
      </p:pic>
      <p:pic>
        <p:nvPicPr>
          <p:cNvPr id="13" name="Picture 12" descr="image10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6678655" y="4544568"/>
            <a:ext cx="685800" cy="9144"/>
          </a:xfrm>
          <a:prstGeom prst="rect">
            <a:avLst/>
          </a:prstGeom>
        </p:spPr>
      </p:pic>
      <p:pic>
        <p:nvPicPr>
          <p:cNvPr id="14" name="Picture 13" descr="image10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6678655" y="5742432"/>
            <a:ext cx="685800" cy="9144"/>
          </a:xfrm>
          <a:prstGeom prst="rect">
            <a:avLst/>
          </a:prstGeom>
        </p:spPr>
      </p:pic>
      <p:pic>
        <p:nvPicPr>
          <p:cNvPr id="15" name="Picture 14" descr="image10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6678655" y="6766560"/>
            <a:ext cx="685800" cy="9144"/>
          </a:xfrm>
          <a:prstGeom prst="rect">
            <a:avLst/>
          </a:prstGeom>
        </p:spPr>
      </p:pic>
      <p:pic>
        <p:nvPicPr>
          <p:cNvPr id="16" name="Picture 15" descr="image10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6678655" y="7964424"/>
            <a:ext cx="685800" cy="9144"/>
          </a:xfrm>
          <a:prstGeom prst="rect">
            <a:avLst/>
          </a:prstGeom>
        </p:spPr>
      </p:pic>
      <p:pic>
        <p:nvPicPr>
          <p:cNvPr id="17" name="Picture 16" descr="image11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618488" y="1481328"/>
            <a:ext cx="2112264" cy="32004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3831336" y="1499616"/>
            <a:ext cx="2377440" cy="301752"/>
          </a:xfrm>
          <a:prstGeom prst="rect">
            <a:avLst/>
          </a:prstGeom>
          <a:noFill/>
        </p:spPr>
        <p:txBody>
          <a:bodyPr wrap="square" lIns="45720" rIns="45720" tIns="18288" bIns="18288" anchor="t">
            <a:noAutofit/>
          </a:bodyPr>
          <a:lstStyle/>
          <a:p>
            <a:pPr algn="l"/>
            <a:r>
              <a:rPr sz="1400" b="0">
                <a:solidFill>
                  <a:srgbClr val="858585"/>
                </a:solidFill>
                <a:latin typeface="Pretendard"/>
              </a:rPr>
              <a:t>FIRST C&amp;D Inc.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057400" y="2249424"/>
            <a:ext cx="13487400" cy="2615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noAutofit/>
          </a:bodyPr>
          <a:lstStyle/>
          <a:p>
            <a:pPr algn="l">
              <a:lnSpc>
                <a:spcPct val="112000"/>
              </a:lnSpc>
            </a:pPr>
            <a:r>
              <a:rPr sz="5000" b="1">
                <a:solidFill>
                  <a:srgbClr val="111111"/>
                </a:solidFill>
                <a:latin typeface="Pretendard SemiBold"/>
              </a:rPr>
              <a:t>마음이음 AI 모델 선정 · 가격 정책</a:t>
            </a:r>
          </a:p>
          <a:p>
            <a:pPr algn="l">
              <a:lnSpc>
                <a:spcPct val="112000"/>
              </a:lnSpc>
            </a:pPr>
            <a:r>
              <a:rPr sz="5000" b="1">
                <a:solidFill>
                  <a:srgbClr val="111111"/>
                </a:solidFill>
                <a:latin typeface="Pretendard SemiBold"/>
              </a:rPr>
              <a:t xml:space="preserve">타사 비교 기반 </a:t>
            </a:r>
            <a:r>
              <a:rPr sz="5000" b="1">
                <a:solidFill>
                  <a:srgbClr val="4081ED"/>
                </a:solidFill>
                <a:latin typeface="Pretendard SemiBold"/>
              </a:rPr>
              <a:t>적정 가격 · 사용량</a:t>
            </a:r>
            <a:r>
              <a:rPr sz="5000" b="1">
                <a:solidFill>
                  <a:srgbClr val="111111"/>
                </a:solidFill>
                <a:latin typeface="Pretendard SemiBold"/>
              </a:rPr>
              <a:t> 산정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715000" y="6208776"/>
            <a:ext cx="5093208" cy="704088"/>
          </a:xfrm>
          <a:prstGeom prst="rect">
            <a:avLst/>
          </a:prstGeom>
          <a:noFill/>
        </p:spPr>
        <p:txBody>
          <a:bodyPr wrap="square" lIns="45720" rIns="45720" tIns="18288" bIns="18288" anchor="t">
            <a:noAutofit/>
          </a:bodyPr>
          <a:lstStyle/>
          <a:p>
            <a:pPr algn="ctr"/>
            <a:r>
              <a:rPr sz="2800" b="1">
                <a:solidFill>
                  <a:srgbClr val="111111"/>
                </a:solidFill>
                <a:latin typeface="Pretendard SemiBold"/>
              </a:rPr>
              <a:t>㈜퍼스트씨앤디</a:t>
            </a:r>
          </a:p>
        </p:txBody>
      </p:sp>
      <p:pic>
        <p:nvPicPr>
          <p:cNvPr id="21" name="Picture 20" descr="image12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2176272" y="7205472"/>
            <a:ext cx="12810744" cy="9144"/>
          </a:xfrm>
          <a:prstGeom prst="rect">
            <a:avLst/>
          </a:prstGeom>
        </p:spPr>
      </p:pic>
      <p:pic>
        <p:nvPicPr>
          <p:cNvPr id="22" name="Picture 21" descr="image13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2221992" y="7571231"/>
            <a:ext cx="1956816" cy="466344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2221992" y="7671816"/>
            <a:ext cx="1956816" cy="283464"/>
          </a:xfrm>
          <a:prstGeom prst="rect">
            <a:avLst/>
          </a:prstGeom>
          <a:noFill/>
        </p:spPr>
        <p:txBody>
          <a:bodyPr wrap="square" lIns="45720" rIns="45720" tIns="18288" bIns="18288" anchor="t">
            <a:noAutofit/>
          </a:bodyPr>
          <a:lstStyle/>
          <a:p>
            <a:pPr algn="ctr"/>
            <a:r>
              <a:rPr sz="1300" b="0">
                <a:solidFill>
                  <a:srgbClr val="FFFFFF"/>
                </a:solidFill>
                <a:latin typeface="Pretendard"/>
              </a:rPr>
              <a:t>내부 자료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35424" y="7644383"/>
            <a:ext cx="11521440" cy="301752"/>
          </a:xfrm>
          <a:prstGeom prst="rect">
            <a:avLst/>
          </a:prstGeom>
          <a:noFill/>
        </p:spPr>
        <p:txBody>
          <a:bodyPr wrap="square" lIns="45720" rIns="45720" tIns="18288" bIns="18288" anchor="t">
            <a:noAutofit/>
          </a:bodyPr>
          <a:lstStyle/>
          <a:p>
            <a:pPr algn="l"/>
            <a:r>
              <a:rPr sz="1300" b="0">
                <a:solidFill>
                  <a:srgbClr val="858585"/>
                </a:solidFill>
                <a:latin typeface="Pretendard"/>
              </a:rPr>
              <a:t>2026. 10. 1.   ㅣ   실측 280시행 · 적응형 30턴 대화   ㅣ   타사 벤치마크 반영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1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261872"/>
            <a:ext cx="16980408" cy="8449056"/>
          </a:xfrm>
          <a:prstGeom prst="rect">
            <a:avLst/>
          </a:prstGeom>
        </p:spPr>
      </p:pic>
      <p:pic>
        <p:nvPicPr>
          <p:cNvPr id="3" name="Picture 2" descr="image1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368" y="530352"/>
            <a:ext cx="16952976" cy="69494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536192" y="713232"/>
            <a:ext cx="274320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noAutofit/>
          </a:bodyPr>
          <a:lstStyle/>
          <a:p>
            <a:pPr algn="l"/>
            <a:r>
              <a:rPr sz="1300" b="0">
                <a:solidFill>
                  <a:srgbClr val="FFFFFF"/>
                </a:solidFill>
                <a:latin typeface="Pretendard"/>
              </a:rPr>
              <a:t>FIRST C&amp;D</a:t>
            </a:r>
          </a:p>
        </p:txBody>
      </p:sp>
      <p:pic>
        <p:nvPicPr>
          <p:cNvPr id="5" name="Picture 4" descr="image1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435072" y="758952"/>
            <a:ext cx="237744" cy="219456"/>
          </a:xfrm>
          <a:prstGeom prst="rect">
            <a:avLst/>
          </a:prstGeom>
        </p:spPr>
      </p:pic>
      <p:pic>
        <p:nvPicPr>
          <p:cNvPr id="6" name="Picture 5" descr="image17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5937992" y="685800"/>
            <a:ext cx="365760" cy="365760"/>
          </a:xfrm>
          <a:prstGeom prst="rect">
            <a:avLst/>
          </a:prstGeom>
        </p:spPr>
      </p:pic>
      <p:pic>
        <p:nvPicPr>
          <p:cNvPr id="7" name="Picture 6" descr="image18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6587216" y="740664"/>
            <a:ext cx="256032" cy="265176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764792" y="1764792"/>
            <a:ext cx="1499616" cy="1179576"/>
          </a:xfrm>
          <a:prstGeom prst="rect">
            <a:avLst/>
          </a:prstGeom>
          <a:noFill/>
        </p:spPr>
        <p:txBody>
          <a:bodyPr wrap="square" lIns="45720" rIns="45720" tIns="18288" bIns="18288" anchor="t">
            <a:noAutofit/>
          </a:bodyPr>
          <a:lstStyle/>
          <a:p>
            <a:pPr algn="l"/>
            <a:r>
              <a:rPr sz="6600" b="1">
                <a:solidFill>
                  <a:srgbClr val="4081ED"/>
                </a:solidFill>
                <a:latin typeface="Pretendard SemiBold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66744" y="1828800"/>
            <a:ext cx="13551408" cy="106984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noAutofit/>
          </a:bodyPr>
          <a:lstStyle/>
          <a:p>
            <a:pPr algn="l"/>
            <a:r>
              <a:rPr sz="4000" b="1">
                <a:solidFill>
                  <a:srgbClr val="111111"/>
                </a:solidFill>
                <a:latin typeface="Pretendard SemiBold"/>
              </a:rPr>
              <a:t>한눈에 보는 결론</a:t>
            </a:r>
          </a:p>
        </p:txBody>
      </p:sp>
      <p:pic>
        <p:nvPicPr>
          <p:cNvPr id="10" name="Picture 9" descr="image19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380744" y="3090672"/>
            <a:ext cx="15517367" cy="9144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2130552" y="3465576"/>
            <a:ext cx="2468880" cy="475488"/>
          </a:xfrm>
          <a:prstGeom prst="roundRect">
            <a:avLst>
              <a:gd name="adj" fmla="val 50000"/>
            </a:avLst>
          </a:prstGeom>
          <a:solidFill>
            <a:srgbClr val="3E7E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>
            <a:no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Pretendard SemiBold"/>
              </a:rPr>
              <a:t>핵심 요약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157448" y="9893808"/>
            <a:ext cx="548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noAutofit/>
          </a:bodyPr>
          <a:lstStyle/>
          <a:p>
            <a:pPr algn="r"/>
            <a:r>
              <a:rPr sz="1200" b="0">
                <a:solidFill>
                  <a:srgbClr val="858585"/>
                </a:solidFill>
                <a:latin typeface="Pretendard"/>
              </a:rPr>
              <a:t>2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764792" y="4343400"/>
            <a:ext cx="4572000" cy="3063240"/>
          </a:xfrm>
          <a:prstGeom prst="roundRect">
            <a:avLst>
              <a:gd name="adj" fmla="val 6000"/>
            </a:avLst>
          </a:prstGeom>
          <a:solidFill>
            <a:srgbClr val="EEF3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rIns="256032">
            <a:noAutofit/>
          </a:bodyPr>
          <a:lstStyle/>
          <a:p>
            <a:pPr algn="ctr">
              <a:spcAft>
                <a:spcPts val="800"/>
              </a:spcAft>
            </a:pPr>
            <a:r>
              <a:rPr sz="2400" b="1">
                <a:solidFill>
                  <a:srgbClr val="4081ED"/>
                </a:solidFill>
                <a:latin typeface="Pretendard SemiBold"/>
              </a:rPr>
              <a:t>①</a:t>
            </a:r>
          </a:p>
          <a:p>
            <a:pPr algn="ctr"/>
            <a:r>
              <a:rPr sz="2400" b="1">
                <a:solidFill>
                  <a:srgbClr val="4081ED"/>
                </a:solidFill>
                <a:latin typeface="Pretendard SemiBold"/>
              </a:rPr>
              <a:t>모델은 확정됐다</a:t>
            </a:r>
          </a:p>
          <a:p>
            <a:pPr algn="ctr"/>
            <a:r>
              <a:rPr sz="2400" b="1">
                <a:solidFill>
                  <a:srgbClr val="4081ED"/>
                </a:solidFill>
                <a:latin typeface="Pretendard SemiBold"/>
              </a:rPr>
              <a:t>확인 턴만 3.8-flash</a:t>
            </a:r>
          </a:p>
          <a:p>
            <a:pPr algn="ctr"/>
            <a:r>
              <a:rPr sz="2400" b="1">
                <a:solidFill>
                  <a:srgbClr val="4081ED"/>
                </a:solidFill>
                <a:latin typeface="Pretendard SemiBold"/>
              </a:rPr>
              <a:t>지시 준수 56/56 (100%)</a:t>
            </a:r>
          </a:p>
          <a:p>
            <a:pPr algn="ctr"/>
            <a:r>
              <a:rPr sz="2400" b="1">
                <a:solidFill>
                  <a:srgbClr val="4081ED"/>
                </a:solidFill>
                <a:latin typeface="Pretendard SemiBold"/>
              </a:rPr>
              <a:t>턴당 9.6원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885432" y="4343400"/>
            <a:ext cx="4572000" cy="3063240"/>
          </a:xfrm>
          <a:prstGeom prst="roundRect">
            <a:avLst>
              <a:gd name="adj" fmla="val 6000"/>
            </a:avLst>
          </a:prstGeom>
          <a:solidFill>
            <a:srgbClr val="EEF3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rIns="256032">
            <a:noAutofit/>
          </a:bodyPr>
          <a:lstStyle/>
          <a:p>
            <a:pPr algn="ctr">
              <a:spcAft>
                <a:spcPts val="800"/>
              </a:spcAft>
            </a:pPr>
            <a:r>
              <a:rPr sz="2400" b="1">
                <a:solidFill>
                  <a:srgbClr val="4081ED"/>
                </a:solidFill>
                <a:latin typeface="Pretendard SemiBold"/>
              </a:rPr>
              <a:t>②</a:t>
            </a:r>
          </a:p>
          <a:p>
            <a:pPr algn="ctr"/>
            <a:r>
              <a:rPr sz="2400" b="1">
                <a:solidFill>
                  <a:srgbClr val="4081ED"/>
                </a:solidFill>
                <a:latin typeface="Pretendard SemiBold"/>
              </a:rPr>
              <a:t>우리는 '말벗' 사용량</a:t>
            </a:r>
          </a:p>
          <a:p>
            <a:pPr algn="ctr"/>
            <a:r>
              <a:rPr sz="2400" b="1">
                <a:solidFill>
                  <a:srgbClr val="4081ED"/>
                </a:solidFill>
                <a:latin typeface="Pretendard SemiBold"/>
              </a:rPr>
              <a:t>Replika 하루 70건</a:t>
            </a:r>
          </a:p>
          <a:p>
            <a:pPr algn="ctr"/>
            <a:r>
              <a:rPr sz="2400" b="1">
                <a:solidFill>
                  <a:srgbClr val="4081ED"/>
                </a:solidFill>
                <a:latin typeface="Pretendard SemiBold"/>
              </a:rPr>
              <a:t>클로바 케어콜 주 2회</a:t>
            </a:r>
          </a:p>
          <a:p>
            <a:pPr algn="ctr"/>
            <a:r>
              <a:rPr sz="2400" b="1">
                <a:solidFill>
                  <a:srgbClr val="4081ED"/>
                </a:solidFill>
                <a:latin typeface="Pretendard SemiBold"/>
              </a:rPr>
              <a:t>상한 없으면 원가 무한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2006072" y="4343400"/>
            <a:ext cx="4572000" cy="3063240"/>
          </a:xfrm>
          <a:prstGeom prst="roundRect">
            <a:avLst>
              <a:gd name="adj" fmla="val 6000"/>
            </a:avLst>
          </a:prstGeom>
          <a:solidFill>
            <a:srgbClr val="EEF3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rIns="256032">
            <a:noAutofit/>
          </a:bodyPr>
          <a:lstStyle/>
          <a:p>
            <a:pPr algn="ctr">
              <a:spcAft>
                <a:spcPts val="800"/>
              </a:spcAft>
            </a:pPr>
            <a:r>
              <a:rPr sz="2400" b="1">
                <a:solidFill>
                  <a:srgbClr val="4081ED"/>
                </a:solidFill>
                <a:latin typeface="Pretendard SemiBold"/>
              </a:rPr>
              <a:t>③</a:t>
            </a:r>
          </a:p>
          <a:p>
            <a:pPr algn="ctr"/>
            <a:r>
              <a:rPr sz="2400" b="1">
                <a:solidFill>
                  <a:srgbClr val="4081ED"/>
                </a:solidFill>
                <a:latin typeface="Pretendard SemiBold"/>
              </a:rPr>
              <a:t>권장 가격</a:t>
            </a:r>
          </a:p>
          <a:p>
            <a:pPr algn="ctr"/>
            <a:r>
              <a:rPr sz="2400" b="1">
                <a:solidFill>
                  <a:srgbClr val="4081ED"/>
                </a:solidFill>
                <a:latin typeface="Pretendard SemiBold"/>
              </a:rPr>
              <a:t>무료 20턴 · 유료 50턴</a:t>
            </a:r>
          </a:p>
          <a:p>
            <a:pPr algn="ctr"/>
            <a:r>
              <a:rPr sz="2400" b="1">
                <a:solidFill>
                  <a:srgbClr val="4081ED"/>
                </a:solidFill>
                <a:latin typeface="Pretendard SemiBold"/>
              </a:rPr>
              <a:t>월 19,900원</a:t>
            </a:r>
          </a:p>
          <a:p>
            <a:pPr algn="ctr"/>
            <a:r>
              <a:rPr sz="2400" b="1">
                <a:solidFill>
                  <a:srgbClr val="4081ED"/>
                </a:solidFill>
                <a:latin typeface="Pretendard SemiBold"/>
              </a:rPr>
              <a:t>최악 가정에도 흑자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764792" y="7955279"/>
            <a:ext cx="14813280" cy="868680"/>
          </a:xfrm>
          <a:prstGeom prst="roundRect">
            <a:avLst>
              <a:gd name="adj" fmla="val 30000"/>
            </a:avLst>
          </a:prstGeom>
          <a:solidFill>
            <a:srgbClr val="3E7E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>
            <a:noAutofit/>
          </a:bodyPr>
          <a:lstStyle/>
          <a:p>
            <a:pPr algn="ctr"/>
            <a:r>
              <a:rPr sz="1900" b="1">
                <a:solidFill>
                  <a:srgbClr val="FFFFFF"/>
                </a:solidFill>
                <a:latin typeface="Pretendard SemiBold"/>
              </a:rPr>
              <a:t>모델 최적화는 끝났고 남은 변수는 가격 — 업계 무료 상한(50~70건)과 우리 원가(턴당 9.6원)가 가격 하한을 결정한다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1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261872"/>
            <a:ext cx="16980408" cy="8449056"/>
          </a:xfrm>
          <a:prstGeom prst="rect">
            <a:avLst/>
          </a:prstGeom>
        </p:spPr>
      </p:pic>
      <p:pic>
        <p:nvPicPr>
          <p:cNvPr id="3" name="Picture 2" descr="image1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368" y="530352"/>
            <a:ext cx="16952976" cy="69494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536192" y="713232"/>
            <a:ext cx="274320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noAutofit/>
          </a:bodyPr>
          <a:lstStyle/>
          <a:p>
            <a:pPr algn="l"/>
            <a:r>
              <a:rPr sz="1300" b="0">
                <a:solidFill>
                  <a:srgbClr val="FFFFFF"/>
                </a:solidFill>
                <a:latin typeface="Pretendard"/>
              </a:rPr>
              <a:t>FIRST C&amp;D</a:t>
            </a:r>
          </a:p>
        </p:txBody>
      </p:sp>
      <p:pic>
        <p:nvPicPr>
          <p:cNvPr id="5" name="Picture 4" descr="image1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435072" y="758952"/>
            <a:ext cx="237744" cy="219456"/>
          </a:xfrm>
          <a:prstGeom prst="rect">
            <a:avLst/>
          </a:prstGeom>
        </p:spPr>
      </p:pic>
      <p:pic>
        <p:nvPicPr>
          <p:cNvPr id="6" name="Picture 5" descr="image17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5937992" y="685800"/>
            <a:ext cx="365760" cy="365760"/>
          </a:xfrm>
          <a:prstGeom prst="rect">
            <a:avLst/>
          </a:prstGeom>
        </p:spPr>
      </p:pic>
      <p:pic>
        <p:nvPicPr>
          <p:cNvPr id="7" name="Picture 6" descr="image18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6587216" y="740664"/>
            <a:ext cx="256032" cy="265176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764792" y="1764792"/>
            <a:ext cx="1499616" cy="1179576"/>
          </a:xfrm>
          <a:prstGeom prst="rect">
            <a:avLst/>
          </a:prstGeom>
          <a:noFill/>
        </p:spPr>
        <p:txBody>
          <a:bodyPr wrap="square" lIns="45720" rIns="45720" tIns="18288" bIns="18288" anchor="t">
            <a:noAutofit/>
          </a:bodyPr>
          <a:lstStyle/>
          <a:p>
            <a:pPr algn="l"/>
            <a:r>
              <a:rPr sz="6600" b="1">
                <a:solidFill>
                  <a:srgbClr val="4081ED"/>
                </a:solidFill>
                <a:latin typeface="Pretendard SemiBold"/>
              </a:rPr>
              <a:t>02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66744" y="1828800"/>
            <a:ext cx="13551408" cy="106984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noAutofit/>
          </a:bodyPr>
          <a:lstStyle/>
          <a:p>
            <a:pPr algn="l"/>
            <a:r>
              <a:rPr sz="4000" b="1">
                <a:solidFill>
                  <a:srgbClr val="111111"/>
                </a:solidFill>
                <a:latin typeface="Pretendard SemiBold"/>
              </a:rPr>
              <a:t>모델 선정 — 지시 준수 전수 측정</a:t>
            </a:r>
          </a:p>
        </p:txBody>
      </p:sp>
      <p:pic>
        <p:nvPicPr>
          <p:cNvPr id="10" name="Picture 9" descr="image19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380744" y="3090672"/>
            <a:ext cx="15517367" cy="9144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2130552" y="3465576"/>
            <a:ext cx="3108960" cy="475488"/>
          </a:xfrm>
          <a:prstGeom prst="roundRect">
            <a:avLst>
              <a:gd name="adj" fmla="val 50000"/>
            </a:avLst>
          </a:prstGeom>
          <a:solidFill>
            <a:srgbClr val="3E7E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>
            <a:no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Pretendard SemiBold"/>
              </a:rPr>
              <a:t>5모델 280시행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157448" y="9893808"/>
            <a:ext cx="548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noAutofit/>
          </a:bodyPr>
          <a:lstStyle/>
          <a:p>
            <a:pPr algn="r"/>
            <a:r>
              <a:rPr sz="1200" b="0">
                <a:solidFill>
                  <a:srgbClr val="858585"/>
                </a:solidFill>
                <a:latin typeface="Pretendard"/>
              </a:rPr>
              <a:t>3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1764792" y="4050791"/>
          <a:ext cx="8503920" cy="43434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4297680"/>
                <a:gridCol w="4206240"/>
              </a:tblGrid>
              <a:tr h="434340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111111"/>
                          </a:solidFill>
                          <a:latin typeface="Pretendard SemiBold"/>
                        </a:rPr>
                        <a:t>모델</a:t>
                      </a:r>
                    </a:p>
                  </a:txBody>
                  <a:tcPr anchor="ctr" marL="128016" marR="91440" marT="27432" marB="27432">
                    <a:solidFill>
                      <a:srgbClr val="DCE6F2"/>
                    </a:solidFill>
                    <a:lnL w="9525" cap="flat" cmpd="sng" algn="ctr">
                      <a:solidFill>
                        <a:srgbClr val="D8DEE6"/>
                      </a:solidFill>
                    </a:lnL>
                    <a:lnR w="9525" cap="flat" cmpd="sng" algn="ctr">
                      <a:solidFill>
                        <a:srgbClr val="D8DEE6"/>
                      </a:solidFill>
                    </a:lnR>
                    <a:lnT w="9525" cap="flat" cmpd="sng" algn="ctr">
                      <a:solidFill>
                        <a:srgbClr val="D8DEE6"/>
                      </a:solidFill>
                    </a:lnT>
                    <a:lnB w="9525" cap="flat" cmpd="sng" algn="ctr">
                      <a:solidFill>
                        <a:srgbClr val="D8DEE6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500" b="1">
                          <a:solidFill>
                            <a:srgbClr val="111111"/>
                          </a:solidFill>
                          <a:latin typeface="Pretendard SemiBold"/>
                        </a:rPr>
                        <a:t>지시 준수  ·  턴당 원가</a:t>
                      </a:r>
                    </a:p>
                  </a:txBody>
                  <a:tcPr anchor="ctr" marL="128016" marR="91440" marT="27432" marB="27432">
                    <a:solidFill>
                      <a:srgbClr val="DCE6F2"/>
                    </a:solidFill>
                    <a:lnL w="9525" cap="flat" cmpd="sng" algn="ctr">
                      <a:solidFill>
                        <a:srgbClr val="D8DEE6"/>
                      </a:solidFill>
                    </a:lnL>
                    <a:lnR w="9525" cap="flat" cmpd="sng" algn="ctr">
                      <a:solidFill>
                        <a:srgbClr val="D8DEE6"/>
                      </a:solidFill>
                    </a:lnR>
                    <a:lnT w="9525" cap="flat" cmpd="sng" algn="ctr">
                      <a:solidFill>
                        <a:srgbClr val="D8DEE6"/>
                      </a:solidFill>
                    </a:lnT>
                    <a:lnB w="9525" cap="flat" cmpd="sng" algn="ctr">
                      <a:solidFill>
                        <a:srgbClr val="D8DEE6"/>
                      </a:solidFill>
                    </a:lnB>
                  </a:tcPr>
                </a:tc>
              </a:tr>
              <a:tr h="434340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333333"/>
                          </a:solidFill>
                          <a:latin typeface="Pretendard"/>
                        </a:rPr>
                        <a:t>gemini-2.5-flash (기존)</a:t>
                      </a:r>
                    </a:p>
                  </a:txBody>
                  <a:tcPr anchor="ctr" marL="128016" marR="91440" marT="27432" marB="27432">
                    <a:solidFill>
                      <a:srgbClr val="FFFFFF"/>
                    </a:solidFill>
                    <a:lnL w="9525" cap="flat" cmpd="sng" algn="ctr">
                      <a:solidFill>
                        <a:srgbClr val="D8DEE6"/>
                      </a:solidFill>
                    </a:lnL>
                    <a:lnR w="9525" cap="flat" cmpd="sng" algn="ctr">
                      <a:solidFill>
                        <a:srgbClr val="D8DEE6"/>
                      </a:solidFill>
                    </a:lnR>
                    <a:lnT w="9525" cap="flat" cmpd="sng" algn="ctr">
                      <a:solidFill>
                        <a:srgbClr val="D8DEE6"/>
                      </a:solidFill>
                    </a:lnT>
                    <a:lnB w="9525" cap="flat" cmpd="sng" algn="ctr">
                      <a:solidFill>
                        <a:srgbClr val="D8DEE6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 b="0">
                          <a:solidFill>
                            <a:srgbClr val="111111"/>
                          </a:solidFill>
                          <a:latin typeface="Pretendard"/>
                        </a:rPr>
                        <a:t>52/56 (93%)  ·  $0.0045</a:t>
                      </a:r>
                    </a:p>
                  </a:txBody>
                  <a:tcPr anchor="ctr" marL="128016" marR="91440" marT="27432" marB="27432">
                    <a:solidFill>
                      <a:srgbClr val="FFFFFF"/>
                    </a:solidFill>
                    <a:lnL w="9525" cap="flat" cmpd="sng" algn="ctr">
                      <a:solidFill>
                        <a:srgbClr val="D8DEE6"/>
                      </a:solidFill>
                    </a:lnL>
                    <a:lnR w="9525" cap="flat" cmpd="sng" algn="ctr">
                      <a:solidFill>
                        <a:srgbClr val="D8DEE6"/>
                      </a:solidFill>
                    </a:lnR>
                    <a:lnT w="9525" cap="flat" cmpd="sng" algn="ctr">
                      <a:solidFill>
                        <a:srgbClr val="D8DEE6"/>
                      </a:solidFill>
                    </a:lnT>
                    <a:lnB w="9525" cap="flat" cmpd="sng" algn="ctr">
                      <a:solidFill>
                        <a:srgbClr val="D8DEE6"/>
                      </a:solidFill>
                    </a:lnB>
                  </a:tcPr>
                </a:tc>
              </a:tr>
              <a:tr h="434340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333333"/>
                          </a:solidFill>
                          <a:latin typeface="Pretendard"/>
                        </a:rPr>
                        <a:t>gemini-3.1-flash-lite</a:t>
                      </a:r>
                    </a:p>
                  </a:txBody>
                  <a:tcPr anchor="ctr" marL="128016" marR="91440" marT="27432" marB="27432">
                    <a:solidFill>
                      <a:srgbClr val="FFFFFF"/>
                    </a:solidFill>
                    <a:lnL w="9525" cap="flat" cmpd="sng" algn="ctr">
                      <a:solidFill>
                        <a:srgbClr val="D8DEE6"/>
                      </a:solidFill>
                    </a:lnL>
                    <a:lnR w="9525" cap="flat" cmpd="sng" algn="ctr">
                      <a:solidFill>
                        <a:srgbClr val="D8DEE6"/>
                      </a:solidFill>
                    </a:lnR>
                    <a:lnT w="9525" cap="flat" cmpd="sng" algn="ctr">
                      <a:solidFill>
                        <a:srgbClr val="D8DEE6"/>
                      </a:solidFill>
                    </a:lnT>
                    <a:lnB w="9525" cap="flat" cmpd="sng" algn="ctr">
                      <a:solidFill>
                        <a:srgbClr val="D8DEE6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 b="0">
                          <a:solidFill>
                            <a:srgbClr val="111111"/>
                          </a:solidFill>
                          <a:latin typeface="Pretendard"/>
                        </a:rPr>
                        <a:t>51/56 (91%)  ·  $0.0045</a:t>
                      </a:r>
                    </a:p>
                  </a:txBody>
                  <a:tcPr anchor="ctr" marL="128016" marR="91440" marT="27432" marB="27432">
                    <a:solidFill>
                      <a:srgbClr val="FFFFFF"/>
                    </a:solidFill>
                    <a:lnL w="9525" cap="flat" cmpd="sng" algn="ctr">
                      <a:solidFill>
                        <a:srgbClr val="D8DEE6"/>
                      </a:solidFill>
                    </a:lnL>
                    <a:lnR w="9525" cap="flat" cmpd="sng" algn="ctr">
                      <a:solidFill>
                        <a:srgbClr val="D8DEE6"/>
                      </a:solidFill>
                    </a:lnR>
                    <a:lnT w="9525" cap="flat" cmpd="sng" algn="ctr">
                      <a:solidFill>
                        <a:srgbClr val="D8DEE6"/>
                      </a:solidFill>
                    </a:lnT>
                    <a:lnB w="9525" cap="flat" cmpd="sng" algn="ctr">
                      <a:solidFill>
                        <a:srgbClr val="D8DEE6"/>
                      </a:solidFill>
                    </a:lnB>
                  </a:tcPr>
                </a:tc>
              </a:tr>
              <a:tr h="434340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333333"/>
                          </a:solidFill>
                          <a:latin typeface="Pretendard"/>
                        </a:rPr>
                        <a:t>gemini-3.5-flash-lite</a:t>
                      </a:r>
                    </a:p>
                  </a:txBody>
                  <a:tcPr anchor="ctr" marL="128016" marR="91440" marT="27432" marB="27432">
                    <a:solidFill>
                      <a:srgbClr val="FFFFFF"/>
                    </a:solidFill>
                    <a:lnL w="9525" cap="flat" cmpd="sng" algn="ctr">
                      <a:solidFill>
                        <a:srgbClr val="D8DEE6"/>
                      </a:solidFill>
                    </a:lnL>
                    <a:lnR w="9525" cap="flat" cmpd="sng" algn="ctr">
                      <a:solidFill>
                        <a:srgbClr val="D8DEE6"/>
                      </a:solidFill>
                    </a:lnR>
                    <a:lnT w="9525" cap="flat" cmpd="sng" algn="ctr">
                      <a:solidFill>
                        <a:srgbClr val="D8DEE6"/>
                      </a:solidFill>
                    </a:lnT>
                    <a:lnB w="9525" cap="flat" cmpd="sng" algn="ctr">
                      <a:solidFill>
                        <a:srgbClr val="D8DEE6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 b="0">
                          <a:solidFill>
                            <a:srgbClr val="111111"/>
                          </a:solidFill>
                          <a:latin typeface="Pretendard"/>
                        </a:rPr>
                        <a:t>50/56 (89%)  ·  $0.0059</a:t>
                      </a:r>
                    </a:p>
                  </a:txBody>
                  <a:tcPr anchor="ctr" marL="128016" marR="91440" marT="27432" marB="27432">
                    <a:solidFill>
                      <a:srgbClr val="FFFFFF"/>
                    </a:solidFill>
                    <a:lnL w="9525" cap="flat" cmpd="sng" algn="ctr">
                      <a:solidFill>
                        <a:srgbClr val="D8DEE6"/>
                      </a:solidFill>
                    </a:lnL>
                    <a:lnR w="9525" cap="flat" cmpd="sng" algn="ctr">
                      <a:solidFill>
                        <a:srgbClr val="D8DEE6"/>
                      </a:solidFill>
                    </a:lnR>
                    <a:lnT w="9525" cap="flat" cmpd="sng" algn="ctr">
                      <a:solidFill>
                        <a:srgbClr val="D8DEE6"/>
                      </a:solidFill>
                    </a:lnT>
                    <a:lnB w="9525" cap="flat" cmpd="sng" algn="ctr">
                      <a:solidFill>
                        <a:srgbClr val="D8DEE6"/>
                      </a:solidFill>
                    </a:lnB>
                  </a:tcPr>
                </a:tc>
              </a:tr>
              <a:tr h="434340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333333"/>
                          </a:solidFill>
                          <a:latin typeface="Pretendard"/>
                        </a:rPr>
                        <a:t>gemini-3-flash-preview</a:t>
                      </a:r>
                    </a:p>
                  </a:txBody>
                  <a:tcPr anchor="ctr" marL="128016" marR="91440" marT="27432" marB="27432">
                    <a:solidFill>
                      <a:srgbClr val="FFFFFF"/>
                    </a:solidFill>
                    <a:lnL w="9525" cap="flat" cmpd="sng" algn="ctr">
                      <a:solidFill>
                        <a:srgbClr val="D8DEE6"/>
                      </a:solidFill>
                    </a:lnL>
                    <a:lnR w="9525" cap="flat" cmpd="sng" algn="ctr">
                      <a:solidFill>
                        <a:srgbClr val="D8DEE6"/>
                      </a:solidFill>
                    </a:lnR>
                    <a:lnT w="9525" cap="flat" cmpd="sng" algn="ctr">
                      <a:solidFill>
                        <a:srgbClr val="D8DEE6"/>
                      </a:solidFill>
                    </a:lnT>
                    <a:lnB w="9525" cap="flat" cmpd="sng" algn="ctr">
                      <a:solidFill>
                        <a:srgbClr val="D8DEE6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 b="0">
                          <a:solidFill>
                            <a:srgbClr val="111111"/>
                          </a:solidFill>
                          <a:latin typeface="Pretendard"/>
                        </a:rPr>
                        <a:t>52/56 (93%)  ·  $0.0081</a:t>
                      </a:r>
                    </a:p>
                  </a:txBody>
                  <a:tcPr anchor="ctr" marL="128016" marR="91440" marT="27432" marB="27432">
                    <a:solidFill>
                      <a:srgbClr val="FFFFFF"/>
                    </a:solidFill>
                    <a:lnL w="9525" cap="flat" cmpd="sng" algn="ctr">
                      <a:solidFill>
                        <a:srgbClr val="D8DEE6"/>
                      </a:solidFill>
                    </a:lnL>
                    <a:lnR w="9525" cap="flat" cmpd="sng" algn="ctr">
                      <a:solidFill>
                        <a:srgbClr val="D8DEE6"/>
                      </a:solidFill>
                    </a:lnR>
                    <a:lnT w="9525" cap="flat" cmpd="sng" algn="ctr">
                      <a:solidFill>
                        <a:srgbClr val="D8DEE6"/>
                      </a:solidFill>
                    </a:lnT>
                    <a:lnB w="9525" cap="flat" cmpd="sng" algn="ctr">
                      <a:solidFill>
                        <a:srgbClr val="D8DEE6"/>
                      </a:solidFill>
                    </a:lnB>
                  </a:tcPr>
                </a:tc>
              </a:tr>
              <a:tr h="434340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333333"/>
                          </a:solidFill>
                          <a:latin typeface="Pretendard"/>
                        </a:rPr>
                        <a:t>gemini-3.8-flash (채택)</a:t>
                      </a:r>
                    </a:p>
                  </a:txBody>
                  <a:tcPr anchor="ctr" marL="128016" marR="91440" marT="27432" marB="27432">
                    <a:solidFill>
                      <a:srgbClr val="FFFFFF"/>
                    </a:solidFill>
                    <a:lnL w="9525" cap="flat" cmpd="sng" algn="ctr">
                      <a:solidFill>
                        <a:srgbClr val="D8DEE6"/>
                      </a:solidFill>
                    </a:lnL>
                    <a:lnR w="9525" cap="flat" cmpd="sng" algn="ctr">
                      <a:solidFill>
                        <a:srgbClr val="D8DEE6"/>
                      </a:solidFill>
                    </a:lnR>
                    <a:lnT w="9525" cap="flat" cmpd="sng" algn="ctr">
                      <a:solidFill>
                        <a:srgbClr val="D8DEE6"/>
                      </a:solidFill>
                    </a:lnT>
                    <a:lnB w="9525" cap="flat" cmpd="sng" algn="ctr">
                      <a:solidFill>
                        <a:srgbClr val="D8DEE6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 b="0">
                          <a:solidFill>
                            <a:srgbClr val="111111"/>
                          </a:solidFill>
                          <a:latin typeface="Pretendard"/>
                        </a:rPr>
                        <a:t>56/56 (100%)  ·  $0.0097</a:t>
                      </a:r>
                    </a:p>
                  </a:txBody>
                  <a:tcPr anchor="ctr" marL="128016" marR="91440" marT="27432" marB="27432">
                    <a:solidFill>
                      <a:srgbClr val="FFFFFF"/>
                    </a:solidFill>
                    <a:lnL w="9525" cap="flat" cmpd="sng" algn="ctr">
                      <a:solidFill>
                        <a:srgbClr val="D8DEE6"/>
                      </a:solidFill>
                    </a:lnL>
                    <a:lnR w="9525" cap="flat" cmpd="sng" algn="ctr">
                      <a:solidFill>
                        <a:srgbClr val="D8DEE6"/>
                      </a:solidFill>
                    </a:lnR>
                    <a:lnT w="9525" cap="flat" cmpd="sng" algn="ctr">
                      <a:solidFill>
                        <a:srgbClr val="D8DEE6"/>
                      </a:solidFill>
                    </a:lnT>
                    <a:lnB w="9525" cap="flat" cmpd="sng" algn="ctr">
                      <a:solidFill>
                        <a:srgbClr val="D8DEE6"/>
                      </a:solidFill>
                    </a:lnB>
                  </a:tcPr>
                </a:tc>
              </a:tr>
              <a:tr h="434340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333333"/>
                          </a:solidFill>
                          <a:latin typeface="Pretendard"/>
                        </a:rPr>
                        <a:t>측정 규모</a:t>
                      </a:r>
                    </a:p>
                  </a:txBody>
                  <a:tcPr anchor="ctr" marL="128016" marR="91440" marT="27432" marB="27432">
                    <a:solidFill>
                      <a:srgbClr val="FFFFFF"/>
                    </a:solidFill>
                    <a:lnL w="9525" cap="flat" cmpd="sng" algn="ctr">
                      <a:solidFill>
                        <a:srgbClr val="D8DEE6"/>
                      </a:solidFill>
                    </a:lnL>
                    <a:lnR w="9525" cap="flat" cmpd="sng" algn="ctr">
                      <a:solidFill>
                        <a:srgbClr val="D8DEE6"/>
                      </a:solidFill>
                    </a:lnR>
                    <a:lnT w="9525" cap="flat" cmpd="sng" algn="ctr">
                      <a:solidFill>
                        <a:srgbClr val="D8DEE6"/>
                      </a:solidFill>
                    </a:lnT>
                    <a:lnB w="9525" cap="flat" cmpd="sng" algn="ctr">
                      <a:solidFill>
                        <a:srgbClr val="D8DEE6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 b="0">
                          <a:solidFill>
                            <a:srgbClr val="111111"/>
                          </a:solidFill>
                          <a:latin typeface="Pretendard"/>
                        </a:rPr>
                        <a:t>5모델 × 7영역 × 8회 = 280시행</a:t>
                      </a:r>
                    </a:p>
                  </a:txBody>
                  <a:tcPr anchor="ctr" marL="128016" marR="91440" marT="27432" marB="27432">
                    <a:solidFill>
                      <a:srgbClr val="FFFFFF"/>
                    </a:solidFill>
                    <a:lnL w="9525" cap="flat" cmpd="sng" algn="ctr">
                      <a:solidFill>
                        <a:srgbClr val="D8DEE6"/>
                      </a:solidFill>
                    </a:lnL>
                    <a:lnR w="9525" cap="flat" cmpd="sng" algn="ctr">
                      <a:solidFill>
                        <a:srgbClr val="D8DEE6"/>
                      </a:solidFill>
                    </a:lnR>
                    <a:lnT w="9525" cap="flat" cmpd="sng" algn="ctr">
                      <a:solidFill>
                        <a:srgbClr val="D8DEE6"/>
                      </a:solidFill>
                    </a:lnT>
                    <a:lnB w="9525" cap="flat" cmpd="sng" algn="ctr">
                      <a:solidFill>
                        <a:srgbClr val="D8DEE6"/>
                      </a:solidFill>
                    </a:lnB>
                  </a:tcPr>
                </a:tc>
              </a:tr>
              <a:tr h="434340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333333"/>
                          </a:solidFill>
                          <a:latin typeface="Pretendard"/>
                        </a:rPr>
                        <a:t>판정 방법</a:t>
                      </a:r>
                    </a:p>
                  </a:txBody>
                  <a:tcPr anchor="ctr" marL="128016" marR="91440" marT="27432" marB="27432">
                    <a:solidFill>
                      <a:srgbClr val="FFFFFF"/>
                    </a:solidFill>
                    <a:lnL w="9525" cap="flat" cmpd="sng" algn="ctr">
                      <a:solidFill>
                        <a:srgbClr val="D8DEE6"/>
                      </a:solidFill>
                    </a:lnL>
                    <a:lnR w="9525" cap="flat" cmpd="sng" algn="ctr">
                      <a:solidFill>
                        <a:srgbClr val="D8DEE6"/>
                      </a:solidFill>
                    </a:lnR>
                    <a:lnT w="9525" cap="flat" cmpd="sng" algn="ctr">
                      <a:solidFill>
                        <a:srgbClr val="D8DEE6"/>
                      </a:solidFill>
                    </a:lnT>
                    <a:lnB w="9525" cap="flat" cmpd="sng" algn="ctr">
                      <a:solidFill>
                        <a:srgbClr val="D8DEE6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 b="0">
                          <a:solidFill>
                            <a:srgbClr val="111111"/>
                          </a:solidFill>
                          <a:latin typeface="Pretendard"/>
                        </a:rPr>
                        <a:t>LLM 심판 3분류 (수행 / 다른질문 / 미수행)</a:t>
                      </a:r>
                    </a:p>
                  </a:txBody>
                  <a:tcPr anchor="ctr" marL="128016" marR="91440" marT="27432" marB="27432">
                    <a:solidFill>
                      <a:srgbClr val="FFFFFF"/>
                    </a:solidFill>
                    <a:lnL w="9525" cap="flat" cmpd="sng" algn="ctr">
                      <a:solidFill>
                        <a:srgbClr val="D8DEE6"/>
                      </a:solidFill>
                    </a:lnL>
                    <a:lnR w="9525" cap="flat" cmpd="sng" algn="ctr">
                      <a:solidFill>
                        <a:srgbClr val="D8DEE6"/>
                      </a:solidFill>
                    </a:lnR>
                    <a:lnT w="9525" cap="flat" cmpd="sng" algn="ctr">
                      <a:solidFill>
                        <a:srgbClr val="D8DEE6"/>
                      </a:solidFill>
                    </a:lnT>
                    <a:lnB w="9525" cap="flat" cmpd="sng" algn="ctr">
                      <a:solidFill>
                        <a:srgbClr val="D8DEE6"/>
                      </a:solidFill>
                    </a:lnB>
                  </a:tcPr>
                </a:tc>
              </a:tr>
              <a:tr h="434340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4081ED"/>
                          </a:solidFill>
                          <a:latin typeface="Pretendard SemiBold"/>
                        </a:rPr>
                        <a:t>채택</a:t>
                      </a:r>
                    </a:p>
                  </a:txBody>
                  <a:tcPr anchor="ctr" marL="128016" marR="91440" marT="27432" marB="27432">
                    <a:solidFill>
                      <a:srgbClr val="E4ECF8"/>
                    </a:solidFill>
                    <a:lnL w="9525" cap="flat" cmpd="sng" algn="ctr">
                      <a:solidFill>
                        <a:srgbClr val="D8DEE6"/>
                      </a:solidFill>
                    </a:lnL>
                    <a:lnR w="9525" cap="flat" cmpd="sng" algn="ctr">
                      <a:solidFill>
                        <a:srgbClr val="D8DEE6"/>
                      </a:solidFill>
                    </a:lnR>
                    <a:lnT w="9525" cap="flat" cmpd="sng" algn="ctr">
                      <a:solidFill>
                        <a:srgbClr val="D8DEE6"/>
                      </a:solidFill>
                    </a:lnT>
                    <a:lnB w="9525" cap="flat" cmpd="sng" algn="ctr">
                      <a:solidFill>
                        <a:srgbClr val="D8DEE6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500" b="1">
                          <a:solidFill>
                            <a:srgbClr val="4081ED"/>
                          </a:solidFill>
                          <a:latin typeface="Pretendard SemiBold"/>
                        </a:rPr>
                        <a:t>gemini-3.8-flash — 인지 확인 턴 전용</a:t>
                      </a:r>
                    </a:p>
                  </a:txBody>
                  <a:tcPr anchor="ctr" marL="128016" marR="91440" marT="27432" marB="27432">
                    <a:solidFill>
                      <a:srgbClr val="E4ECF8"/>
                    </a:solidFill>
                    <a:lnL w="9525" cap="flat" cmpd="sng" algn="ctr">
                      <a:solidFill>
                        <a:srgbClr val="D8DEE6"/>
                      </a:solidFill>
                    </a:lnL>
                    <a:lnR w="9525" cap="flat" cmpd="sng" algn="ctr">
                      <a:solidFill>
                        <a:srgbClr val="D8DEE6"/>
                      </a:solidFill>
                    </a:lnR>
                    <a:lnT w="9525" cap="flat" cmpd="sng" algn="ctr">
                      <a:solidFill>
                        <a:srgbClr val="D8DEE6"/>
                      </a:solidFill>
                    </a:lnT>
                    <a:lnB w="9525" cap="flat" cmpd="sng" algn="ctr">
                      <a:solidFill>
                        <a:srgbClr val="D8DEE6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14" name="Rounded Rectangle 13"/>
          <p:cNvSpPr/>
          <p:nvPr/>
        </p:nvSpPr>
        <p:spPr>
          <a:xfrm>
            <a:off x="10607040" y="3931920"/>
            <a:ext cx="5989320" cy="2331720"/>
          </a:xfrm>
          <a:prstGeom prst="roundRect">
            <a:avLst>
              <a:gd name="adj" fmla="val 6000"/>
            </a:avLst>
          </a:prstGeom>
          <a:solidFill>
            <a:srgbClr val="EEF3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19456">
            <a:noAutofit/>
          </a:bodyPr>
          <a:lstStyle/>
          <a:p>
            <a:pPr algn="l">
              <a:spcAft>
                <a:spcPts val="800"/>
              </a:spcAft>
            </a:pPr>
            <a:r>
              <a:rPr sz="1700" b="1">
                <a:solidFill>
                  <a:srgbClr val="4081ED"/>
                </a:solidFill>
                <a:latin typeface="Pretendard SemiBold"/>
              </a:rPr>
              <a:t>가장 중요한 발견</a:t>
            </a:r>
          </a:p>
          <a:p>
            <a:pPr algn="l"/>
            <a:r>
              <a:rPr sz="1700" b="1">
                <a:solidFill>
                  <a:srgbClr val="4081ED"/>
                </a:solidFill>
                <a:latin typeface="Pretendard SemiBold"/>
              </a:rPr>
              <a:t>비용 절감이 인지 선별을 껐다</a:t>
            </a:r>
          </a:p>
          <a:p>
            <a:pPr algn="l"/>
            <a:r>
              <a:rPr sz="1700" b="1">
                <a:solidFill>
                  <a:srgbClr val="4081ED"/>
                </a:solidFill>
                <a:latin typeface="Pretendard SemiBold"/>
              </a:rPr>
              <a:t>확인 턴 입력 토큰 +45% 지불하고</a:t>
            </a:r>
          </a:p>
          <a:p>
            <a:pPr algn="l"/>
            <a:r>
              <a:rPr sz="1700" b="1">
                <a:solidFill>
                  <a:srgbClr val="4081ED"/>
                </a:solidFill>
                <a:latin typeface="Pretendard SemiBold"/>
              </a:rPr>
              <a:t>인지 평가는 0건 — 로그에 실패 없음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0607040" y="6446520"/>
            <a:ext cx="5989320" cy="1828800"/>
          </a:xfrm>
          <a:prstGeom prst="roundRect">
            <a:avLst>
              <a:gd name="adj" fmla="val 6000"/>
            </a:avLst>
          </a:prstGeom>
          <a:solidFill>
            <a:srgbClr val="EEF3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19456">
            <a:no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858585"/>
                </a:solidFill>
                <a:latin typeface="Pretendard SemiBold"/>
              </a:rPr>
              <a:t>왜 '지시 준수'로 재는가</a:t>
            </a:r>
          </a:p>
          <a:p>
            <a:pPr algn="l"/>
            <a:r>
              <a:rPr sz="1600" b="1">
                <a:solidFill>
                  <a:srgbClr val="858585"/>
                </a:solidFill>
                <a:latin typeface="Pretendard SemiBold"/>
              </a:rPr>
              <a:t>문장 품질은 싼 모델도 통과한다</a:t>
            </a:r>
          </a:p>
          <a:p>
            <a:pPr algn="l"/>
            <a:r>
              <a:rPr sz="1600" b="1">
                <a:solidFill>
                  <a:srgbClr val="858585"/>
                </a:solidFill>
                <a:latin typeface="Pretendard SemiBold"/>
              </a:rPr>
              <a:t>깨지는 건 주입한 지시의 수행이고</a:t>
            </a:r>
          </a:p>
          <a:p>
            <a:pPr algn="l"/>
            <a:r>
              <a:rPr sz="1600" b="1">
                <a:solidFill>
                  <a:srgbClr val="858585"/>
                </a:solidFill>
                <a:latin typeface="Pretendard SemiBold"/>
              </a:rPr>
              <a:t>기능 누락이라 일반 지표에 안 잡힌다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764792" y="8549640"/>
            <a:ext cx="14813280" cy="658368"/>
          </a:xfrm>
          <a:prstGeom prst="roundRect">
            <a:avLst>
              <a:gd name="adj" fmla="val 30000"/>
            </a:avLst>
          </a:prstGeom>
          <a:solidFill>
            <a:srgbClr val="EEF3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>
            <a:noAutofit/>
          </a:bodyPr>
          <a:lstStyle/>
          <a:p>
            <a:pPr algn="ctr"/>
            <a:r>
              <a:rPr sz="1700" b="1">
                <a:solidFill>
                  <a:srgbClr val="111111"/>
                </a:solidFill>
                <a:latin typeface="Pretendard SemiBold"/>
              </a:rPr>
              <a:t>전 구간을 올리지 않고 확인 턴 20%만 3.8-flash로 — 비용 증가를 최소화하면서 선별 기능을 되살렸다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1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261872"/>
            <a:ext cx="16980408" cy="8449056"/>
          </a:xfrm>
          <a:prstGeom prst="rect">
            <a:avLst/>
          </a:prstGeom>
        </p:spPr>
      </p:pic>
      <p:pic>
        <p:nvPicPr>
          <p:cNvPr id="3" name="Picture 2" descr="image1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368" y="530352"/>
            <a:ext cx="16952976" cy="69494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536192" y="713232"/>
            <a:ext cx="274320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noAutofit/>
          </a:bodyPr>
          <a:lstStyle/>
          <a:p>
            <a:pPr algn="l"/>
            <a:r>
              <a:rPr sz="1300" b="0">
                <a:solidFill>
                  <a:srgbClr val="FFFFFF"/>
                </a:solidFill>
                <a:latin typeface="Pretendard"/>
              </a:rPr>
              <a:t>FIRST C&amp;D</a:t>
            </a:r>
          </a:p>
        </p:txBody>
      </p:sp>
      <p:pic>
        <p:nvPicPr>
          <p:cNvPr id="5" name="Picture 4" descr="image1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435072" y="758952"/>
            <a:ext cx="237744" cy="219456"/>
          </a:xfrm>
          <a:prstGeom prst="rect">
            <a:avLst/>
          </a:prstGeom>
        </p:spPr>
      </p:pic>
      <p:pic>
        <p:nvPicPr>
          <p:cNvPr id="6" name="Picture 5" descr="image17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5937992" y="685800"/>
            <a:ext cx="365760" cy="365760"/>
          </a:xfrm>
          <a:prstGeom prst="rect">
            <a:avLst/>
          </a:prstGeom>
        </p:spPr>
      </p:pic>
      <p:pic>
        <p:nvPicPr>
          <p:cNvPr id="7" name="Picture 6" descr="image18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6587216" y="740664"/>
            <a:ext cx="256032" cy="265176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764792" y="1764792"/>
            <a:ext cx="1499616" cy="1179576"/>
          </a:xfrm>
          <a:prstGeom prst="rect">
            <a:avLst/>
          </a:prstGeom>
          <a:noFill/>
        </p:spPr>
        <p:txBody>
          <a:bodyPr wrap="square" lIns="45720" rIns="45720" tIns="18288" bIns="18288" anchor="t">
            <a:noAutofit/>
          </a:bodyPr>
          <a:lstStyle/>
          <a:p>
            <a:pPr algn="l"/>
            <a:r>
              <a:rPr sz="6600" b="1">
                <a:solidFill>
                  <a:srgbClr val="4081ED"/>
                </a:solidFill>
                <a:latin typeface="Pretendard SemiBold"/>
              </a:rPr>
              <a:t>03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66744" y="1828800"/>
            <a:ext cx="13551408" cy="106984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noAutofit/>
          </a:bodyPr>
          <a:lstStyle/>
          <a:p>
            <a:pPr algn="l"/>
            <a:r>
              <a:rPr sz="4000" b="1">
                <a:solidFill>
                  <a:srgbClr val="111111"/>
                </a:solidFill>
                <a:latin typeface="Pretendard SemiBold"/>
              </a:rPr>
              <a:t>최종 모델 배치 · 턴당 원가</a:t>
            </a:r>
          </a:p>
        </p:txBody>
      </p:sp>
      <p:pic>
        <p:nvPicPr>
          <p:cNvPr id="10" name="Picture 9" descr="image19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380744" y="3090672"/>
            <a:ext cx="15517367" cy="9144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2130552" y="3465576"/>
            <a:ext cx="3108960" cy="475488"/>
          </a:xfrm>
          <a:prstGeom prst="roundRect">
            <a:avLst>
              <a:gd name="adj" fmla="val 50000"/>
            </a:avLst>
          </a:prstGeom>
          <a:solidFill>
            <a:srgbClr val="3E7E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>
            <a:no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Pretendard SemiBold"/>
              </a:rPr>
              <a:t>호출 지점별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157448" y="9893808"/>
            <a:ext cx="548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noAutofit/>
          </a:bodyPr>
          <a:lstStyle/>
          <a:p>
            <a:pPr algn="r"/>
            <a:r>
              <a:rPr sz="1200" b="0">
                <a:solidFill>
                  <a:srgbClr val="858585"/>
                </a:solidFill>
                <a:latin typeface="Pretendard"/>
              </a:rPr>
              <a:t>4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1764792" y="4050791"/>
          <a:ext cx="8503920" cy="288036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6309360"/>
                <a:gridCol w="2194560"/>
              </a:tblGrid>
              <a:tr h="480060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111111"/>
                          </a:solidFill>
                          <a:latin typeface="Pretendard SemiBold"/>
                        </a:rPr>
                        <a:t>호출 지점</a:t>
                      </a:r>
                    </a:p>
                  </a:txBody>
                  <a:tcPr anchor="ctr" marL="128016" marR="91440" marT="27432" marB="27432">
                    <a:solidFill>
                      <a:srgbClr val="DCE6F2"/>
                    </a:solidFill>
                    <a:lnL w="9525" cap="flat" cmpd="sng" algn="ctr">
                      <a:solidFill>
                        <a:srgbClr val="D8DEE6"/>
                      </a:solidFill>
                    </a:lnL>
                    <a:lnR w="9525" cap="flat" cmpd="sng" algn="ctr">
                      <a:solidFill>
                        <a:srgbClr val="D8DEE6"/>
                      </a:solidFill>
                    </a:lnR>
                    <a:lnT w="9525" cap="flat" cmpd="sng" algn="ctr">
                      <a:solidFill>
                        <a:srgbClr val="D8DEE6"/>
                      </a:solidFill>
                    </a:lnT>
                    <a:lnB w="9525" cap="flat" cmpd="sng" algn="ctr">
                      <a:solidFill>
                        <a:srgbClr val="D8DEE6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500" b="1">
                          <a:solidFill>
                            <a:srgbClr val="111111"/>
                          </a:solidFill>
                          <a:latin typeface="Pretendard SemiBold"/>
                        </a:rPr>
                        <a:t>모델  ·  턴당</a:t>
                      </a:r>
                    </a:p>
                  </a:txBody>
                  <a:tcPr anchor="ctr" marL="128016" marR="91440" marT="27432" marB="27432">
                    <a:solidFill>
                      <a:srgbClr val="DCE6F2"/>
                    </a:solidFill>
                    <a:lnL w="9525" cap="flat" cmpd="sng" algn="ctr">
                      <a:solidFill>
                        <a:srgbClr val="D8DEE6"/>
                      </a:solidFill>
                    </a:lnL>
                    <a:lnR w="9525" cap="flat" cmpd="sng" algn="ctr">
                      <a:solidFill>
                        <a:srgbClr val="D8DEE6"/>
                      </a:solidFill>
                    </a:lnR>
                    <a:lnT w="9525" cap="flat" cmpd="sng" algn="ctr">
                      <a:solidFill>
                        <a:srgbClr val="D8DEE6"/>
                      </a:solidFill>
                    </a:lnT>
                    <a:lnB w="9525" cap="flat" cmpd="sng" algn="ctr">
                      <a:solidFill>
                        <a:srgbClr val="D8DEE6"/>
                      </a:solidFill>
                    </a:lnB>
                  </a:tcPr>
                </a:tc>
              </a:tr>
              <a:tr h="480060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Pretendard"/>
                        </a:rPr>
                        <a:t>동반자 — 수다 턴 (80%)</a:t>
                      </a:r>
                    </a:p>
                  </a:txBody>
                  <a:tcPr anchor="ctr" marL="128016" marR="91440" marT="27432" marB="27432">
                    <a:solidFill>
                      <a:srgbClr val="FFFFFF"/>
                    </a:solidFill>
                    <a:lnL w="9525" cap="flat" cmpd="sng" algn="ctr">
                      <a:solidFill>
                        <a:srgbClr val="D8DEE6"/>
                      </a:solidFill>
                    </a:lnL>
                    <a:lnR w="9525" cap="flat" cmpd="sng" algn="ctr">
                      <a:solidFill>
                        <a:srgbClr val="D8DEE6"/>
                      </a:solidFill>
                    </a:lnR>
                    <a:lnT w="9525" cap="flat" cmpd="sng" algn="ctr">
                      <a:solidFill>
                        <a:srgbClr val="D8DEE6"/>
                      </a:solidFill>
                    </a:lnT>
                    <a:lnB w="9525" cap="flat" cmpd="sng" algn="ctr">
                      <a:solidFill>
                        <a:srgbClr val="D8DEE6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 b="0">
                          <a:solidFill>
                            <a:srgbClr val="111111"/>
                          </a:solidFill>
                          <a:latin typeface="Pretendard"/>
                        </a:rPr>
                        <a:t>2.5-flash</a:t>
                      </a:r>
                    </a:p>
                  </a:txBody>
                  <a:tcPr anchor="ctr" marL="128016" marR="91440" marT="27432" marB="27432">
                    <a:solidFill>
                      <a:srgbClr val="FFFFFF"/>
                    </a:solidFill>
                    <a:lnL w="9525" cap="flat" cmpd="sng" algn="ctr">
                      <a:solidFill>
                        <a:srgbClr val="D8DEE6"/>
                      </a:solidFill>
                    </a:lnL>
                    <a:lnR w="9525" cap="flat" cmpd="sng" algn="ctr">
                      <a:solidFill>
                        <a:srgbClr val="D8DEE6"/>
                      </a:solidFill>
                    </a:lnR>
                    <a:lnT w="9525" cap="flat" cmpd="sng" algn="ctr">
                      <a:solidFill>
                        <a:srgbClr val="D8DEE6"/>
                      </a:solidFill>
                    </a:lnT>
                    <a:lnB w="9525" cap="flat" cmpd="sng" algn="ctr">
                      <a:solidFill>
                        <a:srgbClr val="D8DEE6"/>
                      </a:solidFill>
                    </a:lnB>
                  </a:tcPr>
                </a:tc>
              </a:tr>
              <a:tr h="480060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Pretendard"/>
                        </a:rPr>
                        <a:t>동반자 — 인지 확인 턴 (20%)</a:t>
                      </a:r>
                    </a:p>
                  </a:txBody>
                  <a:tcPr anchor="ctr" marL="128016" marR="91440" marT="27432" marB="27432">
                    <a:solidFill>
                      <a:srgbClr val="FFFFFF"/>
                    </a:solidFill>
                    <a:lnL w="9525" cap="flat" cmpd="sng" algn="ctr">
                      <a:solidFill>
                        <a:srgbClr val="D8DEE6"/>
                      </a:solidFill>
                    </a:lnL>
                    <a:lnR w="9525" cap="flat" cmpd="sng" algn="ctr">
                      <a:solidFill>
                        <a:srgbClr val="D8DEE6"/>
                      </a:solidFill>
                    </a:lnR>
                    <a:lnT w="9525" cap="flat" cmpd="sng" algn="ctr">
                      <a:solidFill>
                        <a:srgbClr val="D8DEE6"/>
                      </a:solidFill>
                    </a:lnT>
                    <a:lnB w="9525" cap="flat" cmpd="sng" algn="ctr">
                      <a:solidFill>
                        <a:srgbClr val="D8DEE6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 b="0">
                          <a:solidFill>
                            <a:srgbClr val="111111"/>
                          </a:solidFill>
                          <a:latin typeface="Pretendard"/>
                        </a:rPr>
                        <a:t>3.8-flash  ·  동반자 합 $0.0036</a:t>
                      </a:r>
                    </a:p>
                  </a:txBody>
                  <a:tcPr anchor="ctr" marL="128016" marR="91440" marT="27432" marB="27432">
                    <a:solidFill>
                      <a:srgbClr val="FFFFFF"/>
                    </a:solidFill>
                    <a:lnL w="9525" cap="flat" cmpd="sng" algn="ctr">
                      <a:solidFill>
                        <a:srgbClr val="D8DEE6"/>
                      </a:solidFill>
                    </a:lnL>
                    <a:lnR w="9525" cap="flat" cmpd="sng" algn="ctr">
                      <a:solidFill>
                        <a:srgbClr val="D8DEE6"/>
                      </a:solidFill>
                    </a:lnR>
                    <a:lnT w="9525" cap="flat" cmpd="sng" algn="ctr">
                      <a:solidFill>
                        <a:srgbClr val="D8DEE6"/>
                      </a:solidFill>
                    </a:lnT>
                    <a:lnB w="9525" cap="flat" cmpd="sng" algn="ctr">
                      <a:solidFill>
                        <a:srgbClr val="D8DEE6"/>
                      </a:solidFill>
                    </a:lnB>
                  </a:tcPr>
                </a:tc>
              </a:tr>
              <a:tr h="480060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Pretendard"/>
                        </a:rPr>
                        <a:t>분석기 1차 (선별 라우팅)</a:t>
                      </a:r>
                    </a:p>
                  </a:txBody>
                  <a:tcPr anchor="ctr" marL="128016" marR="91440" marT="27432" marB="27432">
                    <a:solidFill>
                      <a:srgbClr val="FFFFFF"/>
                    </a:solidFill>
                    <a:lnL w="9525" cap="flat" cmpd="sng" algn="ctr">
                      <a:solidFill>
                        <a:srgbClr val="D8DEE6"/>
                      </a:solidFill>
                    </a:lnL>
                    <a:lnR w="9525" cap="flat" cmpd="sng" algn="ctr">
                      <a:solidFill>
                        <a:srgbClr val="D8DEE6"/>
                      </a:solidFill>
                    </a:lnR>
                    <a:lnT w="9525" cap="flat" cmpd="sng" algn="ctr">
                      <a:solidFill>
                        <a:srgbClr val="D8DEE6"/>
                      </a:solidFill>
                    </a:lnT>
                    <a:lnB w="9525" cap="flat" cmpd="sng" algn="ctr">
                      <a:solidFill>
                        <a:srgbClr val="D8DEE6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 b="0">
                          <a:solidFill>
                            <a:srgbClr val="111111"/>
                          </a:solidFill>
                          <a:latin typeface="Pretendard"/>
                        </a:rPr>
                        <a:t>2.5-flash</a:t>
                      </a:r>
                    </a:p>
                  </a:txBody>
                  <a:tcPr anchor="ctr" marL="128016" marR="91440" marT="27432" marB="27432">
                    <a:solidFill>
                      <a:srgbClr val="FFFFFF"/>
                    </a:solidFill>
                    <a:lnL w="9525" cap="flat" cmpd="sng" algn="ctr">
                      <a:solidFill>
                        <a:srgbClr val="D8DEE6"/>
                      </a:solidFill>
                    </a:lnL>
                    <a:lnR w="9525" cap="flat" cmpd="sng" algn="ctr">
                      <a:solidFill>
                        <a:srgbClr val="D8DEE6"/>
                      </a:solidFill>
                    </a:lnR>
                    <a:lnT w="9525" cap="flat" cmpd="sng" algn="ctr">
                      <a:solidFill>
                        <a:srgbClr val="D8DEE6"/>
                      </a:solidFill>
                    </a:lnT>
                    <a:lnB w="9525" cap="flat" cmpd="sng" algn="ctr">
                      <a:solidFill>
                        <a:srgbClr val="D8DEE6"/>
                      </a:solidFill>
                    </a:lnB>
                  </a:tcPr>
                </a:tc>
              </a:tr>
              <a:tr h="480060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Pretendard"/>
                        </a:rPr>
                        <a:t>분석기 정밀 채점</a:t>
                      </a:r>
                    </a:p>
                  </a:txBody>
                  <a:tcPr anchor="ctr" marL="128016" marR="91440" marT="27432" marB="27432">
                    <a:solidFill>
                      <a:srgbClr val="FFFFFF"/>
                    </a:solidFill>
                    <a:lnL w="9525" cap="flat" cmpd="sng" algn="ctr">
                      <a:solidFill>
                        <a:srgbClr val="D8DEE6"/>
                      </a:solidFill>
                    </a:lnL>
                    <a:lnR w="9525" cap="flat" cmpd="sng" algn="ctr">
                      <a:solidFill>
                        <a:srgbClr val="D8DEE6"/>
                      </a:solidFill>
                    </a:lnR>
                    <a:lnT w="9525" cap="flat" cmpd="sng" algn="ctr">
                      <a:solidFill>
                        <a:srgbClr val="D8DEE6"/>
                      </a:solidFill>
                    </a:lnT>
                    <a:lnB w="9525" cap="flat" cmpd="sng" algn="ctr">
                      <a:solidFill>
                        <a:srgbClr val="D8DEE6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 b="0">
                          <a:solidFill>
                            <a:srgbClr val="111111"/>
                          </a:solidFill>
                          <a:latin typeface="Pretendard"/>
                        </a:rPr>
                        <a:t>3.8-flash  ·  분석기 합 $0.0033</a:t>
                      </a:r>
                    </a:p>
                  </a:txBody>
                  <a:tcPr anchor="ctr" marL="128016" marR="91440" marT="27432" marB="27432">
                    <a:solidFill>
                      <a:srgbClr val="FFFFFF"/>
                    </a:solidFill>
                    <a:lnL w="9525" cap="flat" cmpd="sng" algn="ctr">
                      <a:solidFill>
                        <a:srgbClr val="D8DEE6"/>
                      </a:solidFill>
                    </a:lnL>
                    <a:lnR w="9525" cap="flat" cmpd="sng" algn="ctr">
                      <a:solidFill>
                        <a:srgbClr val="D8DEE6"/>
                      </a:solidFill>
                    </a:lnR>
                    <a:lnT w="9525" cap="flat" cmpd="sng" algn="ctr">
                      <a:solidFill>
                        <a:srgbClr val="D8DEE6"/>
                      </a:solidFill>
                    </a:lnT>
                    <a:lnB w="9525" cap="flat" cmpd="sng" algn="ctr">
                      <a:solidFill>
                        <a:srgbClr val="D8DEE6"/>
                      </a:solidFill>
                    </a:lnB>
                  </a:tcPr>
                </a:tc>
              </a:tr>
              <a:tr h="480060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4081ED"/>
                          </a:solidFill>
                          <a:latin typeface="Pretendard SemiBold"/>
                        </a:rPr>
                        <a:t>턴당 합계</a:t>
                      </a:r>
                    </a:p>
                  </a:txBody>
                  <a:tcPr anchor="ctr" marL="128016" marR="91440" marT="27432" marB="27432">
                    <a:solidFill>
                      <a:srgbClr val="E4ECF8"/>
                    </a:solidFill>
                    <a:lnL w="9525" cap="flat" cmpd="sng" algn="ctr">
                      <a:solidFill>
                        <a:srgbClr val="D8DEE6"/>
                      </a:solidFill>
                    </a:lnL>
                    <a:lnR w="9525" cap="flat" cmpd="sng" algn="ctr">
                      <a:solidFill>
                        <a:srgbClr val="D8DEE6"/>
                      </a:solidFill>
                    </a:lnR>
                    <a:lnT w="9525" cap="flat" cmpd="sng" algn="ctr">
                      <a:solidFill>
                        <a:srgbClr val="D8DEE6"/>
                      </a:solidFill>
                    </a:lnT>
                    <a:lnB w="9525" cap="flat" cmpd="sng" algn="ctr">
                      <a:solidFill>
                        <a:srgbClr val="D8DEE6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600" b="1">
                          <a:solidFill>
                            <a:srgbClr val="4081ED"/>
                          </a:solidFill>
                          <a:latin typeface="Pretendard SemiBold"/>
                        </a:rPr>
                        <a:t>$0.0069  ≈  9.6원</a:t>
                      </a:r>
                    </a:p>
                  </a:txBody>
                  <a:tcPr anchor="ctr" marL="128016" marR="91440" marT="27432" marB="27432">
                    <a:solidFill>
                      <a:srgbClr val="E4ECF8"/>
                    </a:solidFill>
                    <a:lnL w="9525" cap="flat" cmpd="sng" algn="ctr">
                      <a:solidFill>
                        <a:srgbClr val="D8DEE6"/>
                      </a:solidFill>
                    </a:lnL>
                    <a:lnR w="9525" cap="flat" cmpd="sng" algn="ctr">
                      <a:solidFill>
                        <a:srgbClr val="D8DEE6"/>
                      </a:solidFill>
                    </a:lnR>
                    <a:lnT w="9525" cap="flat" cmpd="sng" algn="ctr">
                      <a:solidFill>
                        <a:srgbClr val="D8DEE6"/>
                      </a:solidFill>
                    </a:lnT>
                    <a:lnB w="9525" cap="flat" cmpd="sng" algn="ctr">
                      <a:solidFill>
                        <a:srgbClr val="D8DEE6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14" name="Rounded Rectangle 13"/>
          <p:cNvSpPr/>
          <p:nvPr/>
        </p:nvSpPr>
        <p:spPr>
          <a:xfrm>
            <a:off x="1764792" y="7086600"/>
            <a:ext cx="8503920" cy="603504"/>
          </a:xfrm>
          <a:prstGeom prst="roundRect">
            <a:avLst>
              <a:gd name="adj" fmla="val 30000"/>
            </a:avLst>
          </a:prstGeom>
          <a:solidFill>
            <a:srgbClr val="EEF3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>
            <a:noAutofit/>
          </a:bodyPr>
          <a:lstStyle/>
          <a:p>
            <a:pPr algn="ctr"/>
            <a:r>
              <a:rPr sz="1300" b="0">
                <a:solidFill>
                  <a:srgbClr val="858585"/>
                </a:solidFill>
                <a:latin typeface="Pretendard"/>
              </a:rPr>
              <a:t>※ 적응형 30턴 대화 실측 · 환율 1,390원 기준 · 서버 TTS 비용 별도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0607040" y="3931920"/>
            <a:ext cx="5989320" cy="3758184"/>
          </a:xfrm>
          <a:prstGeom prst="roundRect">
            <a:avLst>
              <a:gd name="adj" fmla="val 5000"/>
            </a:avLst>
          </a:prstGeom>
          <a:solidFill>
            <a:srgbClr val="EEF3FC"/>
          </a:solidFill>
          <a:ln w="12700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0" rIns="219456" tIns="201168">
            <a:noAutofit/>
          </a:bodyPr>
          <a:lstStyle/>
          <a:p>
            <a:pPr algn="l">
              <a:spcAft>
                <a:spcPts val="1000"/>
              </a:spcAft>
            </a:pPr>
            <a:r>
              <a:rPr sz="1800" b="1">
                <a:solidFill>
                  <a:srgbClr val="2F6FD6"/>
                </a:solidFill>
                <a:latin typeface="Pretendard SemiBold"/>
              </a:rPr>
              <a:t>적용한 최적화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600" b="0">
                <a:solidFill>
                  <a:srgbClr val="333333"/>
                </a:solidFill>
                <a:latin typeface="Pretendard"/>
              </a:rPr>
              <a:t>· 확인 턴만 상위 모델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600" b="0">
                <a:solidFill>
                  <a:srgbClr val="333333"/>
                </a:solidFill>
                <a:latin typeface="Pretendard"/>
              </a:rPr>
              <a:t>· 분석기 3.5→3.8 (정확도↑ 단가 ½)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600" b="0">
                <a:solidFill>
                  <a:srgbClr val="333333"/>
                </a:solidFill>
                <a:latin typeface="Pretendard"/>
              </a:rPr>
              <a:t>· 도메인별 프로토콜 슬라이싱 −7%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600" b="0">
                <a:solidFill>
                  <a:srgbClr val="333333"/>
                </a:solidFill>
                <a:latin typeface="Pretendard"/>
              </a:rPr>
              <a:t>· 암묵 캐시 적중 42% (입력 90% 할인)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600" b="0">
                <a:solidFill>
                  <a:srgbClr val="333333"/>
                </a:solidFill>
                <a:latin typeface="Pretendard"/>
              </a:rPr>
              <a:t>· 측정 오류 4건 교정 후 확정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764792" y="7973568"/>
            <a:ext cx="14813280" cy="868680"/>
          </a:xfrm>
          <a:prstGeom prst="roundRect">
            <a:avLst>
              <a:gd name="adj" fmla="val 30000"/>
            </a:avLst>
          </a:prstGeom>
          <a:solidFill>
            <a:srgbClr val="3E7E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>
            <a:noAutofit/>
          </a:bodyPr>
          <a:lstStyle/>
          <a:p>
            <a:pPr algn="ctr"/>
            <a:r>
              <a:rPr sz="1900" b="1">
                <a:solidFill>
                  <a:srgbClr val="FFFFFF"/>
                </a:solidFill>
                <a:latin typeface="Pretendard SemiBold"/>
              </a:rPr>
              <a:t>⚠ 3.8-flash 도입가는 2026-12-31 종료 — 2027년 턴당 약 14.6원으로 오른다 (연말 전 재검토 필요)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1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261872"/>
            <a:ext cx="16980408" cy="8449056"/>
          </a:xfrm>
          <a:prstGeom prst="rect">
            <a:avLst/>
          </a:prstGeom>
        </p:spPr>
      </p:pic>
      <p:pic>
        <p:nvPicPr>
          <p:cNvPr id="3" name="Picture 2" descr="image1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368" y="530352"/>
            <a:ext cx="16952976" cy="69494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536192" y="713232"/>
            <a:ext cx="274320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noAutofit/>
          </a:bodyPr>
          <a:lstStyle/>
          <a:p>
            <a:pPr algn="l"/>
            <a:r>
              <a:rPr sz="1300" b="0">
                <a:solidFill>
                  <a:srgbClr val="FFFFFF"/>
                </a:solidFill>
                <a:latin typeface="Pretendard"/>
              </a:rPr>
              <a:t>FIRST C&amp;D</a:t>
            </a:r>
          </a:p>
        </p:txBody>
      </p:sp>
      <p:pic>
        <p:nvPicPr>
          <p:cNvPr id="5" name="Picture 4" descr="image1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435072" y="758952"/>
            <a:ext cx="237744" cy="219456"/>
          </a:xfrm>
          <a:prstGeom prst="rect">
            <a:avLst/>
          </a:prstGeom>
        </p:spPr>
      </p:pic>
      <p:pic>
        <p:nvPicPr>
          <p:cNvPr id="6" name="Picture 5" descr="image17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5937992" y="685800"/>
            <a:ext cx="365760" cy="365760"/>
          </a:xfrm>
          <a:prstGeom prst="rect">
            <a:avLst/>
          </a:prstGeom>
        </p:spPr>
      </p:pic>
      <p:pic>
        <p:nvPicPr>
          <p:cNvPr id="7" name="Picture 6" descr="image18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6587216" y="740664"/>
            <a:ext cx="256032" cy="265176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764792" y="1764792"/>
            <a:ext cx="1499616" cy="1179576"/>
          </a:xfrm>
          <a:prstGeom prst="rect">
            <a:avLst/>
          </a:prstGeom>
          <a:noFill/>
        </p:spPr>
        <p:txBody>
          <a:bodyPr wrap="square" lIns="45720" rIns="45720" tIns="18288" bIns="18288" anchor="t">
            <a:noAutofit/>
          </a:bodyPr>
          <a:lstStyle/>
          <a:p>
            <a:pPr algn="l"/>
            <a:r>
              <a:rPr sz="6600" b="1">
                <a:solidFill>
                  <a:srgbClr val="4081ED"/>
                </a:solidFill>
                <a:latin typeface="Pretendard SemiBold"/>
              </a:rPr>
              <a:t>04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66744" y="1828800"/>
            <a:ext cx="13551408" cy="106984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noAutofit/>
          </a:bodyPr>
          <a:lstStyle/>
          <a:p>
            <a:pPr algn="l"/>
            <a:r>
              <a:rPr sz="4000" b="1">
                <a:solidFill>
                  <a:srgbClr val="111111"/>
                </a:solidFill>
                <a:latin typeface="Pretendard SemiBold"/>
              </a:rPr>
              <a:t>타사 AI 말벗 · 돌봄 사용량</a:t>
            </a:r>
          </a:p>
        </p:txBody>
      </p:sp>
      <p:pic>
        <p:nvPicPr>
          <p:cNvPr id="10" name="Picture 9" descr="image19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380744" y="3090672"/>
            <a:ext cx="15517367" cy="9144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2130552" y="3465576"/>
            <a:ext cx="3200400" cy="475488"/>
          </a:xfrm>
          <a:prstGeom prst="roundRect">
            <a:avLst>
              <a:gd name="adj" fmla="val 50000"/>
            </a:avLst>
          </a:prstGeom>
          <a:solidFill>
            <a:srgbClr val="3E7E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>
            <a:no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Pretendard SemiBold"/>
              </a:rPr>
              <a:t>실사용 벤치마크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157448" y="9893808"/>
            <a:ext cx="548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noAutofit/>
          </a:bodyPr>
          <a:lstStyle/>
          <a:p>
            <a:pPr algn="r"/>
            <a:r>
              <a:rPr sz="1200" b="0">
                <a:solidFill>
                  <a:srgbClr val="858585"/>
                </a:solidFill>
                <a:latin typeface="Pretendard"/>
              </a:rPr>
              <a:t>5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764792" y="4160520"/>
            <a:ext cx="3520440" cy="3246120"/>
          </a:xfrm>
          <a:prstGeom prst="roundRect">
            <a:avLst>
              <a:gd name="adj" fmla="val 6000"/>
            </a:avLst>
          </a:prstGeom>
          <a:solidFill>
            <a:srgbClr val="EEF3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1764792" y="4160520"/>
            <a:ext cx="3520440" cy="658368"/>
          </a:xfrm>
          <a:prstGeom prst="roundRect">
            <a:avLst>
              <a:gd name="adj" fmla="val 6000"/>
            </a:avLst>
          </a:prstGeom>
          <a:solidFill>
            <a:srgbClr val="2F9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>
            <a:no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Pretendard SemiBold"/>
              </a:rPr>
              <a:t>Replika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10512" y="4956048"/>
            <a:ext cx="3429000" cy="2395728"/>
          </a:xfrm>
          <a:prstGeom prst="rect">
            <a:avLst/>
          </a:prstGeom>
          <a:noFill/>
        </p:spPr>
        <p:txBody>
          <a:bodyPr wrap="square" lIns="182880" rIns="109728" tIns="18288" bIns="18288" anchor="t">
            <a:noAutofit/>
          </a:bodyPr>
          <a:lstStyle/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1500" b="0">
                <a:solidFill>
                  <a:srgbClr val="333333"/>
                </a:solidFill>
                <a:latin typeface="Pretendard"/>
              </a:rPr>
              <a:t>· 하루 약 70건</a:t>
            </a:r>
          </a:p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1300" b="0">
                <a:solidFill>
                  <a:srgbClr val="333333"/>
                </a:solidFill>
                <a:latin typeface="Pretendard"/>
              </a:rPr>
              <a:t>· 세션 15분 (일부 2시간)</a:t>
            </a:r>
          </a:p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1500" b="0">
                <a:solidFill>
                  <a:srgbClr val="333333"/>
                </a:solidFill>
                <a:latin typeface="Pretendard"/>
              </a:rPr>
              <a:t>· 유료 $19.99 / 월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513832" y="4160520"/>
            <a:ext cx="3520440" cy="3246120"/>
          </a:xfrm>
          <a:prstGeom prst="roundRect">
            <a:avLst>
              <a:gd name="adj" fmla="val 6000"/>
            </a:avLst>
          </a:prstGeom>
          <a:solidFill>
            <a:srgbClr val="EEF3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5513832" y="4160520"/>
            <a:ext cx="3520440" cy="658368"/>
          </a:xfrm>
          <a:prstGeom prst="roundRect">
            <a:avLst>
              <a:gd name="adj" fmla="val 6000"/>
            </a:avLst>
          </a:prstGeom>
          <a:solidFill>
            <a:srgbClr val="3E7E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>
            <a:no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Pretendard SemiBold"/>
              </a:rPr>
              <a:t>Character.AI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59552" y="4956048"/>
            <a:ext cx="3429000" cy="2395728"/>
          </a:xfrm>
          <a:prstGeom prst="rect">
            <a:avLst/>
          </a:prstGeom>
          <a:noFill/>
        </p:spPr>
        <p:txBody>
          <a:bodyPr wrap="square" lIns="182880" rIns="109728" tIns="18288" bIns="18288" anchor="t">
            <a:noAutofit/>
          </a:bodyPr>
          <a:lstStyle/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1500" b="0">
                <a:solidFill>
                  <a:srgbClr val="333333"/>
                </a:solidFill>
                <a:latin typeface="Pretendard"/>
              </a:rPr>
              <a:t>· 세션 17.4분</a:t>
            </a:r>
          </a:p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1500" b="0">
                <a:solidFill>
                  <a:srgbClr val="333333"/>
                </a:solidFill>
                <a:latin typeface="Pretendard"/>
              </a:rPr>
              <a:t>· 하루 3.2세션</a:t>
            </a:r>
          </a:p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1500" b="0">
                <a:solidFill>
                  <a:srgbClr val="333333"/>
                </a:solidFill>
                <a:latin typeface="Pretendard"/>
              </a:rPr>
              <a:t>· 유료 $9.99 / 월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262872" y="4160520"/>
            <a:ext cx="3520440" cy="3246120"/>
          </a:xfrm>
          <a:prstGeom prst="roundRect">
            <a:avLst>
              <a:gd name="adj" fmla="val 6000"/>
            </a:avLst>
          </a:prstGeom>
          <a:solidFill>
            <a:srgbClr val="EEF3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9262872" y="4160520"/>
            <a:ext cx="3520440" cy="658368"/>
          </a:xfrm>
          <a:prstGeom prst="roundRect">
            <a:avLst>
              <a:gd name="adj" fmla="val 6000"/>
            </a:avLst>
          </a:prstGeom>
          <a:solidFill>
            <a:srgbClr val="D953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>
            <a:no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Pretendard SemiBold"/>
              </a:rPr>
              <a:t>클로바 케어콜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308592" y="4956048"/>
            <a:ext cx="3429000" cy="2395728"/>
          </a:xfrm>
          <a:prstGeom prst="rect">
            <a:avLst/>
          </a:prstGeom>
          <a:noFill/>
        </p:spPr>
        <p:txBody>
          <a:bodyPr wrap="square" lIns="182880" rIns="109728" tIns="18288" bIns="18288" anchor="t">
            <a:noAutofit/>
          </a:bodyPr>
          <a:lstStyle/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1300" b="0">
                <a:solidFill>
                  <a:srgbClr val="333333"/>
                </a:solidFill>
                <a:latin typeface="Pretendard"/>
              </a:rPr>
              <a:t>· 주 2회 안부 전화</a:t>
            </a:r>
          </a:p>
          <a:p>
            <a:pPr algn="l"/>
            <a:r>
              <a:rPr sz="1300" b="0">
                <a:solidFill>
                  <a:srgbClr val="333333"/>
                </a:solidFill>
                <a:latin typeface="Pretendard"/>
              </a:rPr>
              <a:t xml:space="preserve">· 통화당 약 1분 15초</a:t>
            </a:r>
          </a:p>
          <a:p>
            <a:pPr algn="l"/>
            <a:r>
              <a:rPr sz="1300" b="0">
                <a:solidFill>
                  <a:srgbClr val="333333"/>
                </a:solidFill>
                <a:latin typeface="Pretendard"/>
              </a:rPr>
              <a:t>· 지자체 B2G · 5만명</a:t>
            </a:r>
          </a:p>
          <a:p>
            <a:pPr algn="l"/>
            <a:r>
              <a:rPr sz="1300" b="0">
                <a:solidFill>
                  <a:srgbClr val="333333"/>
                </a:solidFill>
                <a:latin typeface="Pretendard"/>
              </a:rPr>
              <a:t xml:space="preserve">· 응답률 96%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3011912" y="4160520"/>
            <a:ext cx="3520440" cy="3246120"/>
          </a:xfrm>
          <a:prstGeom prst="roundRect">
            <a:avLst>
              <a:gd name="adj" fmla="val 6000"/>
            </a:avLst>
          </a:prstGeom>
          <a:solidFill>
            <a:srgbClr val="EEF3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13011912" y="4160520"/>
            <a:ext cx="3520440" cy="658368"/>
          </a:xfrm>
          <a:prstGeom prst="roundRect">
            <a:avLst>
              <a:gd name="adj" fmla="val 6000"/>
            </a:avLst>
          </a:prstGeom>
          <a:solidFill>
            <a:srgbClr val="A87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>
            <a:no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Pretendard SemiBold"/>
              </a:rPr>
              <a:t>효돌 (돌봄인형)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057632" y="4956048"/>
            <a:ext cx="3429000" cy="2395728"/>
          </a:xfrm>
          <a:prstGeom prst="rect">
            <a:avLst/>
          </a:prstGeom>
          <a:noFill/>
        </p:spPr>
        <p:txBody>
          <a:bodyPr wrap="square" lIns="182880" rIns="109728" tIns="18288" bIns="18288" anchor="t">
            <a:noAutofit/>
          </a:bodyPr>
          <a:lstStyle/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1300" b="0">
                <a:solidFill>
                  <a:srgbClr val="333333"/>
                </a:solidFill>
                <a:latin typeface="Pretendard"/>
              </a:rPr>
              <a:t>· 상시 거치형 (횟수 무제한)</a:t>
            </a:r>
          </a:p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1500" b="0">
                <a:solidFill>
                  <a:srgbClr val="333333"/>
                </a:solidFill>
                <a:latin typeface="Pretendard"/>
              </a:rPr>
              <a:t>· 대화+복약+인지퀴즈</a:t>
            </a:r>
          </a:p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1300" b="0">
                <a:solidFill>
                  <a:srgbClr val="333333"/>
                </a:solidFill>
                <a:latin typeface="Pretendard"/>
              </a:rPr>
              <a:t>· 118개 지자체 5,800대</a:t>
            </a:r>
          </a:p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1300" b="0">
                <a:solidFill>
                  <a:srgbClr val="333333"/>
                </a:solidFill>
                <a:latin typeface="Pretendard"/>
              </a:rPr>
              <a:t>· 만족도 80.1%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764792" y="7818120"/>
            <a:ext cx="14813280" cy="868680"/>
          </a:xfrm>
          <a:prstGeom prst="roundRect">
            <a:avLst>
              <a:gd name="adj" fmla="val 30000"/>
            </a:avLst>
          </a:prstGeom>
          <a:solidFill>
            <a:srgbClr val="3E7E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>
            <a:no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Pretendard SemiBold"/>
              </a:rPr>
              <a:t>사용 패턴은 말벗 앱(70건/일), 수익 모델은 돌봄 서비스 — 이 조합이 가격 설계의 핵심 제약이다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1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261872"/>
            <a:ext cx="16980408" cy="8449056"/>
          </a:xfrm>
          <a:prstGeom prst="rect">
            <a:avLst/>
          </a:prstGeom>
        </p:spPr>
      </p:pic>
      <p:pic>
        <p:nvPicPr>
          <p:cNvPr id="3" name="Picture 2" descr="image1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368" y="530352"/>
            <a:ext cx="16952976" cy="69494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536192" y="713232"/>
            <a:ext cx="274320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noAutofit/>
          </a:bodyPr>
          <a:lstStyle/>
          <a:p>
            <a:pPr algn="l"/>
            <a:r>
              <a:rPr sz="1300" b="0">
                <a:solidFill>
                  <a:srgbClr val="FFFFFF"/>
                </a:solidFill>
                <a:latin typeface="Pretendard"/>
              </a:rPr>
              <a:t>FIRST C&amp;D</a:t>
            </a:r>
          </a:p>
        </p:txBody>
      </p:sp>
      <p:pic>
        <p:nvPicPr>
          <p:cNvPr id="5" name="Picture 4" descr="image1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435072" y="758952"/>
            <a:ext cx="237744" cy="219456"/>
          </a:xfrm>
          <a:prstGeom prst="rect">
            <a:avLst/>
          </a:prstGeom>
        </p:spPr>
      </p:pic>
      <p:pic>
        <p:nvPicPr>
          <p:cNvPr id="6" name="Picture 5" descr="image17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5937992" y="685800"/>
            <a:ext cx="365760" cy="365760"/>
          </a:xfrm>
          <a:prstGeom prst="rect">
            <a:avLst/>
          </a:prstGeom>
        </p:spPr>
      </p:pic>
      <p:pic>
        <p:nvPicPr>
          <p:cNvPr id="7" name="Picture 6" descr="image18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6587216" y="740664"/>
            <a:ext cx="256032" cy="265176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764792" y="1764792"/>
            <a:ext cx="1499616" cy="1179576"/>
          </a:xfrm>
          <a:prstGeom prst="rect">
            <a:avLst/>
          </a:prstGeom>
          <a:noFill/>
        </p:spPr>
        <p:txBody>
          <a:bodyPr wrap="square" lIns="45720" rIns="45720" tIns="18288" bIns="18288" anchor="t">
            <a:noAutofit/>
          </a:bodyPr>
          <a:lstStyle/>
          <a:p>
            <a:pPr algn="l"/>
            <a:r>
              <a:rPr sz="6600" b="1">
                <a:solidFill>
                  <a:srgbClr val="4081ED"/>
                </a:solidFill>
                <a:latin typeface="Pretendard SemiBold"/>
              </a:rPr>
              <a:t>05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66744" y="1828800"/>
            <a:ext cx="13551408" cy="106984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noAutofit/>
          </a:bodyPr>
          <a:lstStyle/>
          <a:p>
            <a:pPr algn="l"/>
            <a:r>
              <a:rPr sz="4000" b="1">
                <a:solidFill>
                  <a:srgbClr val="111111"/>
                </a:solidFill>
                <a:latin typeface="Pretendard SemiBold"/>
              </a:rPr>
              <a:t>타사 가격 · 무료 상한</a:t>
            </a:r>
          </a:p>
        </p:txBody>
      </p:sp>
      <p:pic>
        <p:nvPicPr>
          <p:cNvPr id="10" name="Picture 9" descr="image19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380744" y="3090672"/>
            <a:ext cx="15517367" cy="9144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2130552" y="3465576"/>
            <a:ext cx="2743200" cy="475488"/>
          </a:xfrm>
          <a:prstGeom prst="roundRect">
            <a:avLst>
              <a:gd name="adj" fmla="val 50000"/>
            </a:avLst>
          </a:prstGeom>
          <a:solidFill>
            <a:srgbClr val="3E7E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>
            <a:no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Pretendard SemiBold"/>
              </a:rPr>
              <a:t>업계 관행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157448" y="9893808"/>
            <a:ext cx="548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noAutofit/>
          </a:bodyPr>
          <a:lstStyle/>
          <a:p>
            <a:pPr algn="r"/>
            <a:r>
              <a:rPr sz="1200" b="0">
                <a:solidFill>
                  <a:srgbClr val="858585"/>
                </a:solidFill>
                <a:latin typeface="Pretendard"/>
              </a:rPr>
              <a:t>6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1764792" y="4050791"/>
          <a:ext cx="8503920" cy="27432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5760720"/>
                <a:gridCol w="2743200"/>
              </a:tblGrid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111111"/>
                          </a:solidFill>
                          <a:latin typeface="Pretendard SemiBold"/>
                        </a:rPr>
                        <a:t>서비스</a:t>
                      </a:r>
                    </a:p>
                  </a:txBody>
                  <a:tcPr anchor="ctr" marL="128016" marR="91440" marT="27432" marB="27432">
                    <a:solidFill>
                      <a:srgbClr val="DCE6F2"/>
                    </a:solidFill>
                    <a:lnL w="9525" cap="flat" cmpd="sng" algn="ctr">
                      <a:solidFill>
                        <a:srgbClr val="D8DEE6"/>
                      </a:solidFill>
                    </a:lnL>
                    <a:lnR w="9525" cap="flat" cmpd="sng" algn="ctr">
                      <a:solidFill>
                        <a:srgbClr val="D8DEE6"/>
                      </a:solidFill>
                    </a:lnR>
                    <a:lnT w="9525" cap="flat" cmpd="sng" algn="ctr">
                      <a:solidFill>
                        <a:srgbClr val="D8DEE6"/>
                      </a:solidFill>
                    </a:lnT>
                    <a:lnB w="9525" cap="flat" cmpd="sng" algn="ctr">
                      <a:solidFill>
                        <a:srgbClr val="D8DEE6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500" b="1">
                          <a:solidFill>
                            <a:srgbClr val="111111"/>
                          </a:solidFill>
                          <a:latin typeface="Pretendard SemiBold"/>
                        </a:rPr>
                        <a:t>무료 상한  ·  유료</a:t>
                      </a:r>
                    </a:p>
                  </a:txBody>
                  <a:tcPr anchor="ctr" marL="128016" marR="91440" marT="27432" marB="27432">
                    <a:solidFill>
                      <a:srgbClr val="DCE6F2"/>
                    </a:solidFill>
                    <a:lnL w="9525" cap="flat" cmpd="sng" algn="ctr">
                      <a:solidFill>
                        <a:srgbClr val="D8DEE6"/>
                      </a:solidFill>
                    </a:lnL>
                    <a:lnR w="9525" cap="flat" cmpd="sng" algn="ctr">
                      <a:solidFill>
                        <a:srgbClr val="D8DEE6"/>
                      </a:solidFill>
                    </a:lnR>
                    <a:lnT w="9525" cap="flat" cmpd="sng" algn="ctr">
                      <a:solidFill>
                        <a:srgbClr val="D8DEE6"/>
                      </a:solidFill>
                    </a:lnT>
                    <a:lnB w="9525" cap="flat" cmpd="sng" algn="ctr">
                      <a:solidFill>
                        <a:srgbClr val="D8DEE6"/>
                      </a:solidFill>
                    </a:lnB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333333"/>
                          </a:solidFill>
                          <a:latin typeface="Pretendard"/>
                        </a:rPr>
                        <a:t>Talkie</a:t>
                      </a:r>
                    </a:p>
                  </a:txBody>
                  <a:tcPr anchor="ctr" marL="128016" marR="91440" marT="27432" marB="27432">
                    <a:solidFill>
                      <a:srgbClr val="FFFFFF"/>
                    </a:solidFill>
                    <a:lnL w="9525" cap="flat" cmpd="sng" algn="ctr">
                      <a:solidFill>
                        <a:srgbClr val="D8DEE6"/>
                      </a:solidFill>
                    </a:lnL>
                    <a:lnR w="9525" cap="flat" cmpd="sng" algn="ctr">
                      <a:solidFill>
                        <a:srgbClr val="D8DEE6"/>
                      </a:solidFill>
                    </a:lnR>
                    <a:lnT w="9525" cap="flat" cmpd="sng" algn="ctr">
                      <a:solidFill>
                        <a:srgbClr val="D8DEE6"/>
                      </a:solidFill>
                    </a:lnT>
                    <a:lnB w="9525" cap="flat" cmpd="sng" algn="ctr">
                      <a:solidFill>
                        <a:srgbClr val="D8DEE6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 b="0">
                          <a:solidFill>
                            <a:srgbClr val="111111"/>
                          </a:solidFill>
                          <a:latin typeface="Pretendard"/>
                        </a:rPr>
                        <a:t>하루 50건</a:t>
                      </a:r>
                    </a:p>
                  </a:txBody>
                  <a:tcPr anchor="ctr" marL="128016" marR="91440" marT="27432" marB="27432">
                    <a:solidFill>
                      <a:srgbClr val="FFFFFF"/>
                    </a:solidFill>
                    <a:lnL w="9525" cap="flat" cmpd="sng" algn="ctr">
                      <a:solidFill>
                        <a:srgbClr val="D8DEE6"/>
                      </a:solidFill>
                    </a:lnL>
                    <a:lnR w="9525" cap="flat" cmpd="sng" algn="ctr">
                      <a:solidFill>
                        <a:srgbClr val="D8DEE6"/>
                      </a:solidFill>
                    </a:lnR>
                    <a:lnT w="9525" cap="flat" cmpd="sng" algn="ctr">
                      <a:solidFill>
                        <a:srgbClr val="D8DEE6"/>
                      </a:solidFill>
                    </a:lnT>
                    <a:lnB w="9525" cap="flat" cmpd="sng" algn="ctr">
                      <a:solidFill>
                        <a:srgbClr val="D8DEE6"/>
                      </a:solidFill>
                    </a:lnB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333333"/>
                          </a:solidFill>
                          <a:latin typeface="Pretendard"/>
                        </a:rPr>
                        <a:t>Chai</a:t>
                      </a:r>
                    </a:p>
                  </a:txBody>
                  <a:tcPr anchor="ctr" marL="128016" marR="91440" marT="27432" marB="27432">
                    <a:solidFill>
                      <a:srgbClr val="FFFFFF"/>
                    </a:solidFill>
                    <a:lnL w="9525" cap="flat" cmpd="sng" algn="ctr">
                      <a:solidFill>
                        <a:srgbClr val="D8DEE6"/>
                      </a:solidFill>
                    </a:lnL>
                    <a:lnR w="9525" cap="flat" cmpd="sng" algn="ctr">
                      <a:solidFill>
                        <a:srgbClr val="D8DEE6"/>
                      </a:solidFill>
                    </a:lnR>
                    <a:lnT w="9525" cap="flat" cmpd="sng" algn="ctr">
                      <a:solidFill>
                        <a:srgbClr val="D8DEE6"/>
                      </a:solidFill>
                    </a:lnT>
                    <a:lnB w="9525" cap="flat" cmpd="sng" algn="ctr">
                      <a:solidFill>
                        <a:srgbClr val="D8DEE6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 b="0">
                          <a:solidFill>
                            <a:srgbClr val="111111"/>
                          </a:solidFill>
                          <a:latin typeface="Pretendard"/>
                        </a:rPr>
                        <a:t>하루 약 70건 · $13.99</a:t>
                      </a:r>
                    </a:p>
                  </a:txBody>
                  <a:tcPr anchor="ctr" marL="128016" marR="91440" marT="27432" marB="27432">
                    <a:solidFill>
                      <a:srgbClr val="FFFFFF"/>
                    </a:solidFill>
                    <a:lnL w="9525" cap="flat" cmpd="sng" algn="ctr">
                      <a:solidFill>
                        <a:srgbClr val="D8DEE6"/>
                      </a:solidFill>
                    </a:lnL>
                    <a:lnR w="9525" cap="flat" cmpd="sng" algn="ctr">
                      <a:solidFill>
                        <a:srgbClr val="D8DEE6"/>
                      </a:solidFill>
                    </a:lnR>
                    <a:lnT w="9525" cap="flat" cmpd="sng" algn="ctr">
                      <a:solidFill>
                        <a:srgbClr val="D8DEE6"/>
                      </a:solidFill>
                    </a:lnT>
                    <a:lnB w="9525" cap="flat" cmpd="sng" algn="ctr">
                      <a:solidFill>
                        <a:srgbClr val="D8DEE6"/>
                      </a:solidFill>
                    </a:lnB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333333"/>
                          </a:solidFill>
                          <a:latin typeface="Pretendard"/>
                        </a:rPr>
                        <a:t>Character.AI</a:t>
                      </a:r>
                    </a:p>
                  </a:txBody>
                  <a:tcPr anchor="ctr" marL="128016" marR="91440" marT="27432" marB="27432">
                    <a:solidFill>
                      <a:srgbClr val="FFFFFF"/>
                    </a:solidFill>
                    <a:lnL w="9525" cap="flat" cmpd="sng" algn="ctr">
                      <a:solidFill>
                        <a:srgbClr val="D8DEE6"/>
                      </a:solidFill>
                    </a:lnL>
                    <a:lnR w="9525" cap="flat" cmpd="sng" algn="ctr">
                      <a:solidFill>
                        <a:srgbClr val="D8DEE6"/>
                      </a:solidFill>
                    </a:lnR>
                    <a:lnT w="9525" cap="flat" cmpd="sng" algn="ctr">
                      <a:solidFill>
                        <a:srgbClr val="D8DEE6"/>
                      </a:solidFill>
                    </a:lnT>
                    <a:lnB w="9525" cap="flat" cmpd="sng" algn="ctr">
                      <a:solidFill>
                        <a:srgbClr val="D8DEE6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 b="0">
                          <a:solidFill>
                            <a:srgbClr val="111111"/>
                          </a:solidFill>
                          <a:latin typeface="Pretendard"/>
                        </a:rPr>
                        <a:t>무제한 · $9.99</a:t>
                      </a:r>
                    </a:p>
                  </a:txBody>
                  <a:tcPr anchor="ctr" marL="128016" marR="91440" marT="27432" marB="27432">
                    <a:solidFill>
                      <a:srgbClr val="FFFFFF"/>
                    </a:solidFill>
                    <a:lnL w="9525" cap="flat" cmpd="sng" algn="ctr">
                      <a:solidFill>
                        <a:srgbClr val="D8DEE6"/>
                      </a:solidFill>
                    </a:lnL>
                    <a:lnR w="9525" cap="flat" cmpd="sng" algn="ctr">
                      <a:solidFill>
                        <a:srgbClr val="D8DEE6"/>
                      </a:solidFill>
                    </a:lnR>
                    <a:lnT w="9525" cap="flat" cmpd="sng" algn="ctr">
                      <a:solidFill>
                        <a:srgbClr val="D8DEE6"/>
                      </a:solidFill>
                    </a:lnT>
                    <a:lnB w="9525" cap="flat" cmpd="sng" algn="ctr">
                      <a:solidFill>
                        <a:srgbClr val="D8DEE6"/>
                      </a:solidFill>
                    </a:lnB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333333"/>
                          </a:solidFill>
                          <a:latin typeface="Pretendard"/>
                        </a:rPr>
                        <a:t>Replika</a:t>
                      </a:r>
                    </a:p>
                  </a:txBody>
                  <a:tcPr anchor="ctr" marL="128016" marR="91440" marT="27432" marB="27432">
                    <a:solidFill>
                      <a:srgbClr val="FFFFFF"/>
                    </a:solidFill>
                    <a:lnL w="9525" cap="flat" cmpd="sng" algn="ctr">
                      <a:solidFill>
                        <a:srgbClr val="D8DEE6"/>
                      </a:solidFill>
                    </a:lnL>
                    <a:lnR w="9525" cap="flat" cmpd="sng" algn="ctr">
                      <a:solidFill>
                        <a:srgbClr val="D8DEE6"/>
                      </a:solidFill>
                    </a:lnR>
                    <a:lnT w="9525" cap="flat" cmpd="sng" algn="ctr">
                      <a:solidFill>
                        <a:srgbClr val="D8DEE6"/>
                      </a:solidFill>
                    </a:lnT>
                    <a:lnB w="9525" cap="flat" cmpd="sng" algn="ctr">
                      <a:solidFill>
                        <a:srgbClr val="D8DEE6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 b="0">
                          <a:solidFill>
                            <a:srgbClr val="111111"/>
                          </a:solidFill>
                          <a:latin typeface="Pretendard"/>
                        </a:rPr>
                        <a:t>소형 모델 · $19.99</a:t>
                      </a:r>
                    </a:p>
                  </a:txBody>
                  <a:tcPr anchor="ctr" marL="128016" marR="91440" marT="27432" marB="27432">
                    <a:solidFill>
                      <a:srgbClr val="FFFFFF"/>
                    </a:solidFill>
                    <a:lnL w="9525" cap="flat" cmpd="sng" algn="ctr">
                      <a:solidFill>
                        <a:srgbClr val="D8DEE6"/>
                      </a:solidFill>
                    </a:lnL>
                    <a:lnR w="9525" cap="flat" cmpd="sng" algn="ctr">
                      <a:solidFill>
                        <a:srgbClr val="D8DEE6"/>
                      </a:solidFill>
                    </a:lnR>
                    <a:lnT w="9525" cap="flat" cmpd="sng" algn="ctr">
                      <a:solidFill>
                        <a:srgbClr val="D8DEE6"/>
                      </a:solidFill>
                    </a:lnT>
                    <a:lnB w="9525" cap="flat" cmpd="sng" algn="ctr">
                      <a:solidFill>
                        <a:srgbClr val="D8DEE6"/>
                      </a:solidFill>
                    </a:lnB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4081ED"/>
                          </a:solidFill>
                          <a:latin typeface="Pretendard SemiBold"/>
                        </a:rPr>
                        <a:t>마음이음 (제안)</a:t>
                      </a:r>
                    </a:p>
                  </a:txBody>
                  <a:tcPr anchor="ctr" marL="128016" marR="91440" marT="27432" marB="27432">
                    <a:solidFill>
                      <a:srgbClr val="E4ECF8"/>
                    </a:solidFill>
                    <a:lnL w="9525" cap="flat" cmpd="sng" algn="ctr">
                      <a:solidFill>
                        <a:srgbClr val="D8DEE6"/>
                      </a:solidFill>
                    </a:lnL>
                    <a:lnR w="9525" cap="flat" cmpd="sng" algn="ctr">
                      <a:solidFill>
                        <a:srgbClr val="D8DEE6"/>
                      </a:solidFill>
                    </a:lnR>
                    <a:lnT w="9525" cap="flat" cmpd="sng" algn="ctr">
                      <a:solidFill>
                        <a:srgbClr val="D8DEE6"/>
                      </a:solidFill>
                    </a:lnT>
                    <a:lnB w="9525" cap="flat" cmpd="sng" algn="ctr">
                      <a:solidFill>
                        <a:srgbClr val="D8DEE6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500" b="1">
                          <a:solidFill>
                            <a:srgbClr val="4081ED"/>
                          </a:solidFill>
                          <a:latin typeface="Pretendard SemiBold"/>
                        </a:rPr>
                        <a:t>무료 20턴 · 유료 50턴 / 19,900원</a:t>
                      </a:r>
                    </a:p>
                  </a:txBody>
                  <a:tcPr anchor="ctr" marL="128016" marR="91440" marT="27432" marB="27432">
                    <a:solidFill>
                      <a:srgbClr val="E4ECF8"/>
                    </a:solidFill>
                    <a:lnL w="9525" cap="flat" cmpd="sng" algn="ctr">
                      <a:solidFill>
                        <a:srgbClr val="D8DEE6"/>
                      </a:solidFill>
                    </a:lnL>
                    <a:lnR w="9525" cap="flat" cmpd="sng" algn="ctr">
                      <a:solidFill>
                        <a:srgbClr val="D8DEE6"/>
                      </a:solidFill>
                    </a:lnR>
                    <a:lnT w="9525" cap="flat" cmpd="sng" algn="ctr">
                      <a:solidFill>
                        <a:srgbClr val="D8DEE6"/>
                      </a:solidFill>
                    </a:lnT>
                    <a:lnB w="9525" cap="flat" cmpd="sng" algn="ctr">
                      <a:solidFill>
                        <a:srgbClr val="D8DEE6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14" name="Rounded Rectangle 13"/>
          <p:cNvSpPr/>
          <p:nvPr/>
        </p:nvSpPr>
        <p:spPr>
          <a:xfrm>
            <a:off x="1764792" y="6903720"/>
            <a:ext cx="8503920" cy="640080"/>
          </a:xfrm>
          <a:prstGeom prst="roundRect">
            <a:avLst>
              <a:gd name="adj" fmla="val 25000"/>
            </a:avLst>
          </a:prstGeom>
          <a:solidFill>
            <a:srgbClr val="EEF3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>
            <a:noAutofit/>
          </a:bodyPr>
          <a:lstStyle/>
          <a:p>
            <a:pPr algn="ctr"/>
            <a:r>
              <a:rPr sz="1600" b="1">
                <a:solidFill>
                  <a:srgbClr val="4081ED"/>
                </a:solidFill>
                <a:latin typeface="Pretendard SemiBold"/>
              </a:rPr>
              <a:t>→ 마음이음 제안은 업계 하단 — 무료 20턴 · 유료 50턴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0607040" y="3931920"/>
            <a:ext cx="5989320" cy="1234440"/>
          </a:xfrm>
          <a:prstGeom prst="roundRect">
            <a:avLst>
              <a:gd name="adj" fmla="val 8000"/>
            </a:avLst>
          </a:prstGeom>
          <a:solidFill>
            <a:srgbClr val="EEF3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rIns="219456">
            <a:no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858585"/>
                </a:solidFill>
                <a:latin typeface="Pretendard SemiBold"/>
              </a:rPr>
              <a:t>업계 무료 상한</a:t>
            </a:r>
          </a:p>
          <a:p>
            <a:pPr algn="l">
              <a:spcAft>
                <a:spcPts val="400"/>
              </a:spcAft>
            </a:pPr>
            <a:r>
              <a:rPr sz="2500" b="1">
                <a:solidFill>
                  <a:srgbClr val="4081ED"/>
                </a:solidFill>
                <a:latin typeface="Pretendard SemiBold"/>
              </a:rPr>
              <a:t>하루 50~70건</a:t>
            </a:r>
          </a:p>
          <a:p>
            <a:pPr algn="l">
              <a:lnSpc>
                <a:spcPct val="108000"/>
              </a:lnSpc>
            </a:pPr>
            <a:r>
              <a:rPr sz="1400" b="0">
                <a:solidFill>
                  <a:srgbClr val="333333"/>
                </a:solidFill>
                <a:latin typeface="Pretendard"/>
              </a:rPr>
              <a:t>Talkie 50 · Chai 70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0607040" y="5394960"/>
            <a:ext cx="5989320" cy="1234440"/>
          </a:xfrm>
          <a:prstGeom prst="roundRect">
            <a:avLst>
              <a:gd name="adj" fmla="val 8000"/>
            </a:avLst>
          </a:prstGeom>
          <a:solidFill>
            <a:srgbClr val="EEF3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rIns="219456">
            <a:no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858585"/>
                </a:solidFill>
                <a:latin typeface="Pretendard SemiBold"/>
              </a:rPr>
              <a:t>업계 유료 가격</a:t>
            </a:r>
          </a:p>
          <a:p>
            <a:pPr algn="l">
              <a:spcAft>
                <a:spcPts val="400"/>
              </a:spcAft>
            </a:pPr>
            <a:r>
              <a:rPr sz="2500" b="1">
                <a:solidFill>
                  <a:srgbClr val="4081ED"/>
                </a:solidFill>
                <a:latin typeface="Pretendard SemiBold"/>
              </a:rPr>
              <a:t>$9.99 ~ $19.99</a:t>
            </a:r>
          </a:p>
          <a:p>
            <a:pPr algn="l">
              <a:lnSpc>
                <a:spcPct val="108000"/>
              </a:lnSpc>
            </a:pPr>
            <a:r>
              <a:rPr sz="1400" b="0">
                <a:solidFill>
                  <a:srgbClr val="333333"/>
                </a:solidFill>
                <a:latin typeface="Pretendard"/>
              </a:rPr>
              <a:t>월 14,000~28,000원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607040" y="6858000"/>
            <a:ext cx="5989320" cy="1417320"/>
          </a:xfrm>
          <a:prstGeom prst="roundRect">
            <a:avLst>
              <a:gd name="adj" fmla="val 8000"/>
            </a:avLst>
          </a:prstGeom>
          <a:solidFill>
            <a:srgbClr val="3E7E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rIns="219456">
            <a:no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Pretendard SemiBold"/>
              </a:rPr>
              <a:t>우리 실측 중앙값</a:t>
            </a:r>
          </a:p>
          <a:p>
            <a:pPr algn="l">
              <a:spcAft>
                <a:spcPts val="400"/>
              </a:spcAft>
            </a:pPr>
            <a:r>
              <a:rPr sz="2600" b="1">
                <a:solidFill>
                  <a:srgbClr val="FFFFFF"/>
                </a:solidFill>
                <a:latin typeface="Pretendard SemiBold"/>
              </a:rPr>
              <a:t>하루 15턴</a:t>
            </a:r>
          </a:p>
          <a:p>
            <a:pPr algn="l">
              <a:lnSpc>
                <a:spcPct val="108000"/>
              </a:lnSpc>
            </a:pPr>
            <a:r>
              <a:rPr sz="1400" b="0">
                <a:solidFill>
                  <a:srgbClr val="EAF0FC"/>
                </a:solidFill>
                <a:latin typeface="Pretendard"/>
              </a:rPr>
              <a:t>사람이 쓴 40일 기준 (p75 26턴)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764792" y="8732520"/>
            <a:ext cx="14813280" cy="5029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noAutofit/>
          </a:bodyPr>
          <a:lstStyle/>
          <a:p>
            <a:pPr algn="l"/>
            <a:r>
              <a:rPr sz="1300" b="0">
                <a:solidFill>
                  <a:srgbClr val="858585"/>
                </a:solidFill>
                <a:latin typeface="Pretendard"/>
              </a:rPr>
              <a:t>※ 타사는 대화 모델만 돌리지만 우리는 매 턴 인지 분석기가 함께 돈다 — 같은 턴 수라도 원가가 높다. 타사의 '건'은 사용자 메시지 1건으로 우리 '턴'과 같은 단위다. 우리 중앙값은 내부·관계자 계정 40일 기준이며 외부 실사용자 데이터는 아직 없다.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1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261872"/>
            <a:ext cx="16980408" cy="8449056"/>
          </a:xfrm>
          <a:prstGeom prst="rect">
            <a:avLst/>
          </a:prstGeom>
        </p:spPr>
      </p:pic>
      <p:pic>
        <p:nvPicPr>
          <p:cNvPr id="3" name="Picture 2" descr="image1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368" y="530352"/>
            <a:ext cx="16952976" cy="69494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536192" y="713232"/>
            <a:ext cx="274320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noAutofit/>
          </a:bodyPr>
          <a:lstStyle/>
          <a:p>
            <a:pPr algn="l"/>
            <a:r>
              <a:rPr sz="1300" b="0">
                <a:solidFill>
                  <a:srgbClr val="FFFFFF"/>
                </a:solidFill>
                <a:latin typeface="Pretendard"/>
              </a:rPr>
              <a:t>FIRST C&amp;D</a:t>
            </a:r>
          </a:p>
        </p:txBody>
      </p:sp>
      <p:pic>
        <p:nvPicPr>
          <p:cNvPr id="5" name="Picture 4" descr="image1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435072" y="758952"/>
            <a:ext cx="237744" cy="219456"/>
          </a:xfrm>
          <a:prstGeom prst="rect">
            <a:avLst/>
          </a:prstGeom>
        </p:spPr>
      </p:pic>
      <p:pic>
        <p:nvPicPr>
          <p:cNvPr id="6" name="Picture 5" descr="image17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5937992" y="685800"/>
            <a:ext cx="365760" cy="365760"/>
          </a:xfrm>
          <a:prstGeom prst="rect">
            <a:avLst/>
          </a:prstGeom>
        </p:spPr>
      </p:pic>
      <p:pic>
        <p:nvPicPr>
          <p:cNvPr id="7" name="Picture 6" descr="image18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6587216" y="740664"/>
            <a:ext cx="256032" cy="265176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764792" y="1764792"/>
            <a:ext cx="1499616" cy="1179576"/>
          </a:xfrm>
          <a:prstGeom prst="rect">
            <a:avLst/>
          </a:prstGeom>
          <a:noFill/>
        </p:spPr>
        <p:txBody>
          <a:bodyPr wrap="square" lIns="45720" rIns="45720" tIns="18288" bIns="18288" anchor="t">
            <a:noAutofit/>
          </a:bodyPr>
          <a:lstStyle/>
          <a:p>
            <a:pPr algn="l"/>
            <a:r>
              <a:rPr sz="6600" b="1">
                <a:solidFill>
                  <a:srgbClr val="4081ED"/>
                </a:solidFill>
                <a:latin typeface="Pretendard SemiBold"/>
              </a:rPr>
              <a:t>06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66744" y="1828800"/>
            <a:ext cx="13551408" cy="106984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noAutofit/>
          </a:bodyPr>
          <a:lstStyle/>
          <a:p>
            <a:pPr algn="l"/>
            <a:r>
              <a:rPr sz="4000" b="1">
                <a:solidFill>
                  <a:srgbClr val="111111"/>
                </a:solidFill>
                <a:latin typeface="Pretendard SemiBold"/>
              </a:rPr>
              <a:t>사용량별 1인 월 원가</a:t>
            </a:r>
          </a:p>
        </p:txBody>
      </p:sp>
      <p:pic>
        <p:nvPicPr>
          <p:cNvPr id="10" name="Picture 9" descr="image19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380744" y="3090672"/>
            <a:ext cx="15517367" cy="9144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2130552" y="3465576"/>
            <a:ext cx="3291840" cy="475488"/>
          </a:xfrm>
          <a:prstGeom prst="roundRect">
            <a:avLst>
              <a:gd name="adj" fmla="val 50000"/>
            </a:avLst>
          </a:prstGeom>
          <a:solidFill>
            <a:srgbClr val="3E7E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>
            <a:no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Pretendard SemiBold"/>
              </a:rPr>
              <a:t>턴당 9.6원 기준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157448" y="9893808"/>
            <a:ext cx="548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noAutofit/>
          </a:bodyPr>
          <a:lstStyle/>
          <a:p>
            <a:pPr algn="r"/>
            <a:r>
              <a:rPr sz="1200" b="0">
                <a:solidFill>
                  <a:srgbClr val="858585"/>
                </a:solidFill>
                <a:latin typeface="Pretendard"/>
              </a:rPr>
              <a:t>7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754880" y="4434840"/>
            <a:ext cx="22860" cy="4251960"/>
          </a:xfrm>
          <a:prstGeom prst="rect">
            <a:avLst/>
          </a:prstGeom>
          <a:solidFill>
            <a:srgbClr val="C9CD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417320" y="4617720"/>
            <a:ext cx="3154680" cy="105156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noAutofit/>
          </a:bodyPr>
          <a:lstStyle/>
          <a:p>
            <a:pPr algn="r"/>
            <a:r>
              <a:rPr sz="1600" b="1">
                <a:solidFill>
                  <a:srgbClr val="111111"/>
                </a:solidFill>
                <a:latin typeface="Pretendard SemiBold"/>
              </a:rPr>
              <a:t>하루 70턴</a:t>
            </a:r>
          </a:p>
          <a:p>
            <a:pPr algn="r"/>
            <a:r>
              <a:rPr sz="1200" b="0">
                <a:solidFill>
                  <a:srgbClr val="858585"/>
                </a:solidFill>
                <a:latin typeface="Pretendard SemiBold"/>
              </a:rPr>
              <a:t>Replika 실사용 평균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754880" y="4617720"/>
            <a:ext cx="5486400" cy="1051560"/>
          </a:xfrm>
          <a:prstGeom prst="roundRect">
            <a:avLst>
              <a:gd name="adj" fmla="val 12000"/>
            </a:avLst>
          </a:prstGeom>
          <a:solidFill>
            <a:srgbClr val="9AA0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378440" y="4617720"/>
            <a:ext cx="3108960" cy="105156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800" b="1">
                <a:solidFill>
                  <a:srgbClr val="111111"/>
                </a:solidFill>
                <a:latin typeface="Pretendard SemiBold"/>
              </a:rPr>
              <a:t>20,160원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417320" y="6080760"/>
            <a:ext cx="3154680" cy="105156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noAutofit/>
          </a:bodyPr>
          <a:lstStyle/>
          <a:p>
            <a:pPr algn="r"/>
            <a:r>
              <a:rPr sz="1600" b="1">
                <a:solidFill>
                  <a:srgbClr val="111111"/>
                </a:solidFill>
                <a:latin typeface="Pretendard SemiBold"/>
              </a:rPr>
              <a:t>하루 50턴</a:t>
            </a:r>
          </a:p>
          <a:p>
            <a:pPr algn="r"/>
            <a:r>
              <a:rPr sz="1200" b="0">
                <a:solidFill>
                  <a:srgbClr val="858585"/>
                </a:solidFill>
                <a:latin typeface="Pretendard"/>
              </a:rPr>
              <a:t>Talkie 무료 상한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754880" y="6080760"/>
            <a:ext cx="3918857" cy="1051560"/>
          </a:xfrm>
          <a:prstGeom prst="roundRect">
            <a:avLst>
              <a:gd name="adj" fmla="val 12000"/>
            </a:avLst>
          </a:prstGeom>
          <a:solidFill>
            <a:srgbClr val="9AA0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810897" y="6080760"/>
            <a:ext cx="3108960" cy="105156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800" b="1">
                <a:solidFill>
                  <a:srgbClr val="111111"/>
                </a:solidFill>
                <a:latin typeface="Pretendard SemiBold"/>
              </a:rPr>
              <a:t>14,400원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17320" y="7543800"/>
            <a:ext cx="3154680" cy="105156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noAutofit/>
          </a:bodyPr>
          <a:lstStyle/>
          <a:p>
            <a:pPr algn="r"/>
            <a:r>
              <a:rPr sz="1600" b="1">
                <a:solidFill>
                  <a:srgbClr val="111111"/>
                </a:solidFill>
                <a:latin typeface="Pretendard SemiBold"/>
              </a:rPr>
              <a:t>하루 20턴</a:t>
            </a:r>
          </a:p>
          <a:p>
            <a:pPr algn="r"/>
            <a:r>
              <a:rPr sz="1200" b="0">
                <a:solidFill>
                  <a:srgbClr val="858585"/>
                </a:solidFill>
                <a:latin typeface="Pretendard"/>
              </a:rPr>
              <a:t>권장 무료 상한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754880" y="7543800"/>
            <a:ext cx="1567542" cy="1051560"/>
          </a:xfrm>
          <a:prstGeom prst="roundRect">
            <a:avLst>
              <a:gd name="adj" fmla="val 12000"/>
            </a:avLst>
          </a:prstGeom>
          <a:solidFill>
            <a:srgbClr val="3E7E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59582" y="7543800"/>
            <a:ext cx="3108960" cy="105156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900" b="1">
                <a:solidFill>
                  <a:srgbClr val="4081ED"/>
                </a:solidFill>
                <a:latin typeface="Pretendard SemiBold"/>
              </a:rPr>
              <a:t>5,760원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764792" y="8686800"/>
            <a:ext cx="14813280" cy="777240"/>
          </a:xfrm>
          <a:prstGeom prst="roundRect">
            <a:avLst>
              <a:gd name="adj" fmla="val 30000"/>
            </a:avLst>
          </a:prstGeom>
          <a:solidFill>
            <a:srgbClr val="3E7E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>
            <a:no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Pretendard SemiBold"/>
              </a:rPr>
              <a:t>Play 수수료 15%를 뗀 수령액이 이 원가를 넘어야 한다 — 가격의 하한선을 결정하는 수치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1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261872"/>
            <a:ext cx="16980408" cy="8449056"/>
          </a:xfrm>
          <a:prstGeom prst="rect">
            <a:avLst/>
          </a:prstGeom>
        </p:spPr>
      </p:pic>
      <p:pic>
        <p:nvPicPr>
          <p:cNvPr id="3" name="Picture 2" descr="image1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368" y="530352"/>
            <a:ext cx="16952976" cy="69494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536192" y="713232"/>
            <a:ext cx="274320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noAutofit/>
          </a:bodyPr>
          <a:lstStyle/>
          <a:p>
            <a:pPr algn="l"/>
            <a:r>
              <a:rPr sz="1300" b="0">
                <a:solidFill>
                  <a:srgbClr val="FFFFFF"/>
                </a:solidFill>
                <a:latin typeface="Pretendard"/>
              </a:rPr>
              <a:t>FIRST C&amp;D</a:t>
            </a:r>
          </a:p>
        </p:txBody>
      </p:sp>
      <p:pic>
        <p:nvPicPr>
          <p:cNvPr id="5" name="Picture 4" descr="image1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435072" y="758952"/>
            <a:ext cx="237744" cy="219456"/>
          </a:xfrm>
          <a:prstGeom prst="rect">
            <a:avLst/>
          </a:prstGeom>
        </p:spPr>
      </p:pic>
      <p:pic>
        <p:nvPicPr>
          <p:cNvPr id="6" name="Picture 5" descr="image17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5937992" y="685800"/>
            <a:ext cx="365760" cy="365760"/>
          </a:xfrm>
          <a:prstGeom prst="rect">
            <a:avLst/>
          </a:prstGeom>
        </p:spPr>
      </p:pic>
      <p:pic>
        <p:nvPicPr>
          <p:cNvPr id="7" name="Picture 6" descr="image18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6587216" y="740664"/>
            <a:ext cx="256032" cy="265176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764792" y="1764792"/>
            <a:ext cx="1499616" cy="1179576"/>
          </a:xfrm>
          <a:prstGeom prst="rect">
            <a:avLst/>
          </a:prstGeom>
          <a:noFill/>
        </p:spPr>
        <p:txBody>
          <a:bodyPr wrap="square" lIns="45720" rIns="45720" tIns="18288" bIns="18288" anchor="t">
            <a:noAutofit/>
          </a:bodyPr>
          <a:lstStyle/>
          <a:p>
            <a:pPr algn="l"/>
            <a:r>
              <a:rPr sz="6600" b="1">
                <a:solidFill>
                  <a:srgbClr val="4081ED"/>
                </a:solidFill>
                <a:latin typeface="Pretendard SemiBold"/>
              </a:rPr>
              <a:t>07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66744" y="1828800"/>
            <a:ext cx="13551408" cy="106984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noAutofit/>
          </a:bodyPr>
          <a:lstStyle/>
          <a:p>
            <a:pPr algn="l"/>
            <a:r>
              <a:rPr sz="4000" b="1">
                <a:solidFill>
                  <a:srgbClr val="111111"/>
                </a:solidFill>
                <a:latin typeface="Pretendard SemiBold"/>
              </a:rPr>
              <a:t>가격안 — 두 가지 시나리오</a:t>
            </a:r>
          </a:p>
        </p:txBody>
      </p:sp>
      <p:pic>
        <p:nvPicPr>
          <p:cNvPr id="10" name="Picture 9" descr="image19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380744" y="3090672"/>
            <a:ext cx="15517367" cy="9144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2130552" y="3465576"/>
            <a:ext cx="2468880" cy="475488"/>
          </a:xfrm>
          <a:prstGeom prst="roundRect">
            <a:avLst>
              <a:gd name="adj" fmla="val 50000"/>
            </a:avLst>
          </a:prstGeom>
          <a:solidFill>
            <a:srgbClr val="3E7E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>
            <a:no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Pretendard SemiBold"/>
              </a:rPr>
              <a:t>월 단위 수지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157448" y="9893808"/>
            <a:ext cx="548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noAutofit/>
          </a:bodyPr>
          <a:lstStyle/>
          <a:p>
            <a:pPr algn="r"/>
            <a:r>
              <a:rPr sz="1200" b="0">
                <a:solidFill>
                  <a:srgbClr val="858585"/>
                </a:solidFill>
                <a:latin typeface="Pretendard"/>
              </a:rPr>
              <a:t>8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1475720" y="3584448"/>
            <a:ext cx="256032" cy="256032"/>
          </a:xfrm>
          <a:prstGeom prst="rect">
            <a:avLst/>
          </a:prstGeom>
          <a:solidFill>
            <a:srgbClr val="3E7E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795760" y="3520440"/>
            <a:ext cx="2011680" cy="38404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noAutofit/>
          </a:bodyPr>
          <a:lstStyle/>
          <a:p>
            <a:pPr algn="l"/>
            <a:r>
              <a:rPr sz="1200" b="0">
                <a:solidFill>
                  <a:srgbClr val="333333"/>
                </a:solidFill>
                <a:latin typeface="Pretendard"/>
              </a:rPr>
              <a:t>최대 원가 — 동반자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4081760" y="3584448"/>
            <a:ext cx="256032" cy="256032"/>
          </a:xfrm>
          <a:prstGeom prst="rect">
            <a:avLst/>
          </a:prstGeom>
          <a:solidFill>
            <a:srgbClr val="AFCB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4401800" y="3520440"/>
            <a:ext cx="2286000" cy="38404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noAutofit/>
          </a:bodyPr>
          <a:lstStyle/>
          <a:p>
            <a:pPr algn="l"/>
            <a:r>
              <a:rPr sz="1200" b="0">
                <a:solidFill>
                  <a:srgbClr val="333333"/>
                </a:solidFill>
                <a:latin typeface="Pretendard"/>
              </a:rPr>
              <a:t>최대 원가 — 분석기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325880" y="4023360"/>
            <a:ext cx="15663672" cy="2148840"/>
          </a:xfrm>
          <a:prstGeom prst="roundRect">
            <a:avLst>
              <a:gd name="adj" fmla="val 4000"/>
            </a:avLst>
          </a:prstGeom>
          <a:solidFill>
            <a:srgbClr val="FAFAFA"/>
          </a:solidFill>
          <a:ln w="12700">
            <a:solidFill>
              <a:srgbClr val="E4E9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645920" y="4114800"/>
            <a:ext cx="5669280" cy="38404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noAutofit/>
          </a:bodyPr>
          <a:lstStyle/>
          <a:p>
            <a:pPr algn="l"/>
            <a:r>
              <a:rPr sz="1700" b="1">
                <a:solidFill>
                  <a:srgbClr val="4081ED"/>
                </a:solidFill>
                <a:latin typeface="Pretendard SemiBold"/>
              </a:rPr>
              <a:t>안 A · 보급형 (월 9,900원 / 하루 30턴)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863840" y="4114800"/>
            <a:ext cx="8915400" cy="384048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r"/>
            <a:r>
              <a:rPr sz="1400" b="1">
                <a:solidFill>
                  <a:srgbClr val="333333"/>
                </a:solidFill>
                <a:latin typeface="Pretendard SemiBold"/>
              </a:rPr>
              <a:t>→ 진입 쉬움, 최악 가정에선 −225원 (≈ 손익분기)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394960" y="4590288"/>
            <a:ext cx="18288" cy="1417320"/>
          </a:xfrm>
          <a:prstGeom prst="rect">
            <a:avLst/>
          </a:prstGeom>
          <a:solidFill>
            <a:srgbClr val="C9CD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417320" y="4617720"/>
            <a:ext cx="3794760" cy="56692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noAutofit/>
          </a:bodyPr>
          <a:lstStyle/>
          <a:p>
            <a:pPr algn="r"/>
            <a:r>
              <a:rPr sz="1500" b="1">
                <a:solidFill>
                  <a:srgbClr val="111111"/>
                </a:solidFill>
                <a:latin typeface="Pretendard SemiBold"/>
              </a:rPr>
              <a:t>수령액</a:t>
            </a:r>
          </a:p>
          <a:p>
            <a:pPr algn="r"/>
            <a:r>
              <a:rPr sz="1100" b="0">
                <a:solidFill>
                  <a:srgbClr val="858585"/>
                </a:solidFill>
                <a:latin typeface="Pretendard"/>
              </a:rPr>
              <a:t>9,900원 − 수수료 15%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394960" y="4617720"/>
            <a:ext cx="2693136" cy="566928"/>
          </a:xfrm>
          <a:prstGeom prst="roundRect">
            <a:avLst>
              <a:gd name="adj" fmla="val 14000"/>
            </a:avLst>
          </a:prstGeom>
          <a:solidFill>
            <a:srgbClr val="9AA0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25256" y="4617720"/>
            <a:ext cx="2468880" cy="566928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700" b="1">
                <a:solidFill>
                  <a:srgbClr val="111111"/>
                </a:solidFill>
                <a:latin typeface="Pretendard SemiBold"/>
              </a:rPr>
              <a:t>8,415원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417320" y="5321808"/>
            <a:ext cx="3794760" cy="56692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noAutofit/>
          </a:bodyPr>
          <a:lstStyle/>
          <a:p>
            <a:pPr algn="r"/>
            <a:r>
              <a:rPr sz="1500" b="1">
                <a:solidFill>
                  <a:srgbClr val="111111"/>
                </a:solidFill>
                <a:latin typeface="Pretendard SemiBold"/>
              </a:rPr>
              <a:t>최대 원가</a:t>
            </a:r>
          </a:p>
          <a:p>
            <a:pPr algn="r"/>
            <a:r>
              <a:rPr sz="1100" b="0">
                <a:solidFill>
                  <a:srgbClr val="858585"/>
                </a:solidFill>
                <a:latin typeface="Pretendard"/>
              </a:rPr>
              <a:t>하루 30턴 × 30일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394960" y="5321808"/>
            <a:ext cx="1426738" cy="566928"/>
          </a:xfrm>
          <a:prstGeom prst="roundRect">
            <a:avLst>
              <a:gd name="adj" fmla="val 14000"/>
            </a:avLst>
          </a:prstGeom>
          <a:solidFill>
            <a:srgbClr val="3E7E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>
            <a:no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Pretendard SemiBold"/>
              </a:rPr>
              <a:t>4,458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821698" y="5321808"/>
            <a:ext cx="1338407" cy="566928"/>
          </a:xfrm>
          <a:prstGeom prst="roundRect">
            <a:avLst>
              <a:gd name="adj" fmla="val 14000"/>
            </a:avLst>
          </a:prstGeom>
          <a:solidFill>
            <a:srgbClr val="AFCB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>
            <a:noAutofit/>
          </a:bodyPr>
          <a:lstStyle/>
          <a:p>
            <a:pPr algn="ctr"/>
            <a:r>
              <a:rPr sz="1200" b="1">
                <a:solidFill>
                  <a:srgbClr val="111111"/>
                </a:solidFill>
                <a:latin typeface="Pretendard SemiBold"/>
              </a:rPr>
              <a:t>4,182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97265" y="5321808"/>
            <a:ext cx="2468880" cy="566928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700" b="1">
                <a:solidFill>
                  <a:srgbClr val="4081ED"/>
                </a:solidFill>
                <a:latin typeface="Pretendard SemiBold"/>
              </a:rPr>
              <a:t>8,640원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325880" y="6355080"/>
            <a:ext cx="15663672" cy="2148840"/>
          </a:xfrm>
          <a:prstGeom prst="roundRect">
            <a:avLst>
              <a:gd name="adj" fmla="val 4000"/>
            </a:avLst>
          </a:prstGeom>
          <a:solidFill>
            <a:srgbClr val="FAFAFA"/>
          </a:solidFill>
          <a:ln w="12700">
            <a:solidFill>
              <a:srgbClr val="E4E9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645920" y="6446520"/>
            <a:ext cx="5669280" cy="38404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noAutofit/>
          </a:bodyPr>
          <a:lstStyle/>
          <a:p>
            <a:pPr algn="l"/>
            <a:r>
              <a:rPr sz="1700" b="1">
                <a:solidFill>
                  <a:srgbClr val="4081ED"/>
                </a:solidFill>
                <a:latin typeface="Pretendard SemiBold"/>
              </a:rPr>
              <a:t>안 B · 표준형 (월 19,900원 / 하루 50턴)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863840" y="6446520"/>
            <a:ext cx="8915400" cy="384048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r"/>
            <a:r>
              <a:rPr sz="1400" b="1">
                <a:solidFill>
                  <a:srgbClr val="333333"/>
                </a:solidFill>
                <a:latin typeface="Pretendard SemiBold"/>
              </a:rPr>
              <a:t>→ Replika 동급 가격 · 최악 가정에도 +2,515원 흑자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394960" y="6922008"/>
            <a:ext cx="18288" cy="1417320"/>
          </a:xfrm>
          <a:prstGeom prst="rect">
            <a:avLst/>
          </a:prstGeom>
          <a:solidFill>
            <a:srgbClr val="C9CD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417320" y="6949440"/>
            <a:ext cx="3794760" cy="56692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noAutofit/>
          </a:bodyPr>
          <a:lstStyle/>
          <a:p>
            <a:pPr algn="r"/>
            <a:r>
              <a:rPr sz="1500" b="1">
                <a:solidFill>
                  <a:srgbClr val="111111"/>
                </a:solidFill>
                <a:latin typeface="Pretendard SemiBold"/>
              </a:rPr>
              <a:t>수령액</a:t>
            </a:r>
          </a:p>
          <a:p>
            <a:pPr algn="r"/>
            <a:r>
              <a:rPr sz="1100" b="0">
                <a:solidFill>
                  <a:srgbClr val="858585"/>
                </a:solidFill>
                <a:latin typeface="Pretendard"/>
              </a:rPr>
              <a:t>19,900원 − 수수료 15%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5394960" y="6949440"/>
            <a:ext cx="5413476" cy="566928"/>
          </a:xfrm>
          <a:prstGeom prst="roundRect">
            <a:avLst>
              <a:gd name="adj" fmla="val 14000"/>
            </a:avLst>
          </a:prstGeom>
          <a:solidFill>
            <a:srgbClr val="9AA0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945596" y="6949440"/>
            <a:ext cx="2468880" cy="566928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700" b="1">
                <a:solidFill>
                  <a:srgbClr val="111111"/>
                </a:solidFill>
                <a:latin typeface="Pretendard SemiBold"/>
              </a:rPr>
              <a:t>16,915원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417320" y="7653527"/>
            <a:ext cx="3794760" cy="56692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noAutofit/>
          </a:bodyPr>
          <a:lstStyle/>
          <a:p>
            <a:pPr algn="r"/>
            <a:r>
              <a:rPr sz="1500" b="1">
                <a:solidFill>
                  <a:srgbClr val="111111"/>
                </a:solidFill>
                <a:latin typeface="Pretendard SemiBold"/>
              </a:rPr>
              <a:t>최대 원가</a:t>
            </a:r>
          </a:p>
          <a:p>
            <a:pPr algn="r"/>
            <a:r>
              <a:rPr sz="1100" b="0">
                <a:solidFill>
                  <a:srgbClr val="858585"/>
                </a:solidFill>
                <a:latin typeface="Pretendard"/>
              </a:rPr>
              <a:t>하루 50턴 × 30일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5394960" y="7653527"/>
            <a:ext cx="2377897" cy="566928"/>
          </a:xfrm>
          <a:prstGeom prst="roundRect">
            <a:avLst>
              <a:gd name="adj" fmla="val 14000"/>
            </a:avLst>
          </a:prstGeom>
          <a:solidFill>
            <a:srgbClr val="3E7E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>
            <a:no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Pretendard SemiBold"/>
              </a:rPr>
              <a:t>7,430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7772857" y="7653527"/>
            <a:ext cx="2230678" cy="566928"/>
          </a:xfrm>
          <a:prstGeom prst="roundRect">
            <a:avLst>
              <a:gd name="adj" fmla="val 14000"/>
            </a:avLst>
          </a:prstGeom>
          <a:solidFill>
            <a:srgbClr val="AFCB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>
            <a:noAutofit/>
          </a:bodyPr>
          <a:lstStyle/>
          <a:p>
            <a:pPr algn="ctr"/>
            <a:r>
              <a:rPr sz="1200" b="1">
                <a:solidFill>
                  <a:srgbClr val="111111"/>
                </a:solidFill>
                <a:latin typeface="Pretendard SemiBold"/>
              </a:rPr>
              <a:t>6,970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140695" y="7653527"/>
            <a:ext cx="2468880" cy="566928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700" b="1">
                <a:solidFill>
                  <a:srgbClr val="4081ED"/>
                </a:solidFill>
                <a:latin typeface="Pretendard SemiBold"/>
              </a:rPr>
              <a:t>14,400원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764792" y="8705088"/>
            <a:ext cx="14904720" cy="8686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noAutofit/>
          </a:bodyPr>
          <a:lstStyle/>
          <a:p>
            <a:pPr algn="l">
              <a:lnSpc>
                <a:spcPct val="114000"/>
              </a:lnSpc>
            </a:pPr>
            <a:r>
              <a:rPr sz="1300" b="0">
                <a:solidFill>
                  <a:srgbClr val="858585"/>
                </a:solidFill>
                <a:latin typeface="Pretendard"/>
              </a:rPr>
              <a:t>※ '최대 원가'는 상한을 매일 끝까지 쓰는 최악 가정. 실측 중앙값(하루 15턴)이면 원가 4,320원이라 두 안 모두 흑자다. 안 A는 사용량이 늘수록 적자로 돌아서고, 안 B는 상한까지 써도 2026년 단가에선 흑자다. ⚠ 2027년 단가(턴당 14.6원)에서는 안 B의 최대 원가가 21,900원이 되어 역전된다 — 연말 전 모델 재검토가 이 가격의 전제다.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1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261872"/>
            <a:ext cx="16980408" cy="8449056"/>
          </a:xfrm>
          <a:prstGeom prst="rect">
            <a:avLst/>
          </a:prstGeom>
        </p:spPr>
      </p:pic>
      <p:pic>
        <p:nvPicPr>
          <p:cNvPr id="3" name="Picture 2" descr="image1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368" y="530352"/>
            <a:ext cx="16952976" cy="69494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536192" y="713232"/>
            <a:ext cx="274320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noAutofit/>
          </a:bodyPr>
          <a:lstStyle/>
          <a:p>
            <a:pPr algn="l"/>
            <a:r>
              <a:rPr sz="1300" b="0">
                <a:solidFill>
                  <a:srgbClr val="FFFFFF"/>
                </a:solidFill>
                <a:latin typeface="Pretendard"/>
              </a:rPr>
              <a:t>FIRST C&amp;D</a:t>
            </a:r>
          </a:p>
        </p:txBody>
      </p:sp>
      <p:pic>
        <p:nvPicPr>
          <p:cNvPr id="5" name="Picture 4" descr="image1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435072" y="758952"/>
            <a:ext cx="237744" cy="219456"/>
          </a:xfrm>
          <a:prstGeom prst="rect">
            <a:avLst/>
          </a:prstGeom>
        </p:spPr>
      </p:pic>
      <p:pic>
        <p:nvPicPr>
          <p:cNvPr id="6" name="Picture 5" descr="image17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5937992" y="685800"/>
            <a:ext cx="365760" cy="365760"/>
          </a:xfrm>
          <a:prstGeom prst="rect">
            <a:avLst/>
          </a:prstGeom>
        </p:spPr>
      </p:pic>
      <p:pic>
        <p:nvPicPr>
          <p:cNvPr id="7" name="Picture 6" descr="image18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6587216" y="740664"/>
            <a:ext cx="256032" cy="265176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764792" y="1764792"/>
            <a:ext cx="1499616" cy="1179576"/>
          </a:xfrm>
          <a:prstGeom prst="rect">
            <a:avLst/>
          </a:prstGeom>
          <a:noFill/>
        </p:spPr>
        <p:txBody>
          <a:bodyPr wrap="square" lIns="45720" rIns="45720" tIns="18288" bIns="18288" anchor="t">
            <a:noAutofit/>
          </a:bodyPr>
          <a:lstStyle/>
          <a:p>
            <a:pPr algn="l"/>
            <a:r>
              <a:rPr sz="6600" b="1">
                <a:solidFill>
                  <a:srgbClr val="4081ED"/>
                </a:solidFill>
                <a:latin typeface="Pretendard SemiBold"/>
              </a:rPr>
              <a:t>08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66744" y="1828800"/>
            <a:ext cx="13551408" cy="106984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noAutofit/>
          </a:bodyPr>
          <a:lstStyle/>
          <a:p>
            <a:pPr algn="l"/>
            <a:r>
              <a:rPr sz="4000" b="1">
                <a:solidFill>
                  <a:srgbClr val="111111"/>
                </a:solidFill>
                <a:latin typeface="Pretendard SemiBold"/>
              </a:rPr>
              <a:t>결론 · 권장</a:t>
            </a:r>
          </a:p>
        </p:txBody>
      </p:sp>
      <p:pic>
        <p:nvPicPr>
          <p:cNvPr id="10" name="Picture 9" descr="image19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380744" y="3090672"/>
            <a:ext cx="15517367" cy="9144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2130552" y="3465576"/>
            <a:ext cx="2194560" cy="475488"/>
          </a:xfrm>
          <a:prstGeom prst="roundRect">
            <a:avLst>
              <a:gd name="adj" fmla="val 50000"/>
            </a:avLst>
          </a:prstGeom>
          <a:solidFill>
            <a:srgbClr val="3E7E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>
            <a:no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Pretendard SemiBold"/>
              </a:rPr>
              <a:t>판단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157448" y="9893808"/>
            <a:ext cx="548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noAutofit/>
          </a:bodyPr>
          <a:lstStyle/>
          <a:p>
            <a:pPr algn="r"/>
            <a:r>
              <a:rPr sz="1200" b="0">
                <a:solidFill>
                  <a:srgbClr val="858585"/>
                </a:solidFill>
                <a:latin typeface="Pretendard"/>
              </a:rPr>
              <a:t>9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764792" y="4206240"/>
            <a:ext cx="7223760" cy="1691640"/>
          </a:xfrm>
          <a:prstGeom prst="roundRect">
            <a:avLst>
              <a:gd name="adj" fmla="val 8000"/>
            </a:avLst>
          </a:prstGeom>
          <a:solidFill>
            <a:srgbClr val="EEF3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1764792" y="4206240"/>
            <a:ext cx="146304" cy="1691640"/>
          </a:xfrm>
          <a:prstGeom prst="roundRect">
            <a:avLst>
              <a:gd name="adj" fmla="val 50000"/>
            </a:avLst>
          </a:prstGeom>
          <a:solidFill>
            <a:srgbClr val="3E7E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148840" y="4206240"/>
            <a:ext cx="6629400" cy="1691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noAutofit/>
          </a:bodyPr>
          <a:lstStyle/>
          <a:p>
            <a:pPr algn="l"/>
            <a:r>
              <a:rPr sz="1700" b="1">
                <a:solidFill>
                  <a:srgbClr val="3F80ED"/>
                </a:solidFill>
                <a:latin typeface="Pretendard SemiBold"/>
              </a:rPr>
              <a:t>모델</a:t>
            </a:r>
          </a:p>
          <a:p>
            <a:pPr algn="l"/>
            <a:r>
              <a:rPr sz="1700" b="1">
                <a:solidFill>
                  <a:srgbClr val="111111"/>
                </a:solidFill>
                <a:latin typeface="Pretendard SemiBold"/>
              </a:rPr>
              <a:t>확정 — 확인 턴 3.8-flash · 턴당 9.6원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354312" y="4206240"/>
            <a:ext cx="7223760" cy="1691640"/>
          </a:xfrm>
          <a:prstGeom prst="roundRect">
            <a:avLst>
              <a:gd name="adj" fmla="val 8000"/>
            </a:avLst>
          </a:prstGeom>
          <a:solidFill>
            <a:srgbClr val="EEF3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9354312" y="4206240"/>
            <a:ext cx="146304" cy="1691640"/>
          </a:xfrm>
          <a:prstGeom prst="roundRect">
            <a:avLst>
              <a:gd name="adj" fmla="val 50000"/>
            </a:avLst>
          </a:prstGeom>
          <a:solidFill>
            <a:srgbClr val="3E7E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738360" y="4206240"/>
            <a:ext cx="6629400" cy="1691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noAutofit/>
          </a:bodyPr>
          <a:lstStyle/>
          <a:p>
            <a:pPr algn="l"/>
            <a:r>
              <a:rPr sz="1700" b="1">
                <a:solidFill>
                  <a:srgbClr val="4081ED"/>
                </a:solidFill>
                <a:latin typeface="Pretendard SemiBold"/>
              </a:rPr>
              <a:t>무료 상한</a:t>
            </a:r>
          </a:p>
          <a:p>
            <a:pPr algn="l"/>
            <a:r>
              <a:rPr sz="1700" b="1">
                <a:solidFill>
                  <a:srgbClr val="4081ED"/>
                </a:solidFill>
                <a:latin typeface="Pretendard SemiBold"/>
              </a:rPr>
              <a:t>하루 20턴 (실측 중앙값 15턴의 1.3배)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764792" y="6053328"/>
            <a:ext cx="7223760" cy="1691640"/>
          </a:xfrm>
          <a:prstGeom prst="roundRect">
            <a:avLst>
              <a:gd name="adj" fmla="val 8000"/>
            </a:avLst>
          </a:prstGeom>
          <a:solidFill>
            <a:srgbClr val="EEF3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1764792" y="6053328"/>
            <a:ext cx="146304" cy="1691640"/>
          </a:xfrm>
          <a:prstGeom prst="roundRect">
            <a:avLst>
              <a:gd name="adj" fmla="val 50000"/>
            </a:avLst>
          </a:prstGeom>
          <a:solidFill>
            <a:srgbClr val="3E7E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148840" y="6053328"/>
            <a:ext cx="6629400" cy="1691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noAutofit/>
          </a:bodyPr>
          <a:lstStyle/>
          <a:p>
            <a:pPr algn="l"/>
            <a:r>
              <a:rPr sz="1700" b="1">
                <a:solidFill>
                  <a:srgbClr val="4081ED"/>
                </a:solidFill>
                <a:latin typeface="Pretendard SemiBold"/>
              </a:rPr>
              <a:t>유료</a:t>
            </a:r>
          </a:p>
          <a:p>
            <a:pPr algn="l">
              <a:lnSpc>
                <a:spcPct val="108000"/>
              </a:lnSpc>
              <a:spcBef>
                <a:spcPts val="400"/>
              </a:spcBef>
            </a:pPr>
            <a:r>
              <a:rPr sz="1900" b="1">
                <a:solidFill>
                  <a:srgbClr val="111111"/>
                </a:solidFill>
                <a:latin typeface="Pretendard SemiBold"/>
              </a:rPr>
              <a:t>월 19,900원 · 하루 50턴 — 최악에도 흑자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354312" y="6053328"/>
            <a:ext cx="7223760" cy="1691640"/>
          </a:xfrm>
          <a:prstGeom prst="roundRect">
            <a:avLst>
              <a:gd name="adj" fmla="val 8000"/>
            </a:avLst>
          </a:prstGeom>
          <a:solidFill>
            <a:srgbClr val="EEF3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9354312" y="6053328"/>
            <a:ext cx="146304" cy="1691640"/>
          </a:xfrm>
          <a:prstGeom prst="roundRect">
            <a:avLst>
              <a:gd name="adj" fmla="val 50000"/>
            </a:avLst>
          </a:prstGeom>
          <a:solidFill>
            <a:srgbClr val="3E7E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738360" y="6053328"/>
            <a:ext cx="6629400" cy="1691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noAutofit/>
          </a:bodyPr>
          <a:lstStyle/>
          <a:p>
            <a:pPr algn="l"/>
            <a:r>
              <a:rPr sz="1700" b="1">
                <a:solidFill>
                  <a:srgbClr val="4081ED"/>
                </a:solidFill>
                <a:latin typeface="Pretendard SemiBold"/>
              </a:rPr>
              <a:t>런칭 전략</a:t>
            </a:r>
          </a:p>
          <a:p>
            <a:pPr algn="l">
              <a:lnSpc>
                <a:spcPct val="108000"/>
              </a:lnSpc>
              <a:spcBef>
                <a:spcPts val="400"/>
              </a:spcBef>
            </a:pPr>
            <a:r>
              <a:rPr sz="1900" b="1">
                <a:solidFill>
                  <a:srgbClr val="111111"/>
                </a:solidFill>
                <a:latin typeface="Pretendard SemiBold"/>
              </a:rPr>
              <a:t>보급형(9,900원 · 30턴) 프로모션 → 표준형 전환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764792" y="8028431"/>
            <a:ext cx="14813280" cy="1143000"/>
          </a:xfrm>
          <a:prstGeom prst="roundRect">
            <a:avLst>
              <a:gd name="adj" fmla="val 14000"/>
            </a:avLst>
          </a:prstGeom>
          <a:solidFill>
            <a:srgbClr val="3E7E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Autofit/>
          </a:bodyPr>
          <a:lstStyle/>
          <a:p>
            <a:pPr algn="ctr">
              <a:lnSpc>
                <a:spcPct val="118000"/>
              </a:lnSpc>
            </a:pPr>
            <a:r>
              <a:rPr sz="1500" b="1">
                <a:solidFill>
                  <a:srgbClr val="FFFFFF"/>
                </a:solidFill>
                <a:latin typeface="Pretendard SemiBold"/>
              </a:rPr>
              <a:t>① 가격 확정  →  ② Play 구독 상품 생성  →  ③ 서비스 계정 · RTDN  →  ④ 라이선스 테스터 실결제  →  ⑤ 유료 전환 ON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1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261872"/>
            <a:ext cx="16980408" cy="8449056"/>
          </a:xfrm>
          <a:prstGeom prst="rect">
            <a:avLst/>
          </a:prstGeom>
        </p:spPr>
      </p:pic>
      <p:pic>
        <p:nvPicPr>
          <p:cNvPr id="3" name="Picture 2" descr="image1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368" y="530352"/>
            <a:ext cx="16952976" cy="69494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536192" y="713232"/>
            <a:ext cx="274320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noAutofit/>
          </a:bodyPr>
          <a:lstStyle/>
          <a:p>
            <a:pPr algn="l"/>
            <a:r>
              <a:rPr sz="1300" b="0">
                <a:solidFill>
                  <a:srgbClr val="FFFFFF"/>
                </a:solidFill>
                <a:latin typeface="Pretendard"/>
              </a:rPr>
              <a:t>FIRST C&amp;D</a:t>
            </a:r>
          </a:p>
        </p:txBody>
      </p:sp>
      <p:pic>
        <p:nvPicPr>
          <p:cNvPr id="5" name="Picture 4" descr="image1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435072" y="758952"/>
            <a:ext cx="237744" cy="219456"/>
          </a:xfrm>
          <a:prstGeom prst="rect">
            <a:avLst/>
          </a:prstGeom>
        </p:spPr>
      </p:pic>
      <p:pic>
        <p:nvPicPr>
          <p:cNvPr id="6" name="Picture 5" descr="image17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5937992" y="685800"/>
            <a:ext cx="365760" cy="365760"/>
          </a:xfrm>
          <a:prstGeom prst="rect">
            <a:avLst/>
          </a:prstGeom>
        </p:spPr>
      </p:pic>
      <p:pic>
        <p:nvPicPr>
          <p:cNvPr id="7" name="Picture 6" descr="image18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6587216" y="740664"/>
            <a:ext cx="256032" cy="265176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764792" y="1764792"/>
            <a:ext cx="1499616" cy="1179576"/>
          </a:xfrm>
          <a:prstGeom prst="rect">
            <a:avLst/>
          </a:prstGeom>
          <a:noFill/>
        </p:spPr>
        <p:txBody>
          <a:bodyPr wrap="square" lIns="45720" rIns="45720" tIns="18288" bIns="18288" anchor="t">
            <a:noAutofit/>
          </a:bodyPr>
          <a:lstStyle/>
          <a:p>
            <a:pPr algn="l"/>
            <a:r>
              <a:rPr sz="6600" b="1">
                <a:solidFill>
                  <a:srgbClr val="4081ED"/>
                </a:solidFill>
                <a:latin typeface="Pretendard SemiBold"/>
              </a:rPr>
              <a:t>09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66744" y="1828800"/>
            <a:ext cx="13551408" cy="106984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noAutofit/>
          </a:bodyPr>
          <a:lstStyle/>
          <a:p>
            <a:pPr algn="l"/>
            <a:r>
              <a:rPr sz="4000" b="1">
                <a:solidFill>
                  <a:srgbClr val="111111"/>
                </a:solidFill>
                <a:latin typeface="Pretendard SemiBold"/>
              </a:rPr>
              <a:t>원가 추가 절감 — 실측 A/B</a:t>
            </a:r>
          </a:p>
        </p:txBody>
      </p:sp>
      <p:pic>
        <p:nvPicPr>
          <p:cNvPr id="10" name="Picture 9" descr="image19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380744" y="3090672"/>
            <a:ext cx="15517367" cy="9144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2130552" y="3465576"/>
            <a:ext cx="2468880" cy="475488"/>
          </a:xfrm>
          <a:prstGeom prst="roundRect">
            <a:avLst>
              <a:gd name="adj" fmla="val 50000"/>
            </a:avLst>
          </a:prstGeom>
          <a:solidFill>
            <a:srgbClr val="3E7E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>
            <a:no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Pretendard SemiBold"/>
              </a:rPr>
              <a:t>측정 완료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157448" y="9893808"/>
            <a:ext cx="548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noAutofit/>
          </a:bodyPr>
          <a:lstStyle/>
          <a:p>
            <a:pPr algn="r"/>
            <a:r>
              <a:rPr sz="1200" b="0">
                <a:solidFill>
                  <a:srgbClr val="858585"/>
                </a:solidFill>
                <a:latin typeface="Pretendard"/>
              </a:rPr>
              <a:t>10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764792" y="4343400"/>
            <a:ext cx="4572000" cy="3063240"/>
          </a:xfrm>
          <a:prstGeom prst="roundRect">
            <a:avLst>
              <a:gd name="adj" fmla="val 6000"/>
            </a:avLst>
          </a:prstGeom>
          <a:solidFill>
            <a:srgbClr val="EEF3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rIns="256032">
            <a:noAutofit/>
          </a:bodyPr>
          <a:lstStyle/>
          <a:p>
            <a:pPr algn="ctr">
              <a:spcAft>
                <a:spcPts val="800"/>
              </a:spcAft>
            </a:pPr>
            <a:r>
              <a:rPr sz="2400" b="1">
                <a:solidFill>
                  <a:srgbClr val="4081ED"/>
                </a:solidFill>
                <a:latin typeface="Pretendard SemiBold"/>
              </a:rPr>
              <a:t>①</a:t>
            </a:r>
          </a:p>
          <a:p>
            <a:pPr algn="ctr"/>
            <a:r>
              <a:rPr sz="2400" b="1">
                <a:solidFill>
                  <a:srgbClr val="4081ED"/>
                </a:solidFill>
                <a:latin typeface="Pretendard SemiBold"/>
              </a:rPr>
              <a:t>안 쓰던 캐시가 있었다</a:t>
            </a:r>
          </a:p>
          <a:p>
            <a:pPr algn="ctr"/>
            <a:r>
              <a:rPr sz="2400" b="1">
                <a:solidFill>
                  <a:srgbClr val="4081ED"/>
                </a:solidFill>
                <a:latin typeface="Pretendard SemiBold"/>
              </a:rPr>
              <a:t>구현은 돼 있었지만</a:t>
            </a:r>
          </a:p>
          <a:p>
            <a:pPr algn="ctr"/>
            <a:r>
              <a:rPr sz="2400" b="1">
                <a:solidFill>
                  <a:srgbClr val="4081ED"/>
                </a:solidFill>
                <a:latin typeface="Pretendard SemiBold"/>
              </a:rPr>
              <a:t>한 번도 켠 적이 없었다</a:t>
            </a:r>
          </a:p>
          <a:p>
            <a:pPr algn="ctr"/>
            <a:r>
              <a:rPr sz="2400" b="1">
                <a:solidFill>
                  <a:srgbClr val="4081ED"/>
                </a:solidFill>
                <a:latin typeface="Pretendard SemiBold"/>
              </a:rPr>
              <a:t>입력 적중 18% → 86%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885432" y="4343400"/>
            <a:ext cx="4572000" cy="3063240"/>
          </a:xfrm>
          <a:prstGeom prst="roundRect">
            <a:avLst>
              <a:gd name="adj" fmla="val 6000"/>
            </a:avLst>
          </a:prstGeom>
          <a:solidFill>
            <a:srgbClr val="EEF3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rIns="256032">
            <a:noAutofit/>
          </a:bodyPr>
          <a:lstStyle/>
          <a:p>
            <a:pPr algn="ctr">
              <a:spcAft>
                <a:spcPts val="800"/>
              </a:spcAft>
            </a:pPr>
            <a:r>
              <a:rPr sz="2400" b="1">
                <a:solidFill>
                  <a:srgbClr val="4081ED"/>
                </a:solidFill>
                <a:latin typeface="Pretendard SemiBold"/>
              </a:rPr>
              <a:t>②</a:t>
            </a:r>
          </a:p>
          <a:p>
            <a:pPr algn="ctr"/>
            <a:r>
              <a:rPr sz="2400" b="1">
                <a:solidFill>
                  <a:srgbClr val="4081ED"/>
                </a:solidFill>
                <a:latin typeface="Pretendard SemiBold"/>
              </a:rPr>
              <a:t>토큰 비용 −17%</a:t>
            </a:r>
          </a:p>
          <a:p>
            <a:pPr algn="ctr"/>
            <a:r>
              <a:rPr sz="2400" b="1">
                <a:solidFill>
                  <a:srgbClr val="4081ED"/>
                </a:solidFill>
                <a:latin typeface="Pretendard SemiBold"/>
              </a:rPr>
              <a:t>동일 6턴 A/B 실측</a:t>
            </a:r>
          </a:p>
          <a:p>
            <a:pPr algn="ctr"/>
            <a:r>
              <a:rPr sz="2400" b="1">
                <a:solidFill>
                  <a:srgbClr val="4081ED"/>
                </a:solidFill>
                <a:latin typeface="Pretendard SemiBold"/>
              </a:rPr>
              <a:t>턴당 10원 → 8원</a:t>
            </a:r>
          </a:p>
          <a:p>
            <a:pPr algn="ctr"/>
            <a:r>
              <a:rPr sz="2400" b="1">
                <a:solidFill>
                  <a:srgbClr val="4081ED"/>
                </a:solidFill>
                <a:latin typeface="Pretendard SemiBold"/>
              </a:rPr>
              <a:t>모델·프롬프트 동일 = 품질 동일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2006072" y="4343400"/>
            <a:ext cx="4572000" cy="3063240"/>
          </a:xfrm>
          <a:prstGeom prst="roundRect">
            <a:avLst>
              <a:gd name="adj" fmla="val 6000"/>
            </a:avLst>
          </a:prstGeom>
          <a:solidFill>
            <a:srgbClr val="EEF3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rIns="256032">
            <a:noAutofit/>
          </a:bodyPr>
          <a:lstStyle/>
          <a:p>
            <a:pPr algn="ctr">
              <a:spcAft>
                <a:spcPts val="800"/>
              </a:spcAft>
            </a:pPr>
            <a:r>
              <a:rPr sz="2400" b="1">
                <a:solidFill>
                  <a:srgbClr val="4081ED"/>
                </a:solidFill>
                <a:latin typeface="Pretendard SemiBold"/>
              </a:rPr>
              <a:t>③</a:t>
            </a:r>
          </a:p>
          <a:p>
            <a:pPr algn="ctr"/>
            <a:r>
              <a:rPr sz="2400" b="1">
                <a:solidFill>
                  <a:srgbClr val="4081ED"/>
                </a:solidFill>
                <a:latin typeface="Pretendard SemiBold"/>
              </a:rPr>
              <a:t>단, 조건부다</a:t>
            </a:r>
          </a:p>
          <a:p>
            <a:pPr algn="ctr"/>
            <a:r>
              <a:rPr sz="2400" b="1">
                <a:solidFill>
                  <a:srgbClr val="4081ED"/>
                </a:solidFill>
                <a:latin typeface="Pretendard SemiBold"/>
              </a:rPr>
              <a:t>저장·생성료를 반영하면</a:t>
            </a:r>
          </a:p>
          <a:p>
            <a:pPr algn="ctr"/>
            <a:r>
              <a:rPr sz="2400" b="1">
                <a:solidFill>
                  <a:srgbClr val="4081ED"/>
                </a:solidFill>
                <a:latin typeface="Pretendard SemiBold"/>
              </a:rPr>
              <a:t>손익분기 10분당 3.4턴</a:t>
            </a:r>
          </a:p>
          <a:p>
            <a:pPr algn="ctr"/>
            <a:r>
              <a:rPr sz="2400" b="1">
                <a:solidFill>
                  <a:srgbClr val="4081ED"/>
                </a:solidFill>
                <a:latin typeface="Pretendard SemiBold"/>
              </a:rPr>
              <a:t>서버리스 공유 수정이 선행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764792" y="7955279"/>
            <a:ext cx="14813280" cy="868680"/>
          </a:xfrm>
          <a:prstGeom prst="roundRect">
            <a:avLst>
              <a:gd name="adj" fmla="val 30000"/>
            </a:avLst>
          </a:prstGeom>
          <a:solidFill>
            <a:srgbClr val="3E7E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>
            <a:noAutofit/>
          </a:bodyPr>
          <a:lstStyle/>
          <a:p>
            <a:pPr algn="ctr"/>
            <a:r>
              <a:rPr sz="1900" b="1">
                <a:solidFill>
                  <a:srgbClr val="FFFFFF"/>
                </a:solidFill>
                <a:latin typeface="Pretendard SemiBold"/>
              </a:rPr>
              <a:t>품질을 건드리지 않고 원가를 더 낮출 여지가 있다 — 남은 레버 7건(분석기 thinking·2단 라우팅·일 1회 배치 등)은 품질 검증 통과분만 적용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