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1056" y="777240"/>
            <a:ext cx="16029432" cy="8723376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521207"/>
            <a:ext cx="15782544" cy="9217152"/>
          </a:xfrm>
          <a:prstGeom prst="rect">
            <a:avLst/>
          </a:prstGeom>
        </p:spPr>
      </p:pic>
      <p:pic>
        <p:nvPicPr>
          <p:cNvPr id="4" name="Picture 3" descr="imag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79240" y="1435608"/>
            <a:ext cx="457200" cy="457200"/>
          </a:xfrm>
          <a:prstGeom prst="rect">
            <a:avLst/>
          </a:prstGeom>
        </p:spPr>
      </p:pic>
      <p:pic>
        <p:nvPicPr>
          <p:cNvPr id="5" name="Picture 4" descr="image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79240" y="2459736"/>
            <a:ext cx="457200" cy="457200"/>
          </a:xfrm>
          <a:prstGeom prst="rect">
            <a:avLst/>
          </a:prstGeom>
        </p:spPr>
      </p:pic>
      <p:pic>
        <p:nvPicPr>
          <p:cNvPr id="6" name="Picture 5" descr="image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779240" y="3767328"/>
            <a:ext cx="457200" cy="457200"/>
          </a:xfrm>
          <a:prstGeom prst="rect">
            <a:avLst/>
          </a:prstGeom>
        </p:spPr>
      </p:pic>
      <p:pic>
        <p:nvPicPr>
          <p:cNvPr id="7" name="Picture 6" descr="image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779240" y="4901184"/>
            <a:ext cx="457200" cy="457200"/>
          </a:xfrm>
          <a:prstGeom prst="rect">
            <a:avLst/>
          </a:prstGeom>
        </p:spPr>
      </p:pic>
      <p:pic>
        <p:nvPicPr>
          <p:cNvPr id="8" name="Picture 7" descr="image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779240" y="6108192"/>
            <a:ext cx="457200" cy="457200"/>
          </a:xfrm>
          <a:prstGeom prst="rect">
            <a:avLst/>
          </a:prstGeom>
        </p:spPr>
      </p:pic>
      <p:pic>
        <p:nvPicPr>
          <p:cNvPr id="9" name="Picture 8" descr="image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779240" y="7187184"/>
            <a:ext cx="457200" cy="457200"/>
          </a:xfrm>
          <a:prstGeom prst="rect">
            <a:avLst/>
          </a:prstGeom>
        </p:spPr>
      </p:pic>
      <p:pic>
        <p:nvPicPr>
          <p:cNvPr id="10" name="Picture 9" descr="image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779240" y="8430768"/>
            <a:ext cx="457200" cy="457200"/>
          </a:xfrm>
          <a:prstGeom prst="rect">
            <a:avLst/>
          </a:prstGeom>
        </p:spPr>
      </p:pic>
      <p:pic>
        <p:nvPicPr>
          <p:cNvPr id="11" name="Picture 10" descr="image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678655" y="2148840"/>
            <a:ext cx="685800" cy="9144"/>
          </a:xfrm>
          <a:prstGeom prst="rect">
            <a:avLst/>
          </a:prstGeom>
        </p:spPr>
      </p:pic>
      <p:pic>
        <p:nvPicPr>
          <p:cNvPr id="12" name="Picture 11" descr="image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678655" y="3355848"/>
            <a:ext cx="685800" cy="9144"/>
          </a:xfrm>
          <a:prstGeom prst="rect">
            <a:avLst/>
          </a:prstGeom>
        </p:spPr>
      </p:pic>
      <p:pic>
        <p:nvPicPr>
          <p:cNvPr id="13" name="Picture 12" descr="image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678655" y="4544568"/>
            <a:ext cx="685800" cy="9144"/>
          </a:xfrm>
          <a:prstGeom prst="rect">
            <a:avLst/>
          </a:prstGeom>
        </p:spPr>
      </p:pic>
      <p:pic>
        <p:nvPicPr>
          <p:cNvPr id="14" name="Picture 13" descr="image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678655" y="5742432"/>
            <a:ext cx="685800" cy="9144"/>
          </a:xfrm>
          <a:prstGeom prst="rect">
            <a:avLst/>
          </a:prstGeom>
        </p:spPr>
      </p:pic>
      <p:pic>
        <p:nvPicPr>
          <p:cNvPr id="15" name="Picture 14" descr="image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678655" y="6766560"/>
            <a:ext cx="685800" cy="9144"/>
          </a:xfrm>
          <a:prstGeom prst="rect">
            <a:avLst/>
          </a:prstGeom>
        </p:spPr>
      </p:pic>
      <p:pic>
        <p:nvPicPr>
          <p:cNvPr id="16" name="Picture 15" descr="image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678655" y="7964424"/>
            <a:ext cx="685800" cy="9144"/>
          </a:xfrm>
          <a:prstGeom prst="rect">
            <a:avLst/>
          </a:prstGeom>
        </p:spPr>
      </p:pic>
      <p:pic>
        <p:nvPicPr>
          <p:cNvPr id="17" name="Picture 16" descr="image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18488" y="1481328"/>
            <a:ext cx="2112264" cy="3200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831336" y="1499616"/>
            <a:ext cx="2377440" cy="301752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400" b="0">
                <a:solidFill>
                  <a:srgbClr val="858585"/>
                </a:solidFill>
                <a:latin typeface="Pretendard"/>
              </a:rPr>
              <a:t>FIRST C&amp;D Inc.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2249424"/>
            <a:ext cx="13487400" cy="2615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11111"/>
                </a:solidFill>
                <a:latin typeface="Pretendard SemiBold"/>
              </a:rPr>
              <a:t>마음이음 AI 모델 선정 · 가격 정책</a:t>
            </a:r>
          </a:p>
          <a:p>
            <a:pPr algn="l">
              <a:lnSpc>
                <a:spcPct val="112000"/>
              </a:lnSpc>
            </a:pPr>
            <a:r>
              <a:rPr sz="5000" b="1">
                <a:solidFill>
                  <a:srgbClr val="111111"/>
                </a:solidFill>
                <a:latin typeface="Pretendard SemiBold"/>
              </a:rPr>
              <a:t xml:space="preserve">타사 비교 기반 </a:t>
            </a:r>
            <a:r>
              <a:rPr sz="5000" b="1">
                <a:solidFill>
                  <a:srgbClr val="4081ED"/>
                </a:solidFill>
                <a:latin typeface="Pretendard SemiBold"/>
              </a:rPr>
              <a:t>적정 가격 · 사용량</a:t>
            </a:r>
            <a:r>
              <a:rPr sz="5000" b="1">
                <a:solidFill>
                  <a:srgbClr val="111111"/>
                </a:solidFill>
                <a:latin typeface="Pretendard SemiBold"/>
              </a:rPr>
              <a:t> 산정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000" y="6208776"/>
            <a:ext cx="5093208" cy="7040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ctr"/>
            <a:r>
              <a:rPr sz="2800" b="1">
                <a:solidFill>
                  <a:srgbClr val="111111"/>
                </a:solidFill>
                <a:latin typeface="Pretendard SemiBold"/>
              </a:rPr>
              <a:t>㈜퍼스트씨앤디</a:t>
            </a:r>
          </a:p>
        </p:txBody>
      </p:sp>
      <p:pic>
        <p:nvPicPr>
          <p:cNvPr id="21" name="Picture 20" descr="image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176272" y="7205472"/>
            <a:ext cx="12810744" cy="9144"/>
          </a:xfrm>
          <a:prstGeom prst="rect">
            <a:avLst/>
          </a:prstGeom>
        </p:spPr>
      </p:pic>
      <p:pic>
        <p:nvPicPr>
          <p:cNvPr id="22" name="Picture 21" descr="image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221992" y="7571231"/>
            <a:ext cx="1956816" cy="46634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221992" y="7671816"/>
            <a:ext cx="1956816" cy="283464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Pretendard"/>
              </a:rPr>
              <a:t>내부 자료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7644383"/>
            <a:ext cx="11521440" cy="301752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300" b="0">
                <a:solidFill>
                  <a:srgbClr val="858585"/>
                </a:solidFill>
                <a:latin typeface="Pretendard"/>
              </a:rPr>
              <a:t>2026. 10. 1.   ㅣ   실측 280시행 · 적응형 30턴 대화   ㅣ   타사 벤치마크 반영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16980408" cy="8449056"/>
          </a:xfrm>
          <a:prstGeom prst="rect">
            <a:avLst/>
          </a:prstGeom>
        </p:spPr>
      </p:pic>
      <p:pic>
        <p:nvPicPr>
          <p:cNvPr id="3" name="Picture 2" descr="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30352"/>
            <a:ext cx="16952976" cy="6949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713232"/>
            <a:ext cx="274320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Pretendard"/>
              </a:rPr>
              <a:t>FIRST C&amp;D</a:t>
            </a:r>
          </a:p>
        </p:txBody>
      </p:sp>
      <p:pic>
        <p:nvPicPr>
          <p:cNvPr id="5" name="Picture 4" descr="image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5072" y="758952"/>
            <a:ext cx="237744" cy="219456"/>
          </a:xfrm>
          <a:prstGeom prst="rect">
            <a:avLst/>
          </a:prstGeom>
        </p:spPr>
      </p:pic>
      <p:pic>
        <p:nvPicPr>
          <p:cNvPr id="6" name="Picture 5" descr="image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37992" y="685800"/>
            <a:ext cx="365760" cy="365760"/>
          </a:xfrm>
          <a:prstGeom prst="rect">
            <a:avLst/>
          </a:prstGeom>
        </p:spPr>
      </p:pic>
      <p:pic>
        <p:nvPicPr>
          <p:cNvPr id="7" name="Picture 6" descr="image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87216" y="740664"/>
            <a:ext cx="256032" cy="2651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" y="1764792"/>
            <a:ext cx="1499616" cy="11795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6600" b="1">
                <a:solidFill>
                  <a:srgbClr val="4081ED"/>
                </a:solidFill>
                <a:latin typeface="Pretendard Semi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6744" y="1828800"/>
            <a:ext cx="13551408" cy="10698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Pretendard SemiBold"/>
              </a:rPr>
              <a:t>한눈에 보는 결론</a:t>
            </a:r>
          </a:p>
        </p:txBody>
      </p:sp>
      <p:pic>
        <p:nvPicPr>
          <p:cNvPr id="10" name="Picture 9" descr="image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0744" y="3090672"/>
            <a:ext cx="15517367" cy="91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130552" y="3465576"/>
            <a:ext cx="2468880" cy="475488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Pretendard SemiBold"/>
              </a:rPr>
              <a:t>핵심 요약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57448" y="989380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r"/>
            <a:r>
              <a:rPr sz="1200" b="0">
                <a:solidFill>
                  <a:srgbClr val="858585"/>
                </a:solidFill>
                <a:latin typeface="Pretendard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64792" y="4343400"/>
            <a:ext cx="4572000" cy="30632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>
            <a:noAutofit/>
          </a:bodyPr>
          <a:lstStyle/>
          <a:p>
            <a:pPr algn="ctr">
              <a:spcAft>
                <a:spcPts val="800"/>
              </a:spcAft>
            </a:pPr>
            <a:r>
              <a:rPr sz="2400" b="1">
                <a:solidFill>
                  <a:srgbClr val="4081ED"/>
                </a:solidFill>
                <a:latin typeface="Pretendard SemiBold"/>
              </a:rPr>
              <a:t>①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모델은 확정됐다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확인 턴만 3.8-flash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지시 준수 56/56 (100%)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턴당 13.5원(실측)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85432" y="4343400"/>
            <a:ext cx="4572000" cy="30632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>
            <a:noAutofit/>
          </a:bodyPr>
          <a:lstStyle/>
          <a:p>
            <a:pPr algn="ctr">
              <a:spcAft>
                <a:spcPts val="800"/>
              </a:spcAft>
            </a:pPr>
            <a:r>
              <a:rPr sz="2400" b="1">
                <a:solidFill>
                  <a:srgbClr val="4081ED"/>
                </a:solidFill>
                <a:latin typeface="Pretendard SemiBold"/>
              </a:rPr>
              <a:t>②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우리는 '말벗' 사용량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Replika 하루 70건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클로바 케어콜 주 2회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상한 없으면 원가 무한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006072" y="4343400"/>
            <a:ext cx="4572000" cy="30632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>
            <a:noAutofit/>
          </a:bodyPr>
          <a:lstStyle/>
          <a:p>
            <a:pPr algn="ctr">
              <a:spcAft>
                <a:spcPts val="800"/>
              </a:spcAft>
            </a:pPr>
            <a:r>
              <a:rPr sz="2400" b="1">
                <a:solidFill>
                  <a:srgbClr val="4081ED"/>
                </a:solidFill>
                <a:latin typeface="Pretendard SemiBold"/>
              </a:rPr>
              <a:t>③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권장 가격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무료 20턴 · 유료 50턴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월 19,900원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최악 가정에도 흑자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64792" y="7955279"/>
            <a:ext cx="14813280" cy="868680"/>
          </a:xfrm>
          <a:prstGeom prst="roundRect">
            <a:avLst>
              <a:gd name="adj" fmla="val 3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Pretendard SemiBold"/>
              </a:rPr>
              <a:t>모델 최적화는 끝났고 남은 변수는 가격 — 업계 무료 상한(50~70건)과 우리 원가(실측 턴당 13.5원 — 당초 추정 9.6원보다 40% 높다)가 가격 하한을 결정한다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16980408" cy="8449056"/>
          </a:xfrm>
          <a:prstGeom prst="rect">
            <a:avLst/>
          </a:prstGeom>
        </p:spPr>
      </p:pic>
      <p:pic>
        <p:nvPicPr>
          <p:cNvPr id="3" name="Picture 2" descr="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30352"/>
            <a:ext cx="16952976" cy="6949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713232"/>
            <a:ext cx="274320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Pretendard"/>
              </a:rPr>
              <a:t>FIRST C&amp;D</a:t>
            </a:r>
          </a:p>
        </p:txBody>
      </p:sp>
      <p:pic>
        <p:nvPicPr>
          <p:cNvPr id="5" name="Picture 4" descr="image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5072" y="758952"/>
            <a:ext cx="237744" cy="219456"/>
          </a:xfrm>
          <a:prstGeom prst="rect">
            <a:avLst/>
          </a:prstGeom>
        </p:spPr>
      </p:pic>
      <p:pic>
        <p:nvPicPr>
          <p:cNvPr id="6" name="Picture 5" descr="image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37992" y="685800"/>
            <a:ext cx="365760" cy="365760"/>
          </a:xfrm>
          <a:prstGeom prst="rect">
            <a:avLst/>
          </a:prstGeom>
        </p:spPr>
      </p:pic>
      <p:pic>
        <p:nvPicPr>
          <p:cNvPr id="7" name="Picture 6" descr="image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87216" y="740664"/>
            <a:ext cx="256032" cy="2651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" y="1764792"/>
            <a:ext cx="1499616" cy="11795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6600" b="1">
                <a:solidFill>
                  <a:srgbClr val="4081ED"/>
                </a:solidFill>
                <a:latin typeface="Pretendard SemiBol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6744" y="1828800"/>
            <a:ext cx="13551408" cy="10698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Pretendard SemiBold"/>
              </a:rPr>
              <a:t>모델 선정 — 지시 준수 전수 측정</a:t>
            </a:r>
          </a:p>
        </p:txBody>
      </p:sp>
      <p:pic>
        <p:nvPicPr>
          <p:cNvPr id="10" name="Picture 9" descr="image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0744" y="3090672"/>
            <a:ext cx="15517367" cy="91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130552" y="3465576"/>
            <a:ext cx="3108960" cy="475488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Pretendard SemiBold"/>
              </a:rPr>
              <a:t>5모델 280시행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57448" y="989380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r"/>
            <a:r>
              <a:rPr sz="1200" b="0">
                <a:solidFill>
                  <a:srgbClr val="858585"/>
                </a:solidFill>
                <a:latin typeface="Pretendard"/>
              </a:rPr>
              <a:t>3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764792" y="4050791"/>
          <a:ext cx="8503920" cy="4343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97680"/>
                <a:gridCol w="4206240"/>
              </a:tblGrid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1111"/>
                          </a:solidFill>
                          <a:latin typeface="Pretendard SemiBold"/>
                        </a:rPr>
                        <a:t>모델</a:t>
                      </a:r>
                    </a:p>
                  </a:txBody>
                  <a:tcPr anchor="ctr" marL="128016" marR="91440" marT="27432" marB="27432">
                    <a:solidFill>
                      <a:srgbClr val="DCE6F2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111111"/>
                          </a:solidFill>
                          <a:latin typeface="Pretendard SemiBold"/>
                        </a:rPr>
                        <a:t>지시 준수  ·  턴당 원가</a:t>
                      </a:r>
                    </a:p>
                  </a:txBody>
                  <a:tcPr anchor="ctr" marL="128016" marR="91440" marT="27432" marB="27432">
                    <a:solidFill>
                      <a:srgbClr val="DCE6F2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Pretendard"/>
                        </a:rPr>
                        <a:t>gemini-2.5-flash (기존)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52/56 (93%)  ·  $0.0045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Pretendard"/>
                        </a:rPr>
                        <a:t>gemini-3.1-flash-lite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51/56 (91%)  ·  $0.0045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Pretendard"/>
                        </a:rPr>
                        <a:t>gemini-3.5-flash-lite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50/56 (89%)  ·  $0.0059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Pretendard"/>
                        </a:rPr>
                        <a:t>gemini-3-flash-preview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52/56 (93%)  ·  $0.0081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Pretendard"/>
                        </a:rPr>
                        <a:t>gemini-3.8-flash (채택)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56/56 (100%)  ·  $0.0097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Pretendard"/>
                        </a:rPr>
                        <a:t>측정 규모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5모델 × 7영역 × 8회 = 280시행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Pretendard"/>
                        </a:rPr>
                        <a:t>판정 방법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LLM 심판 3분류 (수행 / 다른질문 / 미수행)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081ED"/>
                          </a:solidFill>
                          <a:latin typeface="Pretendard SemiBold"/>
                        </a:rPr>
                        <a:t>채택</a:t>
                      </a:r>
                    </a:p>
                  </a:txBody>
                  <a:tcPr anchor="ctr" marL="128016" marR="91440" marT="27432" marB="27432">
                    <a:solidFill>
                      <a:srgbClr val="E4ECF8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4081ED"/>
                          </a:solidFill>
                          <a:latin typeface="Pretendard SemiBold"/>
                        </a:rPr>
                        <a:t>gemini-3.8-flash — 인지 확인 턴 전용</a:t>
                      </a:r>
                    </a:p>
                  </a:txBody>
                  <a:tcPr anchor="ctr" marL="128016" marR="91440" marT="27432" marB="27432">
                    <a:solidFill>
                      <a:srgbClr val="E4ECF8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10607040" y="3931920"/>
            <a:ext cx="5989320" cy="23317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>
            <a:no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4081ED"/>
                </a:solidFill>
                <a:latin typeface="Pretendard SemiBold"/>
              </a:rPr>
              <a:t>가장 중요한 발견</a:t>
            </a:r>
          </a:p>
          <a:p>
            <a:pPr algn="l"/>
            <a:r>
              <a:rPr sz="1700" b="1">
                <a:solidFill>
                  <a:srgbClr val="4081ED"/>
                </a:solidFill>
                <a:latin typeface="Pretendard SemiBold"/>
              </a:rPr>
              <a:t>비용 절감이 인지 선별을 껐다</a:t>
            </a:r>
          </a:p>
          <a:p>
            <a:pPr algn="l"/>
            <a:r>
              <a:rPr sz="1700" b="1">
                <a:solidFill>
                  <a:srgbClr val="4081ED"/>
                </a:solidFill>
                <a:latin typeface="Pretendard SemiBold"/>
              </a:rPr>
              <a:t>확인 턴 입력 토큰 +45% 지불하고</a:t>
            </a:r>
          </a:p>
          <a:p>
            <a:pPr algn="l"/>
            <a:r>
              <a:rPr sz="1700" b="1">
                <a:solidFill>
                  <a:srgbClr val="4081ED"/>
                </a:solidFill>
                <a:latin typeface="Pretendard SemiBold"/>
              </a:rPr>
              <a:t>인지 평가는 0건 — 로그에 실패 없음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07040" y="6446520"/>
            <a:ext cx="5989320" cy="182880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>
            <a:no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858585"/>
                </a:solidFill>
                <a:latin typeface="Pretendard SemiBold"/>
              </a:rPr>
              <a:t>왜 '지시 준수'로 재는가</a:t>
            </a:r>
          </a:p>
          <a:p>
            <a:pPr algn="l"/>
            <a:r>
              <a:rPr sz="1600" b="1">
                <a:solidFill>
                  <a:srgbClr val="858585"/>
                </a:solidFill>
                <a:latin typeface="Pretendard SemiBold"/>
              </a:rPr>
              <a:t>문장 품질은 싼 모델도 통과한다</a:t>
            </a:r>
          </a:p>
          <a:p>
            <a:pPr algn="l"/>
            <a:r>
              <a:rPr sz="1600" b="1">
                <a:solidFill>
                  <a:srgbClr val="858585"/>
                </a:solidFill>
                <a:latin typeface="Pretendard SemiBold"/>
              </a:rPr>
              <a:t>깨지는 건 주입한 지시의 수행이고</a:t>
            </a:r>
          </a:p>
          <a:p>
            <a:pPr algn="l"/>
            <a:r>
              <a:rPr sz="1600" b="1">
                <a:solidFill>
                  <a:srgbClr val="858585"/>
                </a:solidFill>
                <a:latin typeface="Pretendard SemiBold"/>
              </a:rPr>
              <a:t>기능 누락이라 일반 지표에 안 잡힌다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64792" y="8549640"/>
            <a:ext cx="14813280" cy="658368"/>
          </a:xfrm>
          <a:prstGeom prst="roundRect">
            <a:avLst>
              <a:gd name="adj" fmla="val 30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700" b="1">
                <a:solidFill>
                  <a:srgbClr val="111111"/>
                </a:solidFill>
                <a:latin typeface="Pretendard SemiBold"/>
              </a:rPr>
              <a:t>전 구간을 올리지 않고 확인 턴 20%만 3.8-flash로 — 비용 증가를 최소화하면서 선별 기능을 되살렸다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16980408" cy="8449056"/>
          </a:xfrm>
          <a:prstGeom prst="rect">
            <a:avLst/>
          </a:prstGeom>
        </p:spPr>
      </p:pic>
      <p:pic>
        <p:nvPicPr>
          <p:cNvPr id="3" name="Picture 2" descr="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30352"/>
            <a:ext cx="16952976" cy="6949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713232"/>
            <a:ext cx="274320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Pretendard"/>
              </a:rPr>
              <a:t>FIRST C&amp;D</a:t>
            </a:r>
          </a:p>
        </p:txBody>
      </p:sp>
      <p:pic>
        <p:nvPicPr>
          <p:cNvPr id="5" name="Picture 4" descr="image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5072" y="758952"/>
            <a:ext cx="237744" cy="219456"/>
          </a:xfrm>
          <a:prstGeom prst="rect">
            <a:avLst/>
          </a:prstGeom>
        </p:spPr>
      </p:pic>
      <p:pic>
        <p:nvPicPr>
          <p:cNvPr id="6" name="Picture 5" descr="image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37992" y="685800"/>
            <a:ext cx="365760" cy="365760"/>
          </a:xfrm>
          <a:prstGeom prst="rect">
            <a:avLst/>
          </a:prstGeom>
        </p:spPr>
      </p:pic>
      <p:pic>
        <p:nvPicPr>
          <p:cNvPr id="7" name="Picture 6" descr="image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87216" y="740664"/>
            <a:ext cx="256032" cy="2651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" y="1764792"/>
            <a:ext cx="1499616" cy="11795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6600" b="1">
                <a:solidFill>
                  <a:srgbClr val="4081ED"/>
                </a:solidFill>
                <a:latin typeface="Pretendard SemiBold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6744" y="1828800"/>
            <a:ext cx="13551408" cy="10698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Pretendard SemiBold"/>
              </a:rPr>
              <a:t>최종 모델 배치 · 턴당 원가</a:t>
            </a:r>
          </a:p>
        </p:txBody>
      </p:sp>
      <p:pic>
        <p:nvPicPr>
          <p:cNvPr id="10" name="Picture 9" descr="image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0744" y="3090672"/>
            <a:ext cx="15517367" cy="91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130552" y="3465576"/>
            <a:ext cx="3108960" cy="475488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Pretendard SemiBold"/>
              </a:rPr>
              <a:t>호출 지점별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57448" y="989380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r"/>
            <a:r>
              <a:rPr sz="1200" b="0">
                <a:solidFill>
                  <a:srgbClr val="858585"/>
                </a:solidFill>
                <a:latin typeface="Pretendard"/>
              </a:rPr>
              <a:t>4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764792" y="4050791"/>
          <a:ext cx="8503920" cy="2880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309360"/>
                <a:gridCol w="2194560"/>
              </a:tblGrid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1111"/>
                          </a:solidFill>
                          <a:latin typeface="Pretendard SemiBold"/>
                        </a:rPr>
                        <a:t>호출 지점</a:t>
                      </a:r>
                    </a:p>
                  </a:txBody>
                  <a:tcPr anchor="ctr" marL="128016" marR="91440" marT="27432" marB="27432">
                    <a:solidFill>
                      <a:srgbClr val="DCE6F2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111111"/>
                          </a:solidFill>
                          <a:latin typeface="Pretendard SemiBold"/>
                        </a:rPr>
                        <a:t>모델  ·  턴당</a:t>
                      </a:r>
                    </a:p>
                  </a:txBody>
                  <a:tcPr anchor="ctr" marL="128016" marR="91440" marT="27432" marB="27432">
                    <a:solidFill>
                      <a:srgbClr val="DCE6F2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Pretendard"/>
                        </a:rPr>
                        <a:t>동반자 — 수다 턴 (80%)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2.5-flash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Pretendard"/>
                        </a:rPr>
                        <a:t>동반자 — 인지 확인 턴 (20%)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3.8-flash  ·  동반자 합 $0.0036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Pretendard"/>
                        </a:rPr>
                        <a:t>분석기 1차 (선별 라우팅)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2.5-flash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Pretendard"/>
                        </a:rPr>
                        <a:t>분석기 정밀 채점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3.8-flash  ·  분석기 합 $0.0033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081ED"/>
                          </a:solidFill>
                          <a:latin typeface="Pretendard SemiBold"/>
                        </a:rPr>
                        <a:t>턴당 합계(실측)</a:t>
                      </a:r>
                    </a:p>
                  </a:txBody>
                  <a:tcPr anchor="ctr" marL="128016" marR="91440" marT="27432" marB="27432">
                    <a:solidFill>
                      <a:srgbClr val="E4ECF8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4081ED"/>
                          </a:solidFill>
                          <a:latin typeface="Pretendard SemiBold"/>
                        </a:rPr>
                        <a:t>$0.0097  ≈  13.5원</a:t>
                      </a:r>
                    </a:p>
                  </a:txBody>
                  <a:tcPr anchor="ctr" marL="128016" marR="91440" marT="27432" marB="27432">
                    <a:solidFill>
                      <a:srgbClr val="E4ECF8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1764792" y="7086600"/>
            <a:ext cx="8503920" cy="603504"/>
          </a:xfrm>
          <a:prstGeom prst="roundRect">
            <a:avLst>
              <a:gd name="adj" fmla="val 30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300" b="0">
                <a:solidFill>
                  <a:srgbClr val="858585"/>
                </a:solidFill>
                <a:latin typeface="Pretendard"/>
              </a:rPr>
              <a:t>※ 적응형 30턴 대화 실측 · 환율 1,390원 기준 · 서버 TTS 비용 별도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07040" y="3931920"/>
            <a:ext cx="5989320" cy="3758184"/>
          </a:xfrm>
          <a:prstGeom prst="roundRect">
            <a:avLst>
              <a:gd name="adj" fmla="val 5000"/>
            </a:avLst>
          </a:prstGeom>
          <a:solidFill>
            <a:srgbClr val="EEF3FC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19456" tIns="201168">
            <a:no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2F6FD6"/>
                </a:solidFill>
                <a:latin typeface="Pretendard SemiBold"/>
              </a:rPr>
              <a:t>적용한 최적화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  <a:latin typeface="Pretendard"/>
              </a:rPr>
              <a:t>· 확인 턴만 상위 모델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  <a:latin typeface="Pretendard"/>
              </a:rPr>
              <a:t>· 분석기 3.5→3.8 (정확도↑ 단가 ½)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  <a:latin typeface="Pretendard"/>
              </a:rPr>
              <a:t>· 도메인별 프로토콜 슬라이싱 −7%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  <a:latin typeface="Pretendard"/>
              </a:rPr>
              <a:t>· 암묵 캐시 적중 42% (입력 90% 할인)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  <a:latin typeface="Pretendard"/>
              </a:rPr>
              <a:t>· 측정 오류 4건 교정 후 확정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64792" y="7973568"/>
            <a:ext cx="14813280" cy="868680"/>
          </a:xfrm>
          <a:prstGeom prst="roundRect">
            <a:avLst>
              <a:gd name="adj" fmla="val 3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Pretendard SemiBold"/>
              </a:rPr>
              <a:t>⚠ 3.8-flash 도입가는 2026-12-31 종료 — 2027년 턴당 약 14.6원으로 오른다 (연말 전 재검토 필요)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16980408" cy="8449056"/>
          </a:xfrm>
          <a:prstGeom prst="rect">
            <a:avLst/>
          </a:prstGeom>
        </p:spPr>
      </p:pic>
      <p:pic>
        <p:nvPicPr>
          <p:cNvPr id="3" name="Picture 2" descr="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30352"/>
            <a:ext cx="16952976" cy="6949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713232"/>
            <a:ext cx="274320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Pretendard"/>
              </a:rPr>
              <a:t>FIRST C&amp;D</a:t>
            </a:r>
          </a:p>
        </p:txBody>
      </p:sp>
      <p:pic>
        <p:nvPicPr>
          <p:cNvPr id="5" name="Picture 4" descr="image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5072" y="758952"/>
            <a:ext cx="237744" cy="219456"/>
          </a:xfrm>
          <a:prstGeom prst="rect">
            <a:avLst/>
          </a:prstGeom>
        </p:spPr>
      </p:pic>
      <p:pic>
        <p:nvPicPr>
          <p:cNvPr id="6" name="Picture 5" descr="image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37992" y="685800"/>
            <a:ext cx="365760" cy="365760"/>
          </a:xfrm>
          <a:prstGeom prst="rect">
            <a:avLst/>
          </a:prstGeom>
        </p:spPr>
      </p:pic>
      <p:pic>
        <p:nvPicPr>
          <p:cNvPr id="7" name="Picture 6" descr="image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87216" y="740664"/>
            <a:ext cx="256032" cy="2651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" y="1764792"/>
            <a:ext cx="1499616" cy="11795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6600" b="1">
                <a:solidFill>
                  <a:srgbClr val="4081ED"/>
                </a:solidFill>
                <a:latin typeface="Pretendard SemiBold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6744" y="1828800"/>
            <a:ext cx="13551408" cy="10698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Pretendard SemiBold"/>
              </a:rPr>
              <a:t>타사 AI 말벗 · 돌봄 사용량</a:t>
            </a:r>
          </a:p>
        </p:txBody>
      </p:sp>
      <p:pic>
        <p:nvPicPr>
          <p:cNvPr id="10" name="Picture 9" descr="image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0744" y="3090672"/>
            <a:ext cx="15517367" cy="91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130552" y="3465576"/>
            <a:ext cx="3200400" cy="475488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Pretendard SemiBold"/>
              </a:rPr>
              <a:t>실사용 벤치마크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57448" y="989380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r"/>
            <a:r>
              <a:rPr sz="1200" b="0">
                <a:solidFill>
                  <a:srgbClr val="858585"/>
                </a:solidFill>
                <a:latin typeface="Pretendard"/>
              </a:rPr>
              <a:t>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64792" y="4160520"/>
            <a:ext cx="3520440" cy="3246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764792" y="4160520"/>
            <a:ext cx="3520440" cy="658368"/>
          </a:xfrm>
          <a:prstGeom prst="roundRect">
            <a:avLst>
              <a:gd name="adj" fmla="val 6000"/>
            </a:avLst>
          </a:prstGeom>
          <a:solidFill>
            <a:srgbClr val="2F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retendard SemiBold"/>
              </a:rPr>
              <a:t>Replika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10512" y="4956048"/>
            <a:ext cx="3429000" cy="2395728"/>
          </a:xfrm>
          <a:prstGeom prst="rect">
            <a:avLst/>
          </a:prstGeom>
          <a:noFill/>
        </p:spPr>
        <p:txBody>
          <a:bodyPr wrap="square" lIns="182880" rIns="109728" tIns="18288" bIns="18288" anchor="t">
            <a:no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Pretendard"/>
              </a:rPr>
              <a:t>· 하루 약 70건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Pretendard"/>
              </a:rPr>
              <a:t>· 세션 15분 (일부 2시간)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Pretendard"/>
              </a:rPr>
              <a:t>· 유료 $19.99 / 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13832" y="4160520"/>
            <a:ext cx="3520440" cy="3246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513832" y="4160520"/>
            <a:ext cx="3520440" cy="658368"/>
          </a:xfrm>
          <a:prstGeom prst="roundRect">
            <a:avLst>
              <a:gd name="adj" fmla="val 6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retendard SemiBold"/>
              </a:rPr>
              <a:t>Character.AI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59552" y="4956048"/>
            <a:ext cx="3429000" cy="2395728"/>
          </a:xfrm>
          <a:prstGeom prst="rect">
            <a:avLst/>
          </a:prstGeom>
          <a:noFill/>
        </p:spPr>
        <p:txBody>
          <a:bodyPr wrap="square" lIns="182880" rIns="109728" tIns="18288" bIns="18288" anchor="t">
            <a:no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Pretendard"/>
              </a:rPr>
              <a:t>· 세션 17.4분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Pretendard"/>
              </a:rPr>
              <a:t>· 하루 3.2세션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Pretendard"/>
              </a:rPr>
              <a:t>· 유료 $9.99 / 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62872" y="4160520"/>
            <a:ext cx="3520440" cy="3246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262872" y="4160520"/>
            <a:ext cx="3520440" cy="658368"/>
          </a:xfrm>
          <a:prstGeom prst="roundRect">
            <a:avLst>
              <a:gd name="adj" fmla="val 6000"/>
            </a:avLst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retendard SemiBold"/>
              </a:rPr>
              <a:t>클로바 케어콜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08592" y="4956048"/>
            <a:ext cx="3429000" cy="2395728"/>
          </a:xfrm>
          <a:prstGeom prst="rect">
            <a:avLst/>
          </a:prstGeom>
          <a:noFill/>
        </p:spPr>
        <p:txBody>
          <a:bodyPr wrap="square" lIns="182880" rIns="109728" tIns="18288" bIns="18288" anchor="t">
            <a:no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Pretendard"/>
              </a:rPr>
              <a:t>· 주 2회 안부 전화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Pretendard"/>
              </a:rPr>
              <a:t xml:space="preserve">· 통화당 약 1분 15초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Pretendard"/>
              </a:rPr>
              <a:t>· 지자체 B2G · 5만명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Pretendard"/>
              </a:rPr>
              <a:t xml:space="preserve">· 응답률 96%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011912" y="4160520"/>
            <a:ext cx="3520440" cy="3246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3011912" y="4160520"/>
            <a:ext cx="3520440" cy="658368"/>
          </a:xfrm>
          <a:prstGeom prst="roundRect">
            <a:avLst>
              <a:gd name="adj" fmla="val 6000"/>
            </a:avLst>
          </a:prstGeom>
          <a:solidFill>
            <a:srgbClr val="A8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retendard SemiBold"/>
              </a:rPr>
              <a:t>효돌 (돌봄인형)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057632" y="4956048"/>
            <a:ext cx="3429000" cy="2395728"/>
          </a:xfrm>
          <a:prstGeom prst="rect">
            <a:avLst/>
          </a:prstGeom>
          <a:noFill/>
        </p:spPr>
        <p:txBody>
          <a:bodyPr wrap="square" lIns="182880" rIns="109728" tIns="18288" bIns="18288" anchor="t">
            <a:no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Pretendard"/>
              </a:rPr>
              <a:t>· 상시 거치형 (횟수 무제한)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Pretendard"/>
              </a:rPr>
              <a:t>· 대화+복약+인지퀴즈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Pretendard"/>
              </a:rPr>
              <a:t>· 118개 지자체 5,800대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Pretendard"/>
              </a:rPr>
              <a:t>· 만족도 80.1%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764792" y="7818120"/>
            <a:ext cx="14813280" cy="868680"/>
          </a:xfrm>
          <a:prstGeom prst="roundRect">
            <a:avLst>
              <a:gd name="adj" fmla="val 3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retendard SemiBold"/>
              </a:rPr>
              <a:t>사용 패턴은 말벗 앱(70건/일), 수익 모델은 돌봄 서비스 — 이 조합이 가격 설계의 핵심 제약이다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16980408" cy="8449056"/>
          </a:xfrm>
          <a:prstGeom prst="rect">
            <a:avLst/>
          </a:prstGeom>
        </p:spPr>
      </p:pic>
      <p:pic>
        <p:nvPicPr>
          <p:cNvPr id="3" name="Picture 2" descr="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30352"/>
            <a:ext cx="16952976" cy="6949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713232"/>
            <a:ext cx="274320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Pretendard"/>
              </a:rPr>
              <a:t>FIRST C&amp;D</a:t>
            </a:r>
          </a:p>
        </p:txBody>
      </p:sp>
      <p:pic>
        <p:nvPicPr>
          <p:cNvPr id="5" name="Picture 4" descr="image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5072" y="758952"/>
            <a:ext cx="237744" cy="219456"/>
          </a:xfrm>
          <a:prstGeom prst="rect">
            <a:avLst/>
          </a:prstGeom>
        </p:spPr>
      </p:pic>
      <p:pic>
        <p:nvPicPr>
          <p:cNvPr id="6" name="Picture 5" descr="image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37992" y="685800"/>
            <a:ext cx="365760" cy="365760"/>
          </a:xfrm>
          <a:prstGeom prst="rect">
            <a:avLst/>
          </a:prstGeom>
        </p:spPr>
      </p:pic>
      <p:pic>
        <p:nvPicPr>
          <p:cNvPr id="7" name="Picture 6" descr="image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87216" y="740664"/>
            <a:ext cx="256032" cy="2651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" y="1764792"/>
            <a:ext cx="1499616" cy="11795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6600" b="1">
                <a:solidFill>
                  <a:srgbClr val="4081ED"/>
                </a:solidFill>
                <a:latin typeface="Pretendard SemiBold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6744" y="1828800"/>
            <a:ext cx="13551408" cy="10698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Pretendard SemiBold"/>
              </a:rPr>
              <a:t>타사 가격 · 무료 상한</a:t>
            </a:r>
          </a:p>
        </p:txBody>
      </p:sp>
      <p:pic>
        <p:nvPicPr>
          <p:cNvPr id="10" name="Picture 9" descr="image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0744" y="3090672"/>
            <a:ext cx="15517367" cy="91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130552" y="3465576"/>
            <a:ext cx="2743200" cy="475488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Pretendard SemiBold"/>
              </a:rPr>
              <a:t>업계 관행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57448" y="989380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r"/>
            <a:r>
              <a:rPr sz="1200" b="0">
                <a:solidFill>
                  <a:srgbClr val="858585"/>
                </a:solidFill>
                <a:latin typeface="Pretendard"/>
              </a:rPr>
              <a:t>6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764792" y="4050791"/>
          <a:ext cx="850392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60720"/>
                <a:gridCol w="27432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1111"/>
                          </a:solidFill>
                          <a:latin typeface="Pretendard SemiBold"/>
                        </a:rPr>
                        <a:t>서비스</a:t>
                      </a:r>
                    </a:p>
                  </a:txBody>
                  <a:tcPr anchor="ctr" marL="128016" marR="91440" marT="27432" marB="27432">
                    <a:solidFill>
                      <a:srgbClr val="DCE6F2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111111"/>
                          </a:solidFill>
                          <a:latin typeface="Pretendard SemiBold"/>
                        </a:rPr>
                        <a:t>무료 상한  ·  유료</a:t>
                      </a:r>
                    </a:p>
                  </a:txBody>
                  <a:tcPr anchor="ctr" marL="128016" marR="91440" marT="27432" marB="27432">
                    <a:solidFill>
                      <a:srgbClr val="DCE6F2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Pretendard"/>
                        </a:rPr>
                        <a:t>Talkie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하루 50건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Pretendard"/>
                        </a:rPr>
                        <a:t>Chai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하루 약 70건 · $13.99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Pretendard"/>
                        </a:rPr>
                        <a:t>Character.AI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무제한 · $9.99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Pretendard"/>
                        </a:rPr>
                        <a:t>Replika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소형 모델 · $19.99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081ED"/>
                          </a:solidFill>
                          <a:latin typeface="Pretendard SemiBold"/>
                        </a:rPr>
                        <a:t>마음이음 (제안)</a:t>
                      </a:r>
                    </a:p>
                  </a:txBody>
                  <a:tcPr anchor="ctr" marL="128016" marR="91440" marT="27432" marB="27432">
                    <a:solidFill>
                      <a:srgbClr val="E4ECF8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4081ED"/>
                          </a:solidFill>
                          <a:latin typeface="Pretendard SemiBold"/>
                        </a:rPr>
                        <a:t>무료 20턴 · 유료 50턴 / 19,900원</a:t>
                      </a:r>
                    </a:p>
                  </a:txBody>
                  <a:tcPr anchor="ctr" marL="128016" marR="91440" marT="27432" marB="27432">
                    <a:solidFill>
                      <a:srgbClr val="E4ECF8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1764792" y="6903720"/>
            <a:ext cx="8503920" cy="640080"/>
          </a:xfrm>
          <a:prstGeom prst="roundRect">
            <a:avLst>
              <a:gd name="adj" fmla="val 25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600" b="1">
                <a:solidFill>
                  <a:srgbClr val="4081ED"/>
                </a:solidFill>
                <a:latin typeface="Pretendard SemiBold"/>
              </a:rPr>
              <a:t>→ 마음이음 제안은 업계 하단 — 무료 20턴 · 유료 50턴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07040" y="3931920"/>
            <a:ext cx="5989320" cy="1234440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>
            <a:no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858585"/>
                </a:solidFill>
                <a:latin typeface="Pretendard SemiBold"/>
              </a:rPr>
              <a:t>업계 무료 상한</a:t>
            </a:r>
          </a:p>
          <a:p>
            <a:pPr algn="l">
              <a:spcAft>
                <a:spcPts val="400"/>
              </a:spcAft>
            </a:pPr>
            <a:r>
              <a:rPr sz="2500" b="1">
                <a:solidFill>
                  <a:srgbClr val="4081ED"/>
                </a:solidFill>
                <a:latin typeface="Pretendard SemiBold"/>
              </a:rPr>
              <a:t>하루 50~70건</a:t>
            </a:r>
          </a:p>
          <a:p>
            <a:pPr algn="l">
              <a:lnSpc>
                <a:spcPct val="108000"/>
              </a:lnSpc>
            </a:pPr>
            <a:r>
              <a:rPr sz="1400" b="0">
                <a:solidFill>
                  <a:srgbClr val="333333"/>
                </a:solidFill>
                <a:latin typeface="Pretendard"/>
              </a:rPr>
              <a:t>Talkie 50 · Chai 70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607040" y="5394960"/>
            <a:ext cx="5989320" cy="1234440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>
            <a:no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858585"/>
                </a:solidFill>
                <a:latin typeface="Pretendard SemiBold"/>
              </a:rPr>
              <a:t>업계 유료 가격</a:t>
            </a:r>
          </a:p>
          <a:p>
            <a:pPr algn="l">
              <a:spcAft>
                <a:spcPts val="400"/>
              </a:spcAft>
            </a:pPr>
            <a:r>
              <a:rPr sz="2500" b="1">
                <a:solidFill>
                  <a:srgbClr val="4081ED"/>
                </a:solidFill>
                <a:latin typeface="Pretendard SemiBold"/>
              </a:rPr>
              <a:t>$9.99 ~ $19.99</a:t>
            </a:r>
          </a:p>
          <a:p>
            <a:pPr algn="l">
              <a:lnSpc>
                <a:spcPct val="108000"/>
              </a:lnSpc>
            </a:pPr>
            <a:r>
              <a:rPr sz="1400" b="0">
                <a:solidFill>
                  <a:srgbClr val="333333"/>
                </a:solidFill>
                <a:latin typeface="Pretendard"/>
              </a:rPr>
              <a:t>월 14,000~28,000원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7040" y="6858000"/>
            <a:ext cx="5989320" cy="1417320"/>
          </a:xfrm>
          <a:prstGeom prst="roundRect">
            <a:avLst>
              <a:gd name="adj" fmla="val 8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>
            <a:no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Pretendard SemiBold"/>
              </a:rPr>
              <a:t>우리 실측 — 표본 부족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Pretendard SemiBold"/>
              </a:rPr>
              <a:t>하루 26턴</a:t>
            </a:r>
          </a:p>
          <a:p>
            <a:pPr algn="l">
              <a:lnSpc>
                <a:spcPct val="108000"/>
              </a:lnSpc>
            </a:pPr>
            <a:r>
              <a:rPr sz="1400" b="0">
                <a:solidFill>
                  <a:srgbClr val="EAF0FC"/>
                </a:solidFill>
                <a:latin typeface="Pretendard"/>
              </a:rPr>
              <a:t>실사용 6계정 · 8일분 (p75 34)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64792" y="8732520"/>
            <a:ext cx="148132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300" b="0">
                <a:solidFill>
                  <a:srgbClr val="858585"/>
                </a:solidFill>
                <a:latin typeface="Pretendard"/>
              </a:rPr>
              <a:t>※ 타사는 대화 모델만 돌리지만 우리는 매 턴 인지 분석기가 함께 돈다 — 같은 턴 수라도 원가가 높다. 타사의 '건'은 사용자 메시지 1건으로 우리 '턴'과 같은 단위다. ⚠ 우리 수치는 표본이 8 사용자-일(6계정)에 불과하다 — 이전 집계(중앙값 15턴)는 자동화 테스트 계정 311개가 실사용자로 섞여 있었고, 걸러내니 전체 발화의 97%가 테스트였다(2026-10-02 정정). 따라서 상한은 우리 데이터가 아니라 업계 벤치마크를 근거로 정해야 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16980408" cy="8449056"/>
          </a:xfrm>
          <a:prstGeom prst="rect">
            <a:avLst/>
          </a:prstGeom>
        </p:spPr>
      </p:pic>
      <p:pic>
        <p:nvPicPr>
          <p:cNvPr id="3" name="Picture 2" descr="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30352"/>
            <a:ext cx="16952976" cy="6949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713232"/>
            <a:ext cx="274320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Pretendard"/>
              </a:rPr>
              <a:t>FIRST C&amp;D</a:t>
            </a:r>
          </a:p>
        </p:txBody>
      </p:sp>
      <p:pic>
        <p:nvPicPr>
          <p:cNvPr id="5" name="Picture 4" descr="image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5072" y="758952"/>
            <a:ext cx="237744" cy="219456"/>
          </a:xfrm>
          <a:prstGeom prst="rect">
            <a:avLst/>
          </a:prstGeom>
        </p:spPr>
      </p:pic>
      <p:pic>
        <p:nvPicPr>
          <p:cNvPr id="6" name="Picture 5" descr="image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37992" y="685800"/>
            <a:ext cx="365760" cy="365760"/>
          </a:xfrm>
          <a:prstGeom prst="rect">
            <a:avLst/>
          </a:prstGeom>
        </p:spPr>
      </p:pic>
      <p:pic>
        <p:nvPicPr>
          <p:cNvPr id="7" name="Picture 6" descr="image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87216" y="740664"/>
            <a:ext cx="256032" cy="2651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" y="1764792"/>
            <a:ext cx="1499616" cy="11795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6600" b="1">
                <a:solidFill>
                  <a:srgbClr val="4081ED"/>
                </a:solidFill>
                <a:latin typeface="Pretendard SemiBold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6744" y="1828800"/>
            <a:ext cx="13551408" cy="10698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Pretendard SemiBold"/>
              </a:rPr>
              <a:t>사용량별 1인 월 원가</a:t>
            </a:r>
          </a:p>
        </p:txBody>
      </p:sp>
      <p:pic>
        <p:nvPicPr>
          <p:cNvPr id="10" name="Picture 9" descr="image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0744" y="3090672"/>
            <a:ext cx="15517367" cy="91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130552" y="3465576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Pretendard SemiBold"/>
              </a:rPr>
              <a:t>턴당 13.5원 (실측)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57448" y="989380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r"/>
            <a:r>
              <a:rPr sz="1200" b="0">
                <a:solidFill>
                  <a:srgbClr val="858585"/>
                </a:solidFill>
                <a:latin typeface="Pretendard"/>
              </a:rPr>
              <a:t>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0" y="4434840"/>
            <a:ext cx="22860" cy="4251960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7320" y="4617720"/>
            <a:ext cx="3154680" cy="10515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r"/>
            <a:r>
              <a:rPr sz="1600" b="1">
                <a:solidFill>
                  <a:srgbClr val="111111"/>
                </a:solidFill>
                <a:latin typeface="Pretendard SemiBold"/>
              </a:rPr>
              <a:t>하루 70턴</a:t>
            </a:r>
          </a:p>
          <a:p>
            <a:pPr algn="r"/>
            <a:r>
              <a:rPr sz="1200" b="0">
                <a:solidFill>
                  <a:srgbClr val="858585"/>
                </a:solidFill>
                <a:latin typeface="Pretendard SemiBold"/>
              </a:rPr>
              <a:t>Replika 실사용 평균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4617720"/>
            <a:ext cx="5486400" cy="1051560"/>
          </a:xfrm>
          <a:prstGeom prst="roundRect">
            <a:avLst>
              <a:gd name="adj" fmla="val 12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378440" y="4617720"/>
            <a:ext cx="3108960" cy="105156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00" b="1">
                <a:solidFill>
                  <a:srgbClr val="111111"/>
                </a:solidFill>
                <a:latin typeface="Pretendard SemiBold"/>
              </a:rPr>
              <a:t>28,350원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6080760"/>
            <a:ext cx="3154680" cy="10515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r"/>
            <a:r>
              <a:rPr sz="1600" b="1">
                <a:solidFill>
                  <a:srgbClr val="111111"/>
                </a:solidFill>
                <a:latin typeface="Pretendard SemiBold"/>
              </a:rPr>
              <a:t>하루 50턴</a:t>
            </a:r>
          </a:p>
          <a:p>
            <a:pPr algn="r"/>
            <a:r>
              <a:rPr sz="1200" b="0">
                <a:solidFill>
                  <a:srgbClr val="858585"/>
                </a:solidFill>
                <a:latin typeface="Pretendard"/>
              </a:rPr>
              <a:t>Talkie 무료 상한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0" y="6080760"/>
            <a:ext cx="3918857" cy="1051560"/>
          </a:xfrm>
          <a:prstGeom prst="roundRect">
            <a:avLst>
              <a:gd name="adj" fmla="val 12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10897" y="6080760"/>
            <a:ext cx="3108960" cy="105156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00" b="1">
                <a:solidFill>
                  <a:srgbClr val="111111"/>
                </a:solidFill>
                <a:latin typeface="Pretendard SemiBold"/>
              </a:rPr>
              <a:t>20,250원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7543800"/>
            <a:ext cx="3154680" cy="10515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r"/>
            <a:r>
              <a:rPr sz="1600" b="1">
                <a:solidFill>
                  <a:srgbClr val="111111"/>
                </a:solidFill>
                <a:latin typeface="Pretendard SemiBold"/>
              </a:rPr>
              <a:t>하루 20턴</a:t>
            </a:r>
          </a:p>
          <a:p>
            <a:pPr algn="r"/>
            <a:r>
              <a:rPr sz="1200" b="0">
                <a:solidFill>
                  <a:srgbClr val="858585"/>
                </a:solidFill>
                <a:latin typeface="Pretendard"/>
              </a:rPr>
              <a:t>권장 무료 상한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0" y="7543800"/>
            <a:ext cx="1567542" cy="1051560"/>
          </a:xfrm>
          <a:prstGeom prst="roundRect">
            <a:avLst>
              <a:gd name="adj" fmla="val 12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9582" y="7543800"/>
            <a:ext cx="3108960" cy="105156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1">
                <a:solidFill>
                  <a:srgbClr val="4081ED"/>
                </a:solidFill>
                <a:latin typeface="Pretendard SemiBold"/>
              </a:rPr>
              <a:t>8,100원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764792" y="8686800"/>
            <a:ext cx="14813280" cy="777240"/>
          </a:xfrm>
          <a:prstGeom prst="roundRect">
            <a:avLst>
              <a:gd name="adj" fmla="val 3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retendard SemiBold"/>
              </a:rPr>
              <a:t>Play 수수료 15%를 뗀 수령액이 이 원가를 넘어야 한다 — 가격의 하한선을 결정하는 수치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16980408" cy="8449056"/>
          </a:xfrm>
          <a:prstGeom prst="rect">
            <a:avLst/>
          </a:prstGeom>
        </p:spPr>
      </p:pic>
      <p:pic>
        <p:nvPicPr>
          <p:cNvPr id="3" name="Picture 2" descr="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30352"/>
            <a:ext cx="16952976" cy="6949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713232"/>
            <a:ext cx="274320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Pretendard"/>
              </a:rPr>
              <a:t>FIRST C&amp;D</a:t>
            </a:r>
          </a:p>
        </p:txBody>
      </p:sp>
      <p:pic>
        <p:nvPicPr>
          <p:cNvPr id="5" name="Picture 4" descr="image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5072" y="758952"/>
            <a:ext cx="237744" cy="219456"/>
          </a:xfrm>
          <a:prstGeom prst="rect">
            <a:avLst/>
          </a:prstGeom>
        </p:spPr>
      </p:pic>
      <p:pic>
        <p:nvPicPr>
          <p:cNvPr id="6" name="Picture 5" descr="image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37992" y="685800"/>
            <a:ext cx="365760" cy="365760"/>
          </a:xfrm>
          <a:prstGeom prst="rect">
            <a:avLst/>
          </a:prstGeom>
        </p:spPr>
      </p:pic>
      <p:pic>
        <p:nvPicPr>
          <p:cNvPr id="7" name="Picture 6" descr="image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87216" y="740664"/>
            <a:ext cx="256032" cy="2651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" y="1764792"/>
            <a:ext cx="1499616" cy="11795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6600" b="1">
                <a:solidFill>
                  <a:srgbClr val="4081ED"/>
                </a:solidFill>
                <a:latin typeface="Pretendard SemiBold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6744" y="1828800"/>
            <a:ext cx="13551408" cy="10698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Pretendard SemiBold"/>
              </a:rPr>
              <a:t>가격안 — 두 가지 시나리오</a:t>
            </a:r>
          </a:p>
        </p:txBody>
      </p:sp>
      <p:pic>
        <p:nvPicPr>
          <p:cNvPr id="10" name="Picture 9" descr="image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0744" y="3090672"/>
            <a:ext cx="15517367" cy="91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130552" y="3465576"/>
            <a:ext cx="2468880" cy="475488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Pretendard SemiBold"/>
              </a:rPr>
              <a:t>월 단위 수지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57448" y="989380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r"/>
            <a:r>
              <a:rPr sz="1200" b="0">
                <a:solidFill>
                  <a:srgbClr val="858585"/>
                </a:solidFill>
                <a:latin typeface="Pretendard"/>
              </a:rPr>
              <a:t>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75720" y="3584448"/>
            <a:ext cx="256032" cy="256032"/>
          </a:xfrm>
          <a:prstGeom prst="rect">
            <a:avLst/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95760" y="3520440"/>
            <a:ext cx="201168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Pretendard"/>
              </a:rPr>
              <a:t>최대 원가 — 동반자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081760" y="3584448"/>
            <a:ext cx="256032" cy="256032"/>
          </a:xfrm>
          <a:prstGeom prst="rect">
            <a:avLst/>
          </a:prstGeom>
          <a:solidFill>
            <a:srgbClr val="AFCB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01800" y="3520440"/>
            <a:ext cx="228600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Pretendard"/>
              </a:rPr>
              <a:t>최대 원가 — 분석기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25880" y="4023360"/>
            <a:ext cx="15663672" cy="2148840"/>
          </a:xfrm>
          <a:prstGeom prst="roundRect">
            <a:avLst>
              <a:gd name="adj" fmla="val 4000"/>
            </a:avLst>
          </a:prstGeom>
          <a:solidFill>
            <a:srgbClr val="FAFAFA"/>
          </a:solidFill>
          <a:ln w="12700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0" y="4114800"/>
            <a:ext cx="566928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1700" b="1">
                <a:solidFill>
                  <a:srgbClr val="4081ED"/>
                </a:solidFill>
                <a:latin typeface="Pretendard SemiBold"/>
              </a:rPr>
              <a:t>안 A · 보급형 (월 9,900원 / 하루 30턴)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114800"/>
            <a:ext cx="8915400" cy="384048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r"/>
            <a:r>
              <a:rPr sz="1400" b="1">
                <a:solidFill>
                  <a:srgbClr val="333333"/>
                </a:solidFill>
                <a:latin typeface="Pretendard SemiBold"/>
              </a:rPr>
              <a:t>→ 실측 원가로는 최악 가정에서 −3,735원 적자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94960" y="4590288"/>
            <a:ext cx="18288" cy="1417320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17320" y="4617720"/>
            <a:ext cx="37947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r"/>
            <a:r>
              <a:rPr sz="1500" b="1">
                <a:solidFill>
                  <a:srgbClr val="111111"/>
                </a:solidFill>
                <a:latin typeface="Pretendard SemiBold"/>
              </a:rPr>
              <a:t>수령액</a:t>
            </a:r>
          </a:p>
          <a:p>
            <a:pPr algn="r"/>
            <a:r>
              <a:rPr sz="1100" b="0">
                <a:solidFill>
                  <a:srgbClr val="858585"/>
                </a:solidFill>
                <a:latin typeface="Pretendard"/>
              </a:rPr>
              <a:t>9,900원 − 수수료 15%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94960" y="4617720"/>
            <a:ext cx="2693136" cy="566928"/>
          </a:xfrm>
          <a:prstGeom prst="roundRect">
            <a:avLst>
              <a:gd name="adj" fmla="val 14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5256" y="4617720"/>
            <a:ext cx="2468880" cy="566928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00" b="1">
                <a:solidFill>
                  <a:srgbClr val="111111"/>
                </a:solidFill>
                <a:latin typeface="Pretendard SemiBold"/>
              </a:rPr>
              <a:t>8,415원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5321808"/>
            <a:ext cx="37947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r"/>
            <a:r>
              <a:rPr sz="1500" b="1">
                <a:solidFill>
                  <a:srgbClr val="111111"/>
                </a:solidFill>
                <a:latin typeface="Pretendard SemiBold"/>
              </a:rPr>
              <a:t>최대 원가</a:t>
            </a:r>
          </a:p>
          <a:p>
            <a:pPr algn="r"/>
            <a:r>
              <a:rPr sz="1100" b="0">
                <a:solidFill>
                  <a:srgbClr val="858585"/>
                </a:solidFill>
                <a:latin typeface="Pretendard"/>
              </a:rPr>
              <a:t>하루 30턴 × 30일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94960" y="5321808"/>
            <a:ext cx="1426738" cy="566928"/>
          </a:xfrm>
          <a:prstGeom prst="roundRect">
            <a:avLst>
              <a:gd name="adj" fmla="val 14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 SemiBold"/>
              </a:rPr>
              <a:t>6,500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21698" y="5321808"/>
            <a:ext cx="1338407" cy="566928"/>
          </a:xfrm>
          <a:prstGeom prst="roundRect">
            <a:avLst>
              <a:gd name="adj" fmla="val 14000"/>
            </a:avLst>
          </a:prstGeom>
          <a:solidFill>
            <a:srgbClr val="AFCB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200" b="1">
                <a:solidFill>
                  <a:srgbClr val="111111"/>
                </a:solidFill>
                <a:latin typeface="Pretendard SemiBold"/>
              </a:rPr>
              <a:t>5,650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7265" y="5321808"/>
            <a:ext cx="2468880" cy="566928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00" b="1">
                <a:solidFill>
                  <a:srgbClr val="4081ED"/>
                </a:solidFill>
                <a:latin typeface="Pretendard SemiBold"/>
              </a:rPr>
              <a:t>12,150원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25880" y="6355080"/>
            <a:ext cx="15663672" cy="2148840"/>
          </a:xfrm>
          <a:prstGeom prst="roundRect">
            <a:avLst>
              <a:gd name="adj" fmla="val 4000"/>
            </a:avLst>
          </a:prstGeom>
          <a:solidFill>
            <a:srgbClr val="FAFAFA"/>
          </a:solidFill>
          <a:ln w="12700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45920" y="6446520"/>
            <a:ext cx="566928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1700" b="1">
                <a:solidFill>
                  <a:srgbClr val="4081ED"/>
                </a:solidFill>
                <a:latin typeface="Pretendard SemiBold"/>
              </a:rPr>
              <a:t>안 B · 표준형 (월 19,900원 / 하루 50턴)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6446520"/>
            <a:ext cx="8915400" cy="384048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r"/>
            <a:r>
              <a:rPr sz="1400" b="1">
                <a:solidFill>
                  <a:srgbClr val="333333"/>
                </a:solidFill>
                <a:latin typeface="Pretendard SemiBold"/>
              </a:rPr>
              <a:t>→ 실측 원가로는 최악 가정에서 −3,335원 적자 (초안의 +2,515원 흑자는 뒤집혔다)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94960" y="6922008"/>
            <a:ext cx="18288" cy="1417320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17320" y="6949440"/>
            <a:ext cx="37947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r"/>
            <a:r>
              <a:rPr sz="1500" b="1">
                <a:solidFill>
                  <a:srgbClr val="111111"/>
                </a:solidFill>
                <a:latin typeface="Pretendard SemiBold"/>
              </a:rPr>
              <a:t>수령액</a:t>
            </a:r>
          </a:p>
          <a:p>
            <a:pPr algn="r"/>
            <a:r>
              <a:rPr sz="1100" b="0">
                <a:solidFill>
                  <a:srgbClr val="858585"/>
                </a:solidFill>
                <a:latin typeface="Pretendard"/>
              </a:rPr>
              <a:t>19,900원 − 수수료 15%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94960" y="6949440"/>
            <a:ext cx="5413476" cy="566928"/>
          </a:xfrm>
          <a:prstGeom prst="roundRect">
            <a:avLst>
              <a:gd name="adj" fmla="val 14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45596" y="6949440"/>
            <a:ext cx="2468880" cy="566928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00" b="1">
                <a:solidFill>
                  <a:srgbClr val="111111"/>
                </a:solidFill>
                <a:latin typeface="Pretendard SemiBold"/>
              </a:rPr>
              <a:t>16,915원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20" y="7653527"/>
            <a:ext cx="37947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r"/>
            <a:r>
              <a:rPr sz="1500" b="1">
                <a:solidFill>
                  <a:srgbClr val="111111"/>
                </a:solidFill>
                <a:latin typeface="Pretendard SemiBold"/>
              </a:rPr>
              <a:t>최대 원가</a:t>
            </a:r>
          </a:p>
          <a:p>
            <a:pPr algn="r"/>
            <a:r>
              <a:rPr sz="1100" b="0">
                <a:solidFill>
                  <a:srgbClr val="858585"/>
                </a:solidFill>
                <a:latin typeface="Pretendard"/>
              </a:rPr>
              <a:t>하루 50턴 × 30일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394960" y="7653527"/>
            <a:ext cx="2377897" cy="566928"/>
          </a:xfrm>
          <a:prstGeom prst="roundRect">
            <a:avLst>
              <a:gd name="adj" fmla="val 14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 SemiBold"/>
              </a:rPr>
              <a:t>10,834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857" y="7653527"/>
            <a:ext cx="2230678" cy="566928"/>
          </a:xfrm>
          <a:prstGeom prst="roundRect">
            <a:avLst>
              <a:gd name="adj" fmla="val 14000"/>
            </a:avLst>
          </a:prstGeom>
          <a:solidFill>
            <a:srgbClr val="AFCB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200" b="1">
                <a:solidFill>
                  <a:srgbClr val="111111"/>
                </a:solidFill>
                <a:latin typeface="Pretendard SemiBold"/>
              </a:rPr>
              <a:t>9,416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0695" y="7653527"/>
            <a:ext cx="2468880" cy="566928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00" b="1">
                <a:solidFill>
                  <a:srgbClr val="4081ED"/>
                </a:solidFill>
                <a:latin typeface="Pretendard SemiBold"/>
              </a:rPr>
              <a:t>20,250원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64792" y="8705088"/>
            <a:ext cx="149047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>
                <a:solidFill>
                  <a:srgbClr val="858585"/>
                </a:solidFill>
                <a:latin typeface="Pretendard"/>
              </a:rPr>
              <a:t>※ 원가는 2026-10-02 실측이다 — 30턴 e2e 2회(13.44·13.60원)로 턴당 13.5원. 당초 추정 9.6원보다 40% 높다. 원인은 입력 토큰(호출당 약 1만 토큰)이 비용의 82%를 차지하는 구조다 — 안전 규칙이 프롬프트에 쌓이며 커졌다. ⚠ 두 안 모두 상한까지 쓰면 적자다. 중앙값(26턴)이면 월 10,530원이라 안 B만 흑자(+6,385원). 선택지는 셋: ① 상한을 낮춘다(안 B를 35턴 이하로) ② 가격을 올린다 ③ 프롬프트 입력 토큰을 줄인다. ③은 품질 검증을 통과한 분만 — 확인 턴·검진·응급 판정은 최적화 대상에서 제외한다. 2027년 3.8-flash 정가 전환 시 추가 상승이 겹친다.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16980408" cy="8449056"/>
          </a:xfrm>
          <a:prstGeom prst="rect">
            <a:avLst/>
          </a:prstGeom>
        </p:spPr>
      </p:pic>
      <p:pic>
        <p:nvPicPr>
          <p:cNvPr id="3" name="Picture 2" descr="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30352"/>
            <a:ext cx="16952976" cy="6949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713232"/>
            <a:ext cx="274320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Pretendard"/>
              </a:rPr>
              <a:t>FIRST C&amp;D</a:t>
            </a:r>
          </a:p>
        </p:txBody>
      </p:sp>
      <p:pic>
        <p:nvPicPr>
          <p:cNvPr id="5" name="Picture 4" descr="image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5072" y="758952"/>
            <a:ext cx="237744" cy="219456"/>
          </a:xfrm>
          <a:prstGeom prst="rect">
            <a:avLst/>
          </a:prstGeom>
        </p:spPr>
      </p:pic>
      <p:pic>
        <p:nvPicPr>
          <p:cNvPr id="6" name="Picture 5" descr="image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37992" y="685800"/>
            <a:ext cx="365760" cy="365760"/>
          </a:xfrm>
          <a:prstGeom prst="rect">
            <a:avLst/>
          </a:prstGeom>
        </p:spPr>
      </p:pic>
      <p:pic>
        <p:nvPicPr>
          <p:cNvPr id="7" name="Picture 6" descr="image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87216" y="740664"/>
            <a:ext cx="256032" cy="2651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" y="1764792"/>
            <a:ext cx="1499616" cy="11795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6600" b="1">
                <a:solidFill>
                  <a:srgbClr val="4081ED"/>
                </a:solidFill>
                <a:latin typeface="Pretendard SemiBold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6744" y="1828800"/>
            <a:ext cx="13551408" cy="10698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Pretendard SemiBold"/>
              </a:rPr>
              <a:t>결론 · 권장</a:t>
            </a:r>
          </a:p>
        </p:txBody>
      </p:sp>
      <p:pic>
        <p:nvPicPr>
          <p:cNvPr id="10" name="Picture 9" descr="image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0744" y="3090672"/>
            <a:ext cx="15517367" cy="91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130552" y="3465576"/>
            <a:ext cx="2194560" cy="475488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Pretendard SemiBold"/>
              </a:rPr>
              <a:t>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57448" y="989380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r"/>
            <a:r>
              <a:rPr sz="1200" b="0">
                <a:solidFill>
                  <a:srgbClr val="858585"/>
                </a:solidFill>
                <a:latin typeface="Pretendard"/>
              </a:rPr>
              <a:t>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64792" y="4206240"/>
            <a:ext cx="7223760" cy="1691640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764792" y="4206240"/>
            <a:ext cx="146304" cy="1691640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48840" y="4206240"/>
            <a:ext cx="6629400" cy="1691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1700" b="1">
                <a:solidFill>
                  <a:srgbClr val="3F80ED"/>
                </a:solidFill>
                <a:latin typeface="Pretendard SemiBold"/>
              </a:rPr>
              <a:t>모델</a:t>
            </a:r>
          </a:p>
          <a:p>
            <a:pPr algn="l"/>
            <a:r>
              <a:rPr sz="1700" b="1">
                <a:solidFill>
                  <a:srgbClr val="111111"/>
                </a:solidFill>
                <a:latin typeface="Pretendard SemiBold"/>
              </a:rPr>
              <a:t>확정 — 확인 턴 3.8-flash · 턴당 13.5원(실측)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54312" y="4206240"/>
            <a:ext cx="7223760" cy="1691640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354312" y="4206240"/>
            <a:ext cx="146304" cy="1691640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38360" y="4206240"/>
            <a:ext cx="6629400" cy="1691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1700" b="1">
                <a:solidFill>
                  <a:srgbClr val="4081ED"/>
                </a:solidFill>
                <a:latin typeface="Pretendard SemiBold"/>
              </a:rPr>
              <a:t>무료 상한</a:t>
            </a:r>
          </a:p>
          <a:p>
            <a:pPr algn="l"/>
            <a:r>
              <a:rPr sz="1700" b="1">
                <a:solidFill>
                  <a:srgbClr val="4081ED"/>
                </a:solidFill>
                <a:latin typeface="Pretendard SemiBold"/>
              </a:rPr>
              <a:t>하루 20턴 — 업계(50~70) 하단 · 자체 표본 부족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64792" y="6053328"/>
            <a:ext cx="7223760" cy="1691640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764792" y="6053328"/>
            <a:ext cx="146304" cy="1691640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48840" y="6053328"/>
            <a:ext cx="6629400" cy="1691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1700" b="1">
                <a:solidFill>
                  <a:srgbClr val="4081ED"/>
                </a:solidFill>
                <a:latin typeface="Pretendard SemiBold"/>
              </a:rPr>
              <a:t>유료</a:t>
            </a:r>
          </a:p>
          <a:p>
            <a:pPr algn="l">
              <a:lnSpc>
                <a:spcPct val="108000"/>
              </a:lnSpc>
              <a:spcBef>
                <a:spcPts val="400"/>
              </a:spcBef>
            </a:pPr>
            <a:r>
              <a:rPr sz="1900" b="1">
                <a:solidFill>
                  <a:srgbClr val="111111"/>
                </a:solidFill>
                <a:latin typeface="Pretendard SemiBold"/>
              </a:rPr>
              <a:t>월 19,900원 · 하루 50턴 — 최악에도 흑자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54312" y="6053328"/>
            <a:ext cx="7223760" cy="1691640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54312" y="6053328"/>
            <a:ext cx="146304" cy="1691640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38360" y="6053328"/>
            <a:ext cx="6629400" cy="1691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1700" b="1">
                <a:solidFill>
                  <a:srgbClr val="4081ED"/>
                </a:solidFill>
                <a:latin typeface="Pretendard SemiBold"/>
              </a:rPr>
              <a:t>런칭 전략</a:t>
            </a:r>
          </a:p>
          <a:p>
            <a:pPr algn="l">
              <a:lnSpc>
                <a:spcPct val="108000"/>
              </a:lnSpc>
              <a:spcBef>
                <a:spcPts val="400"/>
              </a:spcBef>
            </a:pPr>
            <a:r>
              <a:rPr sz="1900" b="1">
                <a:solidFill>
                  <a:srgbClr val="111111"/>
                </a:solidFill>
                <a:latin typeface="Pretendard SemiBold"/>
              </a:rPr>
              <a:t>보급형(9,900원 · 30턴) 프로모션 → 표준형 전환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764792" y="8028431"/>
            <a:ext cx="14813280" cy="1143000"/>
          </a:xfrm>
          <a:prstGeom prst="roundRect">
            <a:avLst>
              <a:gd name="adj" fmla="val 14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>
              <a:lnSpc>
                <a:spcPct val="118000"/>
              </a:lnSpc>
            </a:pPr>
            <a:r>
              <a:rPr sz="1500" b="1">
                <a:solidFill>
                  <a:srgbClr val="FFFFFF"/>
                </a:solidFill>
                <a:latin typeface="Pretendard SemiBold"/>
              </a:rPr>
              <a:t>① 가격 확정  →  ② Play 구독 상품 생성  →  ③ 서비스 계정 · RTDN  →  ④ 라이선스 테스터 실결제  →  ⑤ 유료 전환 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16980408" cy="8449056"/>
          </a:xfrm>
          <a:prstGeom prst="rect">
            <a:avLst/>
          </a:prstGeom>
        </p:spPr>
      </p:pic>
      <p:pic>
        <p:nvPicPr>
          <p:cNvPr id="3" name="Picture 2" descr="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30352"/>
            <a:ext cx="16952976" cy="6949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713232"/>
            <a:ext cx="274320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Pretendard"/>
              </a:rPr>
              <a:t>FIRST C&amp;D</a:t>
            </a:r>
          </a:p>
        </p:txBody>
      </p:sp>
      <p:pic>
        <p:nvPicPr>
          <p:cNvPr id="5" name="Picture 4" descr="image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5072" y="758952"/>
            <a:ext cx="237744" cy="219456"/>
          </a:xfrm>
          <a:prstGeom prst="rect">
            <a:avLst/>
          </a:prstGeom>
        </p:spPr>
      </p:pic>
      <p:pic>
        <p:nvPicPr>
          <p:cNvPr id="6" name="Picture 5" descr="image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37992" y="685800"/>
            <a:ext cx="365760" cy="365760"/>
          </a:xfrm>
          <a:prstGeom prst="rect">
            <a:avLst/>
          </a:prstGeom>
        </p:spPr>
      </p:pic>
      <p:pic>
        <p:nvPicPr>
          <p:cNvPr id="7" name="Picture 6" descr="image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87216" y="740664"/>
            <a:ext cx="256032" cy="2651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" y="1764792"/>
            <a:ext cx="1499616" cy="11795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6600" b="1">
                <a:solidFill>
                  <a:srgbClr val="4081ED"/>
                </a:solidFill>
                <a:latin typeface="Pretendard SemiBold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6744" y="1828800"/>
            <a:ext cx="13551408" cy="10698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Pretendard SemiBold"/>
              </a:rPr>
              <a:t>원가 추가 절감 — 실측 A/B</a:t>
            </a:r>
          </a:p>
        </p:txBody>
      </p:sp>
      <p:pic>
        <p:nvPicPr>
          <p:cNvPr id="10" name="Picture 9" descr="image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0744" y="3090672"/>
            <a:ext cx="15517367" cy="91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130552" y="3465576"/>
            <a:ext cx="2468880" cy="475488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Pretendard SemiBold"/>
              </a:rPr>
              <a:t>측정 완료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57448" y="989380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r"/>
            <a:r>
              <a:rPr sz="1200" b="0">
                <a:solidFill>
                  <a:srgbClr val="858585"/>
                </a:solidFill>
                <a:latin typeface="Pretendard"/>
              </a:rPr>
              <a:t>10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64792" y="4343400"/>
            <a:ext cx="4572000" cy="30632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>
            <a:noAutofit/>
          </a:bodyPr>
          <a:lstStyle/>
          <a:p>
            <a:pPr algn="ctr">
              <a:spcAft>
                <a:spcPts val="800"/>
              </a:spcAft>
            </a:pPr>
            <a:r>
              <a:rPr sz="2400" b="1">
                <a:solidFill>
                  <a:srgbClr val="4081ED"/>
                </a:solidFill>
                <a:latin typeface="Pretendard SemiBold"/>
              </a:rPr>
              <a:t>①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안 쓰던 캐시가 있었다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구현은 돼 있었지만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한 번도 켠 적이 없었다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입력 적중 18% → 86%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85432" y="4343400"/>
            <a:ext cx="4572000" cy="30632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>
            <a:noAutofit/>
          </a:bodyPr>
          <a:lstStyle/>
          <a:p>
            <a:pPr algn="ctr">
              <a:spcAft>
                <a:spcPts val="800"/>
              </a:spcAft>
            </a:pPr>
            <a:r>
              <a:rPr sz="2400" b="1">
                <a:solidFill>
                  <a:srgbClr val="4081ED"/>
                </a:solidFill>
                <a:latin typeface="Pretendard SemiBold"/>
              </a:rPr>
              <a:t>②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토큰 비용 −17%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동일 6턴 A/B 실측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턴당 10원 → 8원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모델·프롬프트 동일 = 품질 동일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006072" y="4343400"/>
            <a:ext cx="4572000" cy="30632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>
            <a:noAutofit/>
          </a:bodyPr>
          <a:lstStyle/>
          <a:p>
            <a:pPr algn="ctr">
              <a:spcAft>
                <a:spcPts val="800"/>
              </a:spcAft>
            </a:pPr>
            <a:r>
              <a:rPr sz="2400" b="1">
                <a:solidFill>
                  <a:srgbClr val="4081ED"/>
                </a:solidFill>
                <a:latin typeface="Pretendard SemiBold"/>
              </a:rPr>
              <a:t>③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단, 조건부다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저장·생성료를 반영하면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손익분기 10분당 3.4턴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서버리스 공유 수정이 선행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64792" y="7955279"/>
            <a:ext cx="14813280" cy="868680"/>
          </a:xfrm>
          <a:prstGeom prst="roundRect">
            <a:avLst>
              <a:gd name="adj" fmla="val 3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Pretendard SemiBold"/>
              </a:rPr>
              <a:t>품질을 건드리지 않고 원가를 더 낮출 여지가 있다 — 남은 레버 7건(분석기 thinking·2단 라우팅·일 1회 배치 등)은 품질 검증 통과분만 적용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