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</a:rPr>
              <a:t>마음이음 AI 원가 · 수익구조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BFD8F2"/>
                </a:solidFill>
                <a:latin typeface="맑은 고딕"/>
                <a:ea typeface="맑은 고딕"/>
              </a:rPr>
              <a:t>실측 기반 모델 최적화 · 결제 수수료 · 가격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CBCDE"/>
                </a:solidFill>
                <a:latin typeface="맑은 고딕"/>
                <a:ea typeface="맑은 고딕"/>
              </a:rPr>
              <a:t>2026-09-30 · FIRST C&amp;D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핵심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10896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B7F4B"/>
                </a:solidFill>
                <a:latin typeface="맑은 고딕"/>
                <a:ea typeface="맑은 고딕"/>
              </a:rPr>
              <a:t>가장 싼 모델이
가장 정확했다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분석기를 3.5-flash → 2.5-flash로
교체 시 정확도 96.3% → 100%,
단가는 1/5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108960"/>
          </a:xfrm>
          <a:prstGeom prst="roundRect">
            <a:avLst/>
          </a:prstGeom>
          <a:solidFill>
            <a:srgbClr val="FEF6E0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47A0A"/>
                </a:solidFill>
                <a:latin typeface="맑은 고딕"/>
                <a:ea typeface="맑은 고딕"/>
              </a:rPr>
              <a:t>비용의 97%가
'입력 토큰'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8,400토큰 시스템 프롬프트를
매 턴 재전송.
캐싱·호출 축소가 핵심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10896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92B2B"/>
                </a:solidFill>
                <a:latin typeface="맑은 고딕"/>
                <a:ea typeface="맑은 고딕"/>
              </a:rPr>
              <a:t>현 구조로는
구독이 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7472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원가 ₩11,800 &gt; 순수익 ₩8,415
최적화 + 사용량 제한 필수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4E7A"/>
                </a:solidFill>
                <a:latin typeface="맑은 고딕"/>
                <a:ea typeface="맑은 고딕"/>
              </a:rPr>
              <a:t>→ 모델 교체·중복 호출 제거만으로 턴당 원가 52% 절감 가능. 이후 구독가 ₩12,900 + 하루 사용량 상한으로 마진 24% 확보.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① 현재 비용 구조 (실측)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06068"/>
                </a:solidFill>
                <a:latin typeface="맑은 고딕"/>
                <a:ea typeface="맑은 고딕"/>
              </a:rPr>
              <a:t>앱의 실제 시스템 프롬프트로 10턴 대화를 돌려 토큰 직접 측정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6583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항목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실측값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시스템 프롬프트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약 8,400 토큰 (매 턴 재전송)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대화 입력 / 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8,431 → 8,991 토큰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대화 출력 / 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44 + thinking 170 토큰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대화 비용 / 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$0.00315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분석기 호출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턴마다 2회 (2.5-flash + 3.5-flash)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분석기 비용 / 턴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약 $0.0115  ← 대화의 3.6배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920240"/>
            <a:ext cx="3794760" cy="27432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3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148840"/>
            <a:ext cx="3291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B92B2B"/>
                </a:solidFill>
                <a:latin typeface="맑은 고딕"/>
                <a:ea typeface="맑은 고딕"/>
              </a:rPr>
              <a:t>입력 : 출력 = 97 : 3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B92B2B"/>
                </a:solidFill>
                <a:latin typeface="맑은 고딕"/>
                <a:ea typeface="맑은 고딕"/>
              </a:rPr>
              <a:t>10턴 합계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B92B2B"/>
                </a:solidFill>
                <a:latin typeface="맑은 고딕"/>
                <a:ea typeface="맑은 고딕"/>
              </a:rPr>
              <a:t>입력 87,103 토큰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B92B2B"/>
                </a:solidFill>
                <a:latin typeface="맑은 고딕"/>
                <a:ea typeface="맑은 고딕"/>
              </a:rPr>
              <a:t>출력 2,165 토큰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→ 출력을 줄여도 의미 없음.
   입력(프롬프트·호출 수)을
   줄여야 비용이 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06068"/>
                </a:solidFill>
                <a:latin typeface="맑은 고딕"/>
                <a:ea typeface="맑은 고딕"/>
              </a:rPr>
              <a:t>음성(Live) 경로는 분당 과금 — 입력 $0.005/분, 출력 $0.018/분. 10턴·5분 세션 ≈ 오디오 $0.055 + 분석기 $0.09 = 약 $0.14 (₩200)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② 모델 벤치마크 — 성능 vs 가격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06068"/>
                </a:solidFill>
                <a:latin typeface="맑은 고딕"/>
                <a:ea typeface="맑은 고딕"/>
              </a:rPr>
              <a:t>인지 채점 정답 매트릭스 54케이스(27설계×2반복) 실측 · matrix-verify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44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280160"/>
                <a:gridCol w="1463040"/>
                <a:gridCol w="1463040"/>
                <a:gridCol w="13258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정확도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입력 $/1M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출력 $/1M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상대 단가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gemini-3.5-flash  (현재)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96.3%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$1.50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$9.00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최고가 · 최저 정확도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gemini-3.8-flash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98.1%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$0.75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$3.75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47%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최신 · 중간가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gemini-3.5-flash-lite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98.1%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$0.30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$2.50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24%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저가 · 동등 성능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gemini-2.5-flash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$0.30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$2.50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24%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최저가 · 최고 정확도 ★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80560"/>
            <a:ext cx="10744200" cy="137160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B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663440"/>
            <a:ext cx="10149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7F4B"/>
                </a:solidFill>
                <a:latin typeface="맑은 고딕"/>
                <a:ea typeface="맑은 고딕"/>
              </a:rPr>
              <a:t>결론 : 네 모델의 성능 차이는 54표본에서 1~2케이스로 통계적으로 동등 → 최저가 선택이 합리적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27272A"/>
                </a:solidFill>
                <a:latin typeface="맑은 고딕"/>
                <a:ea typeface="맑은 고딕"/>
              </a:rPr>
              <a:t>현재 최고가 모델(3.5-flash)이 오히려 정확도가 가장 낮았음. 2.5-flash로 교체 시 성능 유지·향상 + 단가 1/5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③ 최적화 방안과 절감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7BFF"/>
                </a:solidFill>
                <a:latin typeface="맑은 고딕"/>
                <a:ea typeface="맑은 고딕"/>
              </a:rPr>
              <a:t>1. 분석기 모델 교체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7272A"/>
                </a:solidFill>
                <a:latin typeface="맑은 고딕"/>
                <a:ea typeface="맑은 고딕"/>
              </a:rPr>
              <a:t>3.5-flash → 2.5-flash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57400"/>
            <a:ext cx="2377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7F4B"/>
                </a:solidFill>
                <a:latin typeface="맑은 고딕"/>
                <a:ea typeface="맑은 고딕"/>
              </a:rPr>
              <a:t>단가 1/5
정확도 96.3%→100%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1945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06068"/>
                </a:solidFill>
                <a:latin typeface="맑은 고딕"/>
                <a:ea typeface="맑은 고딕"/>
              </a:rPr>
              <a:t>즉시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7BFF"/>
                </a:solidFill>
                <a:latin typeface="맑은 고딕"/>
                <a:ea typeface="맑은 고딕"/>
              </a:rPr>
              <a:t>2. 2단 중복 호출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3832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7272A"/>
                </a:solidFill>
                <a:latin typeface="맑은 고딕"/>
                <a:ea typeface="맑은 고딕"/>
              </a:rPr>
              <a:t>lite·primary가 동일 입력(5,669토큰)
→ 같은 모델이면 2차 호출 무의미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83280"/>
            <a:ext cx="2377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7F4B"/>
                </a:solidFill>
                <a:latin typeface="맑은 고딕"/>
                <a:ea typeface="맑은 고딕"/>
              </a:rPr>
              <a:t>분석기 호출 50%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52044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06068"/>
                </a:solidFill>
                <a:latin typeface="맑은 고딕"/>
                <a:ea typeface="맑은 고딕"/>
              </a:rPr>
              <a:t>즉시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7BFF"/>
                </a:solidFill>
                <a:latin typeface="맑은 고딕"/>
                <a:ea typeface="맑은 고딕"/>
              </a:rPr>
              <a:t>3. 시스템 프롬프트 캐싱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0916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7272A"/>
                </a:solidFill>
                <a:latin typeface="맑은 고딕"/>
                <a:ea typeface="맑은 고딕"/>
              </a:rPr>
              <a:t>8,400토큰 매 턴 재전송
→ Context Cache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09160"/>
            <a:ext cx="2377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7F4B"/>
                </a:solidFill>
                <a:latin typeface="맑은 고딕"/>
                <a:ea typeface="맑은 고딕"/>
              </a:rPr>
              <a:t>대화 입력비 대폭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4846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06068"/>
                </a:solidFill>
                <a:latin typeface="맑은 고딕"/>
                <a:ea typeface="맑은 고딕"/>
              </a:rPr>
              <a:t>중기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52160"/>
            <a:ext cx="10744200" cy="68580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B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8932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7F4B"/>
                </a:solidFill>
                <a:latin typeface="맑은 고딕"/>
                <a:ea typeface="맑은 고딕"/>
              </a:rPr>
              <a:t>①+② 적용만으로 : 턴당 $0.0147 → $0.0071 (-52%) · 음성 세션 $0.14 → $0.094 (-33%)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④ 최적화 후 사용자당 월 원가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06068"/>
                </a:solidFill>
                <a:latin typeface="맑은 고딕"/>
                <a:ea typeface="맑은 고딕"/>
              </a:rPr>
              <a:t>음성 1세션 = 10턴 ≈ 5분 기준 · 환율 ₩1,400/USD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44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219456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사용 유형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하루 세션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월 세션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월 원가 (USD)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월 원가 (KRW)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라이트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1회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30회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$2.82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약 ₩3,950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보통 (기준)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2회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60회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$5.64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약 ₩7,900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헤비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3회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90회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$8.46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약 ₩11,840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023360"/>
            <a:ext cx="10744200" cy="1737360"/>
          </a:xfrm>
          <a:prstGeom prst="roundRect">
            <a:avLst/>
          </a:prstGeom>
          <a:solidFill>
            <a:srgbClr val="FEF6E0"/>
          </a:solidFill>
          <a:ln w="12700">
            <a:solidFill>
              <a:srgbClr val="F0D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10149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47A0A"/>
                </a:solidFill>
                <a:latin typeface="맑은 고딕"/>
                <a:ea typeface="맑은 고딕"/>
              </a:rPr>
              <a:t>사용량 제한이 반드시 필요한 이유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27272A"/>
                </a:solidFill>
                <a:latin typeface="맑은 고딕"/>
                <a:ea typeface="맑은 고딕"/>
              </a:rPr>
              <a:t>헤비 사용자 1명의 원가(₩11,840)가 구독가 대부분을 소진 → 상한 없으면 많이 쓰는 사용자가 손익을 무너뜨림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B47A0A"/>
                </a:solidFill>
                <a:latin typeface="맑은 고딕"/>
                <a:ea typeface="맑은 고딕"/>
              </a:rPr>
              <a:t>권장 : 하루 2세션(20턴) 상한 → 최대 원가를 ₩7,900으로 고정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⑤ 결제 수수료 비교 (한국)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06068"/>
                </a:solidFill>
                <a:latin typeface="맑은 고딕"/>
                <a:ea typeface="맑은 고딕"/>
              </a:rPr>
              <a:t>Play 정책상 앱 내 디지털 구독은 원칙적으로 Play 결제 사용 — 외부 PG 단독 사용은 정책 위반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744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1737360"/>
                <a:gridCol w="146304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결제 방식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Google 수수료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PG 수수료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Play 인앱결제 (구독)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15%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15%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가장 단순 · 기본 선택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한국 제3자 결제 병행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11%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2~3%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13~14%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심사·정산 복잡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웹 체크아웃(외부)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10%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2~3%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12~13%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한국 2026-12-31 적용 예정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744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4E7A"/>
                </a:solidFill>
                <a:latin typeface="맑은 고딕"/>
                <a:ea typeface="맑은 고딕"/>
              </a:rPr>
              <a:t>→ 1단계는 Play 인앱결제(15%)로 단순하게 시작하고, 규모가 커지면 제3자·웹 결제로 수수료를 낮추는 전략을 권장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744200" cy="9144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3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93792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92B2B"/>
                </a:solidFill>
                <a:latin typeface="맑은 고딕"/>
                <a:ea typeface="맑은 고딕"/>
              </a:rPr>
              <a:t>주의 : 토스·아임포트 등 외부 PG를 앱 안에서 단독으로 쓰면 정책 위반으로 앱이 삭제될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⑥ 비즈니스 모델 · 가격 제안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06068"/>
                </a:solidFill>
                <a:latin typeface="맑은 고딕"/>
                <a:ea typeface="맑은 고딕"/>
              </a:rPr>
              <a:t>결제 주체는 보호자 — 보호자 요약 10회 무료 후 구독 전환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44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3657600"/>
                <a:gridCol w="1737360"/>
                <a:gridCol w="118872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플랜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가격/월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제공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수수료 15% 차감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원가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마진</a:t>
                      </a:r>
                    </a:p>
                  </a:txBody>
                  <a:tcPr marL="73152" marR="73152" anchor="ctr">
                    <a:solidFill>
                      <a:srgbClr val="1A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무료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₩0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대화 하루 1세션 · 보호자 요약 10회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₩3,950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-₩3,950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기본 (권장)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₩12,900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대화 하루 2세션 · 요약·알림 무제한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₩10,965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₩7,900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맑은 고딕"/>
                          <a:ea typeface="맑은 고딕"/>
                        </a:rPr>
                        <a:t>₩3,065 (24%)</a:t>
                      </a:r>
                    </a:p>
                  </a:txBody>
                  <a:tcPr marL="73152" marR="73152" anchor="ctr">
                    <a:solidFill>
                      <a:srgbClr val="E8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가족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₩19,900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어르신 2명 · 의사 연결 포함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₩16,915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₩12,000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272A"/>
                          </a:solidFill>
                          <a:latin typeface="맑은 고딕"/>
                          <a:ea typeface="맑은 고딕"/>
                        </a:rPr>
                        <a:t>₩4,915 (25%)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06240"/>
            <a:ext cx="5212080" cy="173736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B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7F4B"/>
                </a:solidFill>
                <a:latin typeface="맑은 고딕"/>
                <a:ea typeface="맑은 고딕"/>
              </a:rPr>
              <a:t>권장안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200" b="1">
                <a:solidFill>
                  <a:srgbClr val="1B7F4B"/>
                </a:solidFill>
                <a:latin typeface="맑은 고딕"/>
                <a:ea typeface="맑은 고딕"/>
              </a:rPr>
              <a:t>기본 ₩12,900 / 월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하루 2세션(20턴) 상한
보호자 요약·위급알림 무제한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206240"/>
            <a:ext cx="52120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38912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4E7A"/>
                </a:solidFill>
                <a:latin typeface="맑은 고딕"/>
                <a:ea typeface="맑은 고딕"/>
              </a:rPr>
              <a:t>손익분기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27272A"/>
                </a:solidFill>
                <a:latin typeface="맑은 고딕"/>
                <a:ea typeface="맑은 고딕"/>
              </a:rPr>
              <a:t>고정비 제외 시 가입자 1명부터 흑자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B92B2B"/>
                </a:solidFill>
                <a:latin typeface="맑은 고딕"/>
                <a:ea typeface="맑은 고딕"/>
              </a:rPr>
              <a:t>단, 무료 사용자 1명당 월 ₩3,950 손실
→ 무료 한도를 좁게 유지해야 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A4E7A"/>
                </a:solidFill>
                <a:latin typeface="맑은 고딕"/>
                <a:ea typeface="맑은 고딕"/>
              </a:rPr>
              <a:t>⑦ 실행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4420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0744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84247"/>
            <a:ext cx="914400" cy="512064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039111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4E7A"/>
                </a:solidFill>
                <a:latin typeface="맑은 고딕"/>
                <a:ea typeface="맑은 고딕"/>
              </a:rPr>
              <a:t>모델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5739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분석기 2.5-flash 전환 + 2단 중복 호출 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05739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7F4B"/>
                </a:solidFill>
                <a:latin typeface="맑은 고딕"/>
                <a:ea typeface="맑은 고딕"/>
              </a:rPr>
              <a:t>원가 -52%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199"/>
            <a:ext cx="10744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852927"/>
            <a:ext cx="914400" cy="512064"/>
          </a:xfrm>
          <a:prstGeom prst="round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07791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4E7A"/>
                </a:solidFill>
                <a:latin typeface="맑은 고딕"/>
                <a:ea typeface="맑은 고딕"/>
              </a:rPr>
              <a:t>사용량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2607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하루 세션·턴 수 상한 + 초과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9260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BFF"/>
                </a:solidFill>
                <a:latin typeface="맑은 고딕"/>
                <a:ea typeface="맑은 고딕"/>
              </a:rPr>
              <a:t>손익 방어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79"/>
            <a:ext cx="10744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721607"/>
            <a:ext cx="914400" cy="512064"/>
          </a:xfrm>
          <a:prstGeom prst="round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776471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4E7A"/>
                </a:solidFill>
                <a:latin typeface="맑은 고딕"/>
                <a:ea typeface="맑은 고딕"/>
              </a:rPr>
              <a:t>보호자 요약 과금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9475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10회 무료 → 구독 전환 유도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79475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BFF"/>
                </a:solidFill>
                <a:latin typeface="맑은 고딕"/>
                <a:ea typeface="맑은 고딕"/>
              </a:rPr>
              <a:t>수익화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59"/>
            <a:ext cx="10744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590287"/>
            <a:ext cx="914400" cy="512064"/>
          </a:xfrm>
          <a:prstGeom prst="roundRect">
            <a:avLst/>
          </a:prstGeom>
          <a:solidFill>
            <a:srgbClr val="1A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645151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4E7A"/>
                </a:solidFill>
                <a:latin typeface="맑은 고딕"/>
                <a:ea typeface="맑은 고딕"/>
              </a:rPr>
              <a:t>Play 인앱결제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66343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구독 상품 등록 · 영수증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66343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4E7A"/>
                </a:solidFill>
                <a:latin typeface="맑은 고딕"/>
                <a:ea typeface="맑은 고딕"/>
              </a:rPr>
              <a:t>결제 가동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39"/>
            <a:ext cx="10744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458967"/>
            <a:ext cx="914400" cy="512064"/>
          </a:xfrm>
          <a:prstGeom prst="roundRect">
            <a:avLst/>
          </a:prstGeom>
          <a:solidFill>
            <a:srgbClr val="60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13831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4E7A"/>
                </a:solidFill>
                <a:latin typeface="맑은 고딕"/>
                <a:ea typeface="맑은 고딕"/>
              </a:rPr>
              <a:t>재빌드 · 재심사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5321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7272A"/>
                </a:solidFill>
                <a:latin typeface="맑은 고딕"/>
                <a:ea typeface="맑은 고딕"/>
              </a:rPr>
              <a:t>AAB 재빌드 → Play 재심사 → 배포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553211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6068"/>
                </a:solidFill>
                <a:latin typeface="맑은 고딕"/>
                <a:ea typeface="맑은 고딕"/>
              </a:rPr>
              <a:t>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